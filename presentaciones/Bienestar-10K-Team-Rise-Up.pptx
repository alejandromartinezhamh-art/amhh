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c8763d53-5b04-5867-59d3-6b97be9e0c59}">
          <p14:sldIdLst>
            <p14:sldId id="256"/>
            <p14:sldId id="257"/>
            <p14:sldId id="258"/>
            <p14:sldId id="259"/>
            <p14:sldId id="260"/>
          </p14:sldIdLst>
        </p14:section>
        <p14:section name="El «New Rich»" id="{209a2f0e-ae7b-848c-d51a-254b58a5b981}">
          <p14:sldIdLst>
            <p14:sldId id="261"/>
            <p14:sldId id="262"/>
            <p14:sldId id="263"/>
          </p14:sldIdLst>
        </p14:section>
        <p14:section name="Quiénes somos" id="{d76ab0d8-3ec3-4e4b-98bb-41a85b6fdd4e}">
          <p14:sldIdLst>
            <p14:sldId id="264"/>
            <p14:sldId id="265"/>
            <p14:sldId id="266"/>
          </p14:sldIdLst>
        </p14:section>
        <p14:section name="Crisis de salud" id="{70da5aab-1f00-afcf-2e04-cca3bf705328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La solución" id="{1bf42ff0-2df8-7d74-44e8-d99bc2ca2bbd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Crisis financiera" id="{a7615754-6598-3824-c420-d90a846bc912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Cómo hacerlo" id="{0da60da3-2027-26aa-e45e-548d2a209313}">
          <p14:sldIdLst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La oferta" id="{a1eda040-95eb-e5d0-b76e-fedcb1553699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Cierre" id="{b4fe007c-66cb-eb2d-b2ac-50228f18755d}">
          <p14:sldIdLst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3F41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3F41"/>
                </a:solidFill>
                <a:latin typeface="+mn-lt"/>
              </a:rPr>
              <a:t>Coste total en 15 años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Coste a 15 años (USD)</c:v>
                </c:pt>
              </c:strCache>
            </c:strRef>
          </c:tx>
          <c:spPr>
            <a:solidFill>
              <a:srgbClr val="B9D3B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A3F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D3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Ionizador Kangen</c:v>
                  </c:pt>
                  <c:pt idx="1">
                    <c:v>Reparto a domicilio</c:v>
                  </c:pt>
                  <c:pt idx="2">
                    <c:v>Fiji</c:v>
                  </c:pt>
                  <c:pt idx="3">
                    <c:v>Dasani</c:v>
                  </c:pt>
                  <c:pt idx="4">
                    <c:v>Aquafina</c:v>
                  </c:pt>
                  <c:pt idx="5">
                    <c:v>Evian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5890</c:v>
                </c:pt>
                <c:pt idx="1">
                  <c:v>14400</c:v>
                </c:pt>
                <c:pt idx="2">
                  <c:v>29025</c:v>
                </c:pt>
                <c:pt idx="3">
                  <c:v>32670</c:v>
                </c:pt>
                <c:pt idx="4">
                  <c:v>32670</c:v>
                </c:pt>
                <c:pt idx="5">
                  <c:v>38637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A3F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3F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3F41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3F41"/>
                </a:solidFill>
                <a:latin typeface="+mn-lt"/>
              </a:rPr>
              <a:t>Comisión directa por venta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Comisión por venta (USD)</c:v>
                </c:pt>
              </c:strCache>
            </c:strRef>
          </c:tx>
          <c:spPr>
            <a:solidFill>
              <a:srgbClr val="8B9AB7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A3F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A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A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A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A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7A7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9D3B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9D3B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9D3B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1.ª</c:v>
                  </c:pt>
                  <c:pt idx="1">
                    <c:v>2.ª</c:v>
                  </c:pt>
                  <c:pt idx="2">
                    <c:v>3.ª</c:v>
                  </c:pt>
                  <c:pt idx="3">
                    <c:v>4.ª</c:v>
                  </c:pt>
                  <c:pt idx="4">
                    <c:v>5.ª</c:v>
                  </c:pt>
                  <c:pt idx="5">
                    <c:v>6.ª</c:v>
                  </c:pt>
                  <c:pt idx="6">
                    <c:v>7.ª</c:v>
                  </c:pt>
                  <c:pt idx="7">
                    <c:v>8.ª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3960</c:v>
                </c:pt>
                <c:pt idx="1">
                  <c:v>5280</c:v>
                </c:pt>
                <c:pt idx="2">
                  <c:v>3960</c:v>
                </c:pt>
                <c:pt idx="3">
                  <c:v>5280</c:v>
                </c:pt>
                <c:pt idx="4">
                  <c:v>7920</c:v>
                </c:pt>
                <c:pt idx="5">
                  <c:v>7920</c:v>
                </c:pt>
                <c:pt idx="6">
                  <c:v>7920</c:v>
                </c:pt>
                <c:pt idx="7">
                  <c:v>7920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A3F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3F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E2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2E2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TU PASIÓN POR EL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BIENESTAR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CREAR MESES CONSISTENTES 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4206240" cy="914400"/>
          </a:xfrm>
          <a:prstGeom prst="roundRect">
            <a:avLst>
              <a:gd name="adj" fmla="val 100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688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$10K+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ONLINE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AYUDAS A OTROS A RECUPERAR SU SALUD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B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Rise Up · Evento en vivo (replay)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 a las ponentes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CARLY BROWN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Mamá, superviviente de cáncer, coach de salud y riqueza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+$2M en 4 años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1907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SHANNON GARCIA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71907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Venía del bajo ticket; esposa de militar, mamá homeschool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078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 en su primer año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3464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0779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IULIA BARTON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90779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Mamá homeschool, exmaestra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3464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88950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$34K/mes en sus primeros 5 meses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2336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9651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LYNN HOCKING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09651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Nido vacío, mamá de 5, nueva etapa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2336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07822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$26K en sus 2 primeros meses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8523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MICHELLE FOSS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Enfermera de medicina occidental → sanadora holística, mamá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1208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6694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$140K en 20 meses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7395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AUBREY NICCUM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7395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Mamá, ex empleada corporativa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5566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$13K en su 4.º mes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89520" y="1143000"/>
            <a:ext cx="1097280" cy="2743200"/>
          </a:xfrm>
          <a:prstGeom prst="roundRect">
            <a:avLst>
              <a:gd name="adj" fmla="val 125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662672" y="1280160"/>
            <a:ext cx="950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 FELZ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662672" y="1874520"/>
            <a:ext cx="9509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ejecutiva de marketing corporativo (18+ años)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89520" y="3977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44384" y="3977640"/>
            <a:ext cx="987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al mes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objetivo…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77640" cy="3108960"/>
          </a:xfrm>
          <a:prstGeom prst="roundRect">
            <a:avLst>
              <a:gd name="adj" fmla="val 3529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4475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Mostrarte lo que es posible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orígenes muy distintos están ganando en este negocio. Queremos que des el siguiente pequeño paso con un plan claro.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280160"/>
            <a:ext cx="3977640" cy="3108960"/>
          </a:xfrm>
          <a:prstGeom prst="roundRect">
            <a:avLst>
              <a:gd name="adj" fmla="val 3529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44475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Ayudar a otros a recuperar su salud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194560"/>
            <a:ext cx="3611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ingresos reales con tu pasión por el bienestar y, por el camino, mejorar la salud de las personas a las que llegas.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Quédate hasta el final: dos regalos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291840" cy="3383280"/>
          </a:xfrm>
          <a:prstGeom prst="roundRect">
            <a:avLst>
              <a:gd name="adj" fmla="val 4167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9D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Paquete Wellness Partnership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63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una llamada de claridad uno a uno.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1188720"/>
            <a:ext cx="4663440" cy="3383280"/>
          </a:xfrm>
          <a:prstGeom prst="roundRect">
            <a:avLst>
              <a:gd name="adj" fmla="val 4054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417320"/>
            <a:ext cx="548640" cy="54864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5196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2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Mentoría de 4 semanas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406640" y="1371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06640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personas que ganan 6 y 7 cifras en nuestra comunidad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56032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1: </a:t>
            </a:r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+ visión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2: </a:t>
            </a:r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marketing orgánico en redes + primeros leads con anuncios de DM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3: </a:t>
            </a:r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vender offline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4: </a:t>
            </a:r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mentalidad + ingreso de legado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IMAGINA…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32918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vida diseñada a tu medida, empezando hoy con un plan claro.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la gente cree que crea riqueza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430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en un empleo «estable» de 9 a 5 hasta los 65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828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duro sin descanso, burnout y jornadas largas: la mentalidad del «hustle»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146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Conseguir un puesto en medicina, derecho, finanzas o tecnología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2004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004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 cuestión de suerte o de «estar en el sitio adecuado en el momento justo»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886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862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riqueza familiar y las herencias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«New Rich»?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cuerpo sano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60320" y="13716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5087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3774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corazón alegre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3774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cuenta bancaria abundante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766560" y="13716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15087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tiempo para disfrutarlo todo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 de lo que tienes, sino de cómo vives tu día a día: algo que se sienta auténticamente tuyo.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quién es esto… y para quién no?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3611880"/>
          </a:xfrm>
          <a:prstGeom prst="roundRect">
            <a:avLst>
              <a:gd name="adj" fmla="val 3038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E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PARA TI SI…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3703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Amas el bienestar y quieres convertir tu pasión en ingresos reales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un negocio alineado: nada agresivo, ni spam, ni postureo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tienes audiencia (o casi), pero estás dispuesta a aprender y seguir un plan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Eres mamá, trabajas o simplemente vas a tope: necesitas un modelo que funcione en la vida real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Empiezas de cero, pero te dejas guiar y quieres aprender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3611880"/>
          </a:xfrm>
          <a:prstGeom prst="roundRect">
            <a:avLst>
              <a:gd name="adj" fmla="val 3038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4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PARA TI SI…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00200"/>
            <a:ext cx="3703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Buscas un atajo o «dinero fácil» sin esfuerzo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estás dispuesta a aprender, implementar ni dejarte guiar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Odias la idea del crecimiento personal o del feedback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Culpas a las circunstancias y te quedas atascada en excusas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resultados sin responsabilidad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COMUNIDAD DE NEGOCIO ONLINE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Team Rise 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empoderado de líderes con mentalidad de crecimiento y conscientes de su salud, creando libertad de tiempo y financiera para nosotras mismas y un impacto profundo en el mundo, una persona sana e hidratada a la vez.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0" y="5486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EE7A7A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Padres y madres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12280" y="5486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B9D3B1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1228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11556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B9D3B1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1155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Mamás y papás en casa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12280" y="111556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1155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682496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6824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Luchadores por la libertad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1682496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8B9AB7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16824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Amantes de la salud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2249424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8B9AB7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22494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Acupuntores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2249424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4A78A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12280" y="22494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Coaches de salud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46320" y="2816352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4A78A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 homeschool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12280" y="2816352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EE7A7A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1228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Ejecutivos corporativos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474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9D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buscando una forma mejor.</a:t>
            </a:r>
            <a:endParaRPr lang="en-US" sz="1800" dirty="0"/>
          </a:p>
        </p:txBody>
      </p:sp>
      <p:sp>
        <p:nvSpPr>
          <p:cNvPr id="26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último año, nuestro equipo generó…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3566160" cy="2377440"/>
          </a:xfrm>
          <a:prstGeom prst="roundRect">
            <a:avLst>
              <a:gd name="adj" fmla="val 5769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$5M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VENTAS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371600"/>
            <a:ext cx="3566160" cy="2377440"/>
          </a:xfrm>
          <a:prstGeom prst="roundRect">
            <a:avLst>
              <a:gd name="adj" fmla="val 5769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754880" y="1554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$2.8M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COMISIONES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estamos aquí: para invitarte a formar parte de esto.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resolvemos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291840"/>
          </a:xfrm>
          <a:prstGeom prst="roundRect">
            <a:avLst>
              <a:gd name="adj" fmla="val 333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533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CRISIS DE SALUD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de una salud duradera que la mayoría de la gente subestima: la hidratación.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66160" y="1371600"/>
            <a:ext cx="640080" cy="64008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H₂O</a:t>
            </a:r>
            <a:endParaRPr lang="en-US" sz="154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3977640" cy="3291840"/>
          </a:xfrm>
          <a:prstGeom prst="roundRect">
            <a:avLst>
              <a:gd name="adj" fmla="val 333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3533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CRISIS FINANCIERA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solución para crear estabilidad financiera e ingresos de legado para tus hijos.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18120" y="1371600"/>
            <a:ext cx="640080" cy="64008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1812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15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crisis de salud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3063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hidratación adecuada es la base de nuestra salud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B9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&gt;70%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0" y="128016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cuerpo humano está compuesto por más de un 70% de agua.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agua es la base, la calidad del agua que bebemos importa.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del agua del grifo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Agencia de Protección Ambiental de EE. UU. (EPA) ha identificado más de 80 contaminantes regulados en el agua del grifo, entre ellos Cryptosporidium, Giardia y E. coli.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un análisis de EWG de más de 31 millones de registros estatales, desde 2013 las pruebas han encontrado contaminantes en el agua del grifo. Consulta tu zona en ewg.org/tapwater.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0" y="1188720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0" y="11887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Fármacos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0" y="1188720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0" y="11887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1188720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23760" y="11887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2029968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0" y="202996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Arsénico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2029968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02996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Pesticidas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2029968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0" y="202996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0" y="2871216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2871216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Flúor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0" y="2871216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0" y="2871216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223760" y="2871216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2871216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Mat. radiactivo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0" y="3712464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114800" y="37124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Patógenos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0" y="3712464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37124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3712464"/>
            <a:ext cx="1417320" cy="685800"/>
          </a:xfrm>
          <a:prstGeom prst="roundRect">
            <a:avLst>
              <a:gd name="adj" fmla="val 20000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0" y="3712464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Microplásticos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Grifo vs. ósmosis inversa vs. filtros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594360"/>
          </a:xfrm>
          <a:prstGeom prst="rect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AGUA DEL GRIFO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51760" cy="3017520"/>
          </a:xfrm>
          <a:prstGeom prst="rect">
            <a:avLst/>
          </a:prstGeom>
          <a:solidFill>
            <a:srgbClr val="F7F5F5"/>
          </a:solidFill>
          <a:ln w="12700">
            <a:solidFill>
              <a:srgbClr val="F7F5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28800"/>
            <a:ext cx="2377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Tratada con cloro, cloramina y flúor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contener restos de fármacos, pesticidas y contaminantes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menudo contiene microplásticos y metales pesados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varía mucho según la zona y la infraestructura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Deshidrata a nivel celular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594360"/>
          </a:xfrm>
          <a:prstGeom prst="rect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097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ÓSMOSIS INVERSA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46120" y="1691640"/>
            <a:ext cx="2651760" cy="3017520"/>
          </a:xfrm>
          <a:prstGeom prst="rect">
            <a:avLst/>
          </a:prstGeom>
          <a:solidFill>
            <a:srgbClr val="F7F5F5"/>
          </a:solidFill>
          <a:ln w="12700">
            <a:solidFill>
              <a:srgbClr val="F7F5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828800"/>
            <a:ext cx="2377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contaminantes, pero también minerales beneficiosos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muy purificada, «muerta» o sin vitalidad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 requerir remineralización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tener un pH más bajo que el agua natural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plana por la falta de minerales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651760" cy="594360"/>
          </a:xfrm>
          <a:prstGeom prst="rect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097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BERKEY / FILTRO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691640"/>
            <a:ext cx="2651760" cy="3017520"/>
          </a:xfrm>
          <a:prstGeom prst="rect">
            <a:avLst/>
          </a:prstGeom>
          <a:solidFill>
            <a:srgbClr val="F7F5F5"/>
          </a:solidFill>
          <a:ln w="12700">
            <a:solidFill>
              <a:srgbClr val="F7F5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1828800"/>
            <a:ext cx="2377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contaminantes, pero no transforma el agua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depende del estado y mantenimiento del filtro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aporta propiedades adicionales de bienestar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Centrado en filtrar más que en hidratar la célula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el agua con sabor plano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el agua embotellada no es la solución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Microplásticos: </a:t>
            </a:r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fragmentos de plástico milimétricos que son tóxicos para el cuerpo. Contienen sustancias que incluyen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neurotoxinas, carcinógenos y disruptores endocrinos</a:t>
            </a:r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 sistema endocrino regula nuestro equilibrio hormonal y nuestra energía.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0" y="118872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0" y="118872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1188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agua embotellada contiene microplásticos (estudio citado por Forbes)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292608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29260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9260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partículas de plástico de media por cada litro de agua vendida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383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 de botellas de plástico día tras día puede afectar gravemente a nuestras hormonas.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coste del agua embotellada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1188720"/>
            <a:ext cx="2926080" cy="3474720"/>
          </a:xfrm>
          <a:prstGeom prst="roundRect">
            <a:avLst>
              <a:gd name="adj" fmla="val 375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agua embotellada es agua del grifo cara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10312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Cuesta un 3.000% más por galón que el agua del grifo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Grifo: $0,02 por galón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Embotellada: $0,64 por galón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Botella diaria de 20 oz: ~$2.178 al año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citada: Harvard Engineering and Utilities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ENTONCES, ¿CUÁL ES LA SOLUCIÓN?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Ionizador de agua de grado médico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4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4300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con hidrógeno molecular</a:t>
            </a:r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mediante electrólisis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384048" cy="38404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4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190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estudios publicados sobre el hidrógeno molecular en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170+ enfermedades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40864"/>
            <a:ext cx="384048" cy="384048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4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9514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Fabricado en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Japón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4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871216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el uso de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plástico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93008"/>
            <a:ext cx="384048" cy="384048"/>
          </a:xfrm>
          <a:prstGeom prst="ellipse">
            <a:avLst/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4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44728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niveles de pH distintos con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usos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384048" cy="384048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4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233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 </a:t>
            </a:r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de limpieza tóxicos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143000"/>
            <a:ext cx="2834640" cy="3474720"/>
          </a:xfrm>
          <a:prstGeom prst="roundRect">
            <a:avLst>
              <a:gd name="adj" fmla="val 4839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máquina sustituye…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173736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limpiador multiusos · lejía · detergente · pomada antibiótica · limpiador de frutas y verduras · quitamanchas y adhesivos · desmaquillante · tónico · desodorante · acondicionador · suavizante · desinfectante · enjuague bucal · gel de manos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¿No tiene ya hidrógeno el agua?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El hidrógeno molecular (H₂) es diferente.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77640" cy="2926080"/>
          </a:xfrm>
          <a:prstGeom prst="roundRect">
            <a:avLst>
              <a:gd name="adj" fmla="val 4688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097280" cy="109728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H₂O</a:t>
            </a:r>
            <a:endParaRPr lang="en-US" sz="264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089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molécula grande: no tenemos acceso al hidrógeno que contiene.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1645920"/>
            <a:ext cx="3977640" cy="2926080"/>
          </a:xfrm>
          <a:prstGeom prst="roundRect">
            <a:avLst>
              <a:gd name="adj" fmla="val 4688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83480" y="1874520"/>
            <a:ext cx="1097280" cy="109728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83480" y="1874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H₂</a:t>
            </a:r>
            <a:endParaRPr lang="en-US" sz="264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31089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átomos de hidrógeno unidos. Se obtiene por electrólisis: la electricidad separa el H₂O en hidrógeno (H₂) y oxígeno, y el gas hidrógeno queda disuelto en el agua.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toda el agua es igual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1408" y="10972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21408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Absorción rápida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85616" y="10972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85616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Alcalinidad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9824" y="10972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ORP negativo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14032" y="1097280"/>
            <a:ext cx="1554480" cy="548640"/>
          </a:xfrm>
          <a:prstGeom prst="roundRect">
            <a:avLst>
              <a:gd name="adj" fmla="val 50000"/>
            </a:avLst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14032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Hidrógeno molecular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significa todo esto para ti? (beneficios que se presentan)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frente al estrés oxidativo y los radicales libres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Envejecimiento más lento y mejor calidad de vida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estrés celular: células más sanas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energía y menos fatiga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inflamación y dolor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y mejores mitocondrias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33172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regulación del azúcar en sangre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cerebro más feliz y despejado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Hidratación superior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Vías de desintoxicación más fuertes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rendimiento deportivo y memoria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digestión, curación y reparación de heridas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Hidrógeno molecular: H₂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H₂ es la molécula más pequeña que existe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gas, atraviesa con facilidad las membranas celulares, las mitocondrias e incluso el ADN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presenta como </a:t>
            </a:r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antioxidante, antiinflamatorio, antienvejecimiento, antidiabético y antitumoral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00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 agua con hidrógeno es la forma más eficaz de aprovechar sus beneficios.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09360" y="1188720"/>
            <a:ext cx="2011680" cy="201168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30936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H₂</a:t>
            </a:r>
            <a:endParaRPr lang="en-US" sz="484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3977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Reduce la inflamación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397764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3977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Reduce el estrés celular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397764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3977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Reduce el estrés oxidativo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Estrés oxidativo y radicales libres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estrés oxidativo es un desequilibrio entre radicales libres y antioxidantes en el cuerpo. Los radicales libres son moléculas inestables (les falta un electrón) que dañan las células y contribuyen al envejecimiento y la enfermedad.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LIBRE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ladrón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falta un electrón: inestable, desesperado y reactivo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9184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 SANA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víctima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roban un electrón y se vuelve inestable también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2648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HIDRÓGENO MOLECULAR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héroe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 electrones y neutraliza a los radicales sin volverse inestable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antioxidantes frenan esa reacción en cadena: neutralizan los radicales libres antes de que causen daño.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provoca la producción de radicales libres?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Alimentos procesados y aditivos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azúcar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Bebidas carbonatadas y con cafeína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Contaminación ambiental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Ciertos medicamentos / uso elevado de antibióticos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Humo de coches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y drogas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Rayos UV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1430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Pesticidas y herbicidas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del grifo / clorada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embotellada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Polución y toxinas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sueño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radiación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Cigarrillos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PFAS en la ropa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Pensamientos tóxicos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1148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la presentación: un radical libre puede dañar 2 millones de células sanas en un minuto, y cada célula recibe unos 15.000 ataques al día.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H₂ frente a los radicales libres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Antioxidante selectivo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neutraliza los radicales más dañinos y deja intactos los oxidantes beneficiosos para el sistema inmune y la función celular.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4300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07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 las defensas del cuerpo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la vía Nrf2, que indica a las células que produzcan más glutatión, el antioxidante maestro del cuerpo.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090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Frena el exceso de radicales libres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afirma que el H₂ reduce el estrés oxidativo hasta un 70%.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92608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DF3DC"/>
          </a:solidFill>
          <a:ln w="12700">
            <a:solidFill>
              <a:srgbClr val="FDF3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3090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vaso de agua con hidrógeno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 en antioxidantes con 1 kg de arándanos, 64 manzanas, 30 tazas de té verde o 5 kg de brócoli.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 de salud compartidos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Piel y celiaquía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1554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Erupción facial tras una intoxicación alimentaria que, según cuenta, desapareció a las 2 semanas de beber el agua.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Peso, rodilla y migrañas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057400"/>
            <a:ext cx="1554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de peso y menos dolor crónico tras empezar a beber un galón al día.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Asma y digestión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057400"/>
            <a:ext cx="1554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atleta cuenta que mejoró su estreñimiento y dejó su inhalador en dos semanas.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1307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Medicación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057400"/>
            <a:ext cx="1554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testimonios afirman haber reducido medicamentos tras meses bebiendo el agua.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C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experiencias individuales compartidas en el evento, no evidencia médica. Cualquier cambio de medicación debe hacerse con un médico.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prevención es la mejor cura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463040"/>
            <a:ext cx="914400" cy="91440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560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infarto a los 50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empezó a los 20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128016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63240" y="1463040"/>
            <a:ext cx="914400" cy="91440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560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alzhéimer a los 70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empezó a los 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66360" y="1463040"/>
            <a:ext cx="914400" cy="91440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560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cáncer a los 60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empezó a los 30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66560" y="128016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69480" y="1463040"/>
            <a:ext cx="914400" cy="91440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560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artritis reumatoide a los 50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empezó a los 25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productos de la línea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533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Anespa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ducha tipo spa en casa que filtra cloro y bacterias, mejorando la salud de la piel.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DF3DC"/>
          </a:solidFill>
          <a:ln w="12700">
            <a:solidFill>
              <a:srgbClr val="FDF3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533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11680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Cápsulas, té y jabón de cúrcuma silvestre con propiedades antioxidantes, antibacterianas y antiinflamatorias.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533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Kangen Beauté (nuevo)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11680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coreana de cuidado de la piel de lujo creada con Ukon (cúrcuma) y agua de belleza de pH 5,5.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E2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crisis financiera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3063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Wellness Partnership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de la libertad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TIEMPO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188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FINANCIERA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260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UBICACIÓN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29260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SALUD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tiempo: el cuadrante del dinero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un trabajo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20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apalancamiento: cambias horas por dinero. Si no trabajas, no cobras.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887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Dueño de negocio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un sistema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1920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gente trabajando para ti, haciendo lo que tú no quieres hacer.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175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Autoempleado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un trabajo propio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749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 ganar algo más, pero gasta más horas. Sigue cambiando tiempo por dinero.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6486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01752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Inversor / emprendedor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inversiones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3749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dinero trabaja para ti: apalancamiento, ingresos pasivos, automatización y sistemas.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tiempo por dinero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online, como el coaching de salud: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llamadas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clientes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gestión de agenda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energía gastada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✕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horas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663440" y="1097280"/>
            <a:ext cx="4023360" cy="3474720"/>
          </a:xfrm>
          <a:prstGeom prst="roundRect">
            <a:avLst>
              <a:gd name="adj" fmla="val 3947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E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JOYA · COACH DE SALUD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6916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coaching de salud me daba $500–600 al mes, pero era estresante y me comía el tiempo. Ahora he creado meses de $3K–9K con más flexibilidad y además ingresos pasivos.»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ubicación: el negocio físico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Naomi tiene una cafetería ecológica de bienestar en Austin. Aunque está agradecida de servir a su comunidad, esta es la realidad: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Altos costes de arranque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Alquiler, nóminas e inventario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y gestión diaria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dependiente de gastos fijos y márgenes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✕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limitada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03520" y="1097280"/>
            <a:ext cx="3383280" cy="3474720"/>
          </a:xfrm>
          <a:prstGeom prst="roundRect">
            <a:avLst>
              <a:gd name="adj" fmla="val 4054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0" y="128016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«Tras casi una década en un negocio físico con márgenes del 10–15% y muchos gastos, este modelo puede ofrecer un potencial de beneficio del 70–80%+, con costes de arranque mucho menores y un fuerte valor a largo plazo por cliente.»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financiera: el modelo de bajo pago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4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$10–20 por venta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ticket = volumen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= presión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Presión = comportamiento de spam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= desalineación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B9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· VENÍA DEL BAJO PAGO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45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«Acabo de tener un mes de más de $30K con solo 7 ventas. Mi mejor mes en mi antigua empresa de bajo ticket fue de $13K, y necesité más de 100 ventas durante un Black Friday.»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falta para ganar $10K al mes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572768" cy="3017520"/>
          </a:xfrm>
          <a:prstGeom prst="roundRect">
            <a:avLst>
              <a:gd name="adj" fmla="val 6977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PAGO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$10–20 por venta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3898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500–1.000+ ventas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21408" y="1097280"/>
            <a:ext cx="1572768" cy="3017520"/>
          </a:xfrm>
          <a:prstGeom prst="roundRect">
            <a:avLst>
              <a:gd name="adj" fmla="val 6977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12344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EMPLEADO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Sueldo de $120K+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788920"/>
            <a:ext cx="13898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gana menos del 20% de empleados · ingreso con techo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85616" y="1097280"/>
            <a:ext cx="1572768" cy="3017520"/>
          </a:xfrm>
          <a:prstGeom prst="roundRect">
            <a:avLst>
              <a:gd name="adj" fmla="val 6977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12344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de $1K–3K / sesiones de $100–300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77056" y="2788920"/>
            <a:ext cx="13898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clientes; 10–30+ ventas de programa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9824" y="1097280"/>
            <a:ext cx="1572768" cy="3017520"/>
          </a:xfrm>
          <a:prstGeom prst="roundRect">
            <a:avLst>
              <a:gd name="adj" fmla="val 6977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41264" y="12344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NEGOCIO FÍSICO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41264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de ingresos ≠ $10K de beneficio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41264" y="2788920"/>
            <a:ext cx="13898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importantes reducen lo que te llevas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14032" y="1097280"/>
            <a:ext cx="1572768" cy="3017520"/>
          </a:xfrm>
          <a:prstGeom prst="roundRect">
            <a:avLst>
              <a:gd name="adj" fmla="val 6977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05472" y="1234440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WELLNESS PARTNERSHIP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1828800"/>
            <a:ext cx="138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$2.8K–7K por venta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788920"/>
            <a:ext cx="13898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socias alineadas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primeros caminos no siempre son consistentes.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realmente la libertad financiera?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Estabilidad financiera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 suficiente para cubrir lo básico y quizá cenar fuera alguna vez por semana (entre $2K y $5K al mes).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B9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Independencia financiera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Ganar el doble de tu estabilidad: cubres tus necesidades y tu estilo de vida y te sobra dinero para empezar a invertir.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E9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financiera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Ganar 10 veces tu estabilidad: más dinero del que puedes gastar. Inviertes y además puedes cuidar de otras personas en tu vida.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dejaras de trabajar hoy, ¿tu negocio seguiría generando ingresos?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32918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 murieras hoy, ¿tendrías un ingreso que puedas dejar en herencia a tus hijos?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trabajamos con Enagic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61288"/>
            <a:ext cx="365760" cy="36576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61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japonesa internacional de tecnología del agua con 52 años, </a:t>
            </a:r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$1.000M+ en ventas</a:t>
            </a:r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un potencial de crecimiento enorme frente a la competencia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365760" cy="36576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0784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agua es un </a:t>
            </a:r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que la gente quiere y necesita a diario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68296"/>
            <a:ext cx="365760" cy="365760"/>
          </a:xfrm>
          <a:prstGeom prst="ellipse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30428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de salud </a:t>
            </a:r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sostenible, sin residuos y no consumible</a:t>
            </a:r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dura más de 20 años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07792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de jubilación y </a:t>
            </a:r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riqueza generacional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575304"/>
            <a:ext cx="365760" cy="365760"/>
          </a:xfrm>
          <a:prstGeom prst="ellipse">
            <a:avLst/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11296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inventario, sin cuotas, sin MLM</a:t>
            </a:r>
            <a:pPr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(según la presentación)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4178808"/>
            <a:ext cx="365760" cy="36576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14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de comisión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Recompensas por rango (Enagic)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3886200"/>
            <a:ext cx="1097280" cy="320040"/>
          </a:xfrm>
          <a:prstGeom prst="rect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$3.000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645920" y="3584448"/>
            <a:ext cx="1097280" cy="621792"/>
          </a:xfrm>
          <a:prstGeom prst="rect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45920" y="27614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3081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34640" y="3282696"/>
            <a:ext cx="1097280" cy="923544"/>
          </a:xfrm>
          <a:prstGeom prst="rect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34640" y="245973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6A2-2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7797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2980944"/>
            <a:ext cx="1097280" cy="1225296"/>
          </a:xfrm>
          <a:prstGeom prst="rect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23360" y="215798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6A2-3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4780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$25.000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2679192"/>
            <a:ext cx="1097280" cy="1527048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8562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6A2-4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176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$50.000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2377440"/>
            <a:ext cx="1097280" cy="1828800"/>
          </a:xfrm>
          <a:prstGeom prst="rect">
            <a:avLst/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15544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6A2-5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589520" y="2075688"/>
            <a:ext cx="1097280" cy="2130552"/>
          </a:xfrm>
          <a:prstGeom prst="rect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2527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6A2-6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$200.000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C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6A: $3.000 al conseguir el título (101 ventas de grupo, $300K acumulados). A partir de 6A2-3, bono único + ingreso mensual: $5K, $10K, $15K y $20K al mes. Recompensas sujetas a requisitos de producción y a discreción de la compañía.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de crecimiento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DIRECTA GLOBAL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$200.140M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Valorado en 2022. Previsión: crecer un 6,4% anual de 2023 a 2030 hasta $286.000M.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IONIZADORES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8B9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$2.300M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74320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Valorado en 2021. Previsión: $3.400M en 2027 (6,94% anual).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5172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6E9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74320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todas las ventas de e-commerce. Una de las fuentes de ingresos que más crece en el mundo.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E2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«Vale, pero ¿cómo lo hago?»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3063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3 habilidades que crean ingresos escalables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3 habilidades que crean ingresos escalables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611880"/>
          </a:xfrm>
          <a:prstGeom prst="roundRect">
            <a:avLst>
              <a:gd name="adj" fmla="val 517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orgánico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confianza y atrae a personas alineadas con contenido en redes.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0604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a miles (incluso millones) de forma orgánica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Atrae a quien conecta con tu historia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 a través de la autenticidad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contenido trabaja por ti 24/7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51760" cy="3611880"/>
          </a:xfrm>
          <a:prstGeom prst="roundRect">
            <a:avLst>
              <a:gd name="adj" fmla="val 5172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34440"/>
            <a:ext cx="457200" cy="45720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pagada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estrategia y datos para llegar a la gente adecuada al instante.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60604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a miles o millones en todo el mundo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 audiencias alineadas con precisión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 tráfico directo a tu oferta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entre bastidores 24/7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51760" cy="3611880"/>
          </a:xfrm>
          <a:prstGeom prst="roundRect">
            <a:avLst>
              <a:gd name="adj" fmla="val 5172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34440"/>
            <a:ext cx="457200" cy="457200"/>
          </a:xfrm>
          <a:prstGeom prst="ellipse">
            <a:avLst/>
          </a:prstGeom>
          <a:solidFill>
            <a:srgbClr val="6E9C64"/>
          </a:solidFill>
          <a:ln w="12700">
            <a:solidFill>
              <a:srgbClr val="6E9C6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offline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las relaciones de la vida real en oportunidades alineadas.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60604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agua gratis + folleto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en préstamo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recogida en centros de bienestar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Demostraciones y ferias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Membresías de agua compartida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Membresías de agua compartida (offline)</a:t>
            </a:r>
            <a:endParaRPr lang="en-US" sz="2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173736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negocio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2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generado en un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2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 vendidas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2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comisiones de esas unidades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2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Tienda de smoothies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$29.510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bienestar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fitness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Quiropráctico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Clínica de neurofeedback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MedSpa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E22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$17.938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 del equipo comparten el agua desde casa o en negocios locales. Datos alcanzados en un plazo de 4 a 8 meses.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Historias del modelo Wellness Partnership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ACUPUNTORA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Acupuntora y dueña de consulta privada durante 22 años; ha generado más de $336K con el modelo.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EJECUTIVA CORPORATIVA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Ejecutiva de marketing durante 18+ años; duplicó sus ingresos en solo tres meses construyendo un negocio a su ritmo.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3504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MICHELLE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ENFERMERA HOLÍSTICA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Enfermera de medicina occidental convertida en emprendedora holística; $100K+ en sus primeros 13 meses, con un día de $10.255, ayudando a 20+ familias.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infraestructura del millón de dólares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2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789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una conexión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0789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la conexión orgánica, pagada o en persona para encontrar gente alineada.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10512"/>
            <a:ext cx="548640" cy="54864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810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7922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 la oportunidad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179222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algo que de verdad mejora su vida.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523744"/>
            <a:ext cx="548640" cy="548640"/>
          </a:xfrm>
          <a:prstGeom prst="ellipse">
            <a:avLst/>
          </a:prstGeom>
          <a:solidFill>
            <a:srgbClr val="B9D3B1"/>
          </a:solidFill>
          <a:ln w="12700">
            <a:solidFill>
              <a:srgbClr val="B9D3B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2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054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Conéctalo a un sistema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Guíalos por un proceso que genera confianza y comprensión.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36976"/>
            <a:ext cx="548640" cy="54864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36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2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186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 el proceso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32186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que los sistemas nutran, eduquen y conviertan sin tu tiempo.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950208"/>
            <a:ext cx="548640" cy="548640"/>
          </a:xfrm>
          <a:prstGeom prst="ellipse">
            <a:avLst/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50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31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 con mentoría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9319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C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de quien ya lo ha hecho.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tienes que reinventar la rueda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417320" cy="2103120"/>
          </a:xfrm>
          <a:prstGeom prst="roundRect">
            <a:avLst>
              <a:gd name="adj" fmla="val 9677"/>
            </a:avLst>
          </a:prstGeom>
          <a:solidFill>
            <a:srgbClr val="FBEAEA"/>
          </a:solidFill>
          <a:ln w="12700">
            <a:solidFill>
              <a:srgbClr val="D9CF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463040"/>
            <a:ext cx="548640" cy="54864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234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 / post orgánico / material en persona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10312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57984" y="1280160"/>
            <a:ext cx="1417320" cy="2103120"/>
          </a:xfrm>
          <a:prstGeom prst="roundRect">
            <a:avLst>
              <a:gd name="adj" fmla="val 9677"/>
            </a:avLst>
          </a:prstGeom>
          <a:solidFill>
            <a:srgbClr val="E8ECF3"/>
          </a:solidFill>
          <a:ln w="12700">
            <a:solidFill>
              <a:srgbClr val="D9C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87752" y="1463040"/>
            <a:ext cx="548640" cy="54864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87752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2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148840"/>
            <a:ext cx="1234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gratuita o evento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75304" y="210312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58768" y="1280160"/>
            <a:ext cx="1417320" cy="2103120"/>
          </a:xfrm>
          <a:prstGeom prst="roundRect">
            <a:avLst>
              <a:gd name="adj" fmla="val 9677"/>
            </a:avLst>
          </a:prstGeom>
          <a:solidFill>
            <a:srgbClr val="EDF5EA"/>
          </a:solidFill>
          <a:ln w="12700">
            <a:solidFill>
              <a:srgbClr val="D9C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88536" y="1463040"/>
            <a:ext cx="548640" cy="548640"/>
          </a:xfrm>
          <a:prstGeom prst="ellipse">
            <a:avLst/>
          </a:prstGeom>
          <a:solidFill>
            <a:srgbClr val="6E9C64"/>
          </a:solidFill>
          <a:ln w="12700">
            <a:solidFill>
              <a:srgbClr val="6E9C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88536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20" dirty="0"/>
          </a:p>
        </p:txBody>
      </p:sp>
      <p:sp>
        <p:nvSpPr>
          <p:cNvPr id="16" name="Text 14"/>
          <p:cNvSpPr txBox="1"/>
          <p:nvPr/>
        </p:nvSpPr>
        <p:spPr>
          <a:xfrm>
            <a:off x="3950208" y="2148840"/>
            <a:ext cx="1234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aprendizaje automatizado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210312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559552" y="1280160"/>
            <a:ext cx="1417320" cy="2103120"/>
          </a:xfrm>
          <a:prstGeom prst="roundRect">
            <a:avLst>
              <a:gd name="adj" fmla="val 9677"/>
            </a:avLst>
          </a:prstGeom>
          <a:solidFill>
            <a:srgbClr val="FDF3DC"/>
          </a:solidFill>
          <a:ln w="12700">
            <a:solidFill>
              <a:srgbClr val="D9C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463040"/>
            <a:ext cx="548640" cy="54864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5650992" y="2148840"/>
            <a:ext cx="1234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la oferta online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210312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60336" y="1280160"/>
            <a:ext cx="1417320" cy="2103120"/>
          </a:xfrm>
          <a:prstGeom prst="roundRect">
            <a:avLst>
              <a:gd name="adj" fmla="val 9677"/>
            </a:avLst>
          </a:prstGeom>
          <a:solidFill>
            <a:srgbClr val="FBEAEA"/>
          </a:solidFill>
          <a:ln w="12700">
            <a:solidFill>
              <a:srgbClr val="D9CF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90104" y="1463040"/>
            <a:ext cx="548640" cy="548640"/>
          </a:xfrm>
          <a:prstGeom prst="ellipse">
            <a:avLst/>
          </a:prstGeom>
          <a:solidFill>
            <a:srgbClr val="F4A78A"/>
          </a:solidFill>
          <a:ln w="12700">
            <a:solidFill>
              <a:srgbClr val="F4A7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90104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7351776" y="2148840"/>
            <a:ext cx="1234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se une a la comunidad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AUTOMATIZACIÓN = </a:t>
            </a:r>
            <a:pPr algn="ctr" indent="0" marL="0">
              <a:buNone/>
            </a:pPr>
            <a:r>
              <a:rPr lang="en-US" sz="24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LIBERTAD DE TIEMPO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RÁPIDA DE CAMBIAR TU VIDA…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Encuentra a alguien que ya viva la vida que quieres y aprende de esa persona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0" y="2926080"/>
            <a:ext cx="4572000" cy="1371600"/>
          </a:xfrm>
          <a:prstGeom prst="roundRect">
            <a:avLst>
              <a:gd name="adj" fmla="val 10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286000" y="29260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CEO tienen mentores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Wellness Partnership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TRATA DE…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Reclutar a todo el que conoces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Hacerte viral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✕"/>
            </a:pPr>
            <a:r>
              <a:rPr lang="en-US" sz="16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enlaces por todas partes y esperar que algo funcione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4300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TRATA DE…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a unas pocas mujeres serias y alineadas, presentarles la infraestructura adecuada y acompañarlas con una buena mentoría.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lo que hiciera este negocio fuera…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tu perspectiva de la vida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56032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97480" y="118872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y superar tu sueldo de 9 a 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18872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Permitirte viajar a tiempo completo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766560" y="118872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118872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Darte más tiempo para lo que amas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88036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Darte más tiempo con tu familia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56032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88036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Mejorar tu salud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288036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Conectarte con una comunidad afín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766560" y="2880360"/>
            <a:ext cx="1920240" cy="1508760"/>
          </a:xfrm>
          <a:prstGeom prst="roundRect">
            <a:avLst>
              <a:gd name="adj" fmla="val 7273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2880360"/>
            <a:ext cx="1645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¿Merecería la pena?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C5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Hemos cubierto mucho… pero la información por sí sola no va a cambiar tu vida. Hay muchísimo ruido ahí fuera.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si tuvieras una </a:t>
            </a:r>
            <a:pPr algn="ctr" indent="0" marL="0">
              <a:buNone/>
            </a:pPr>
            <a:r>
              <a:rPr lang="en-US" sz="2800" b="1" dirty="0">
                <a:solidFill>
                  <a:srgbClr val="B9D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 + sistemas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los que conectarte y que te ayudaran a crear meses consistentes de </a:t>
            </a:r>
            <a:pPr algn="ctr" indent="0" marL="0">
              <a:buNone/>
            </a:pPr>
            <a:r>
              <a:rPr lang="en-US" sz="28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$10K+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alineados con tu pasión por el </a:t>
            </a:r>
            <a:pPr algn="ctr" indent="0" marL="0">
              <a:buNone/>
            </a:pPr>
            <a:r>
              <a:rPr lang="en-US" sz="2800" b="1" dirty="0">
                <a:solidFill>
                  <a:srgbClr val="F2C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bienestar</a:t>
            </a:r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paquete Wellness Partnership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DESCUBRIMIENTO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438912" cy="438912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6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288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 explicativos del Wellness Partnership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438912" cy="438912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6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8716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Testimonios de la comunidad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145536"/>
            <a:ext cx="438912" cy="438912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6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4553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financiación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438912" cy="438912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03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6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80390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 las preguntas más frecuentes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188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proceso y sistemas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54880" y="1737360"/>
            <a:ext cx="3931920" cy="621792"/>
          </a:xfrm>
          <a:prstGeom prst="roundRect">
            <a:avLst>
              <a:gd name="adj" fmla="val 1470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37760" y="17373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formación Team Rise Up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para lanzar tu negocio, formación en redes, mentalidad, recursos sobre el agua y más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2468880"/>
            <a:ext cx="3931920" cy="621792"/>
          </a:xfrm>
          <a:prstGeom prst="roundRect">
            <a:avLst>
              <a:gd name="adj" fmla="val 14706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24688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semanales de equipo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3200400"/>
            <a:ext cx="3931920" cy="621792"/>
          </a:xfrm>
          <a:prstGeom prst="roundRect">
            <a:avLst>
              <a:gd name="adj" fmla="val 14706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3200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 de Telegram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3931920"/>
            <a:ext cx="3931920" cy="621792"/>
          </a:xfrm>
          <a:prstGeom prst="roundRect">
            <a:avLst>
              <a:gd name="adj" fmla="val 14706"/>
            </a:avLst>
          </a:prstGeom>
          <a:solidFill>
            <a:srgbClr val="FDF3DC"/>
          </a:solidFill>
          <a:ln w="12700">
            <a:solidFill>
              <a:srgbClr val="FDF3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7760" y="393192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mucho más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3 estrategias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217920" y="347472"/>
            <a:ext cx="2468880" cy="548640"/>
          </a:xfrm>
          <a:prstGeom prst="roundRect">
            <a:avLst>
              <a:gd name="adj" fmla="val 13333"/>
            </a:avLst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0" y="347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de $6K a $24K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K8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con 1 producto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9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10 ventas: $6.300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$50K: 43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$100K: 74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$500K: 242 ventas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B9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QUAD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con 4 productos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8600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4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10 ventas: $50.500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$50K: 10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$100K: 18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$500K: 76 ventas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651760" cy="3474720"/>
          </a:xfrm>
          <a:prstGeom prst="roundRect">
            <a:avLst>
              <a:gd name="adj" fmla="val 5172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9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PACKAGE (FAST TRACK)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con 6 productos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4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10 ventas: $77.566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$50K: 7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$100K: 13 ventas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$500K: 60 ventas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Package: la forma más potente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Empezar con el Legacy Package te prepara para tu rango de jubilación. Recibes automáticamente una comisión de $1.552.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651760" cy="1737360"/>
          </a:xfrm>
          <a:prstGeom prst="roundRect">
            <a:avLst>
              <a:gd name="adj" fmla="val 7895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 Anespa DX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ducha spa en casa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$3.420 USD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46120" y="1783080"/>
            <a:ext cx="2651760" cy="1737360"/>
          </a:xfrm>
          <a:prstGeom prst="roundRect">
            <a:avLst>
              <a:gd name="adj" fmla="val 7895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 K8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Ionizador de agua insignia de Enagic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$5.890 USD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2651760" cy="1737360"/>
          </a:xfrm>
          <a:prstGeom prst="roundRect">
            <a:avLst>
              <a:gd name="adj" fmla="val 7895"/>
            </a:avLst>
          </a:prstGeom>
          <a:solidFill>
            <a:srgbClr val="FDF3DC"/>
          </a:solidFill>
          <a:ln w="12700">
            <a:solidFill>
              <a:srgbClr val="FDF3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Ukon Sigma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Suplementos, té y jabón de cúrcuma silvestre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$2.660 USD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2E2224"/>
          </a:solidFill>
          <a:ln w="12700">
            <a:solidFill>
              <a:srgbClr val="2E22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49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inicial aproximada: </a:t>
            </a:r>
            <a:pPr indent="0" marL="0">
              <a:buNone/>
            </a:pPr>
            <a:r>
              <a:rPr lang="en-US" sz="18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$23.940 USD</a:t>
            </a:r>
            <a:pPr indent="0" marL="0">
              <a:buNone/>
            </a:pPr>
            <a:r>
              <a:rPr lang="en-US" sz="1200" dirty="0">
                <a:solidFill>
                  <a:srgbClr val="CFC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(sin impuestos ni envío; cifras estimadas)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Hablemos de ROI: Legacy Package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3035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23444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0" y="1371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$26.400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5 ventas: recuperas tu inversión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283464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26480" y="2971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6E9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$50.160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total con 8 ventas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incluir ventas indirectas.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Fast-track de junio: este mes vs. el próximo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2 ventas: 3 puntos ($3.030)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48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3.ª venta: 4 puntos ($4.040)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$10.100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 · 4× COMISIÓN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2 ventas: 4 puntos ($4.040)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148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3.ª venta: 5 puntos ($5.050)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34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$13.130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Ganas $3.030 más si empiezas este mes.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Bonos incluidos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474720"/>
          </a:xfrm>
          <a:prstGeom prst="roundRect">
            <a:avLst>
              <a:gd name="adj" fmla="val 3158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grupo privado de mentoría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lanzar en junio entras en un grupo pequeño e íntimo con guía paso a paso, apoyo personalizado y seguimiento de líderes de la comunidad mientras avanzas hacia tus primeros $10K.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143000"/>
            <a:ext cx="3977640" cy="3474720"/>
          </a:xfrm>
          <a:prstGeom prst="roundRect">
            <a:avLst>
              <a:gd name="adj" fmla="val 3158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07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eventos y retiros presenciales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14884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E22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Estar en la misma sala con personas que ya viven el estilo de vida al que te diriges. Experiencias pensadas para ampliar tu visión, reforzar tu confianza y mantenerte conectada con lo que es posible.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es a lo que tienes acceso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9728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proceso de descubrimiento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8132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4813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 privada de claridad de 30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65376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6537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de por vida al centro de formación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9424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494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+ coaching en directo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63347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3347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privado de mentoría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17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175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Apoyo directo hasta tus primeros $10K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015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40156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marco probado de un millón de dólares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785616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856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y retiros presenciales del equipo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9664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696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de alto pago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0" y="1097280"/>
            <a:ext cx="3200400" cy="3474720"/>
          </a:xfrm>
          <a:prstGeom prst="roundRect">
            <a:avLst>
              <a:gd name="adj" fmla="val 4286"/>
            </a:avLst>
          </a:prstGeom>
          <a:solidFill>
            <a:srgbClr val="3E3133"/>
          </a:solidFill>
          <a:ln w="12700">
            <a:solidFill>
              <a:srgbClr val="3E31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0" y="1280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nuestra comunidad cobramos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9C8F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PRECIO HOY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926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GRATIS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tu inversión en producto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8F9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sigue? Solicita tu plaza en la mentoría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2743200"/>
          </a:xfrm>
          <a:prstGeom prst="roundRect">
            <a:avLst>
              <a:gd name="adj" fmla="val 7143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463040"/>
            <a:ext cx="731520" cy="731520"/>
          </a:xfrm>
          <a:prstGeom prst="ellipse">
            <a:avLst/>
          </a:prstGeom>
          <a:solidFill>
            <a:srgbClr val="EE7A7A"/>
          </a:solidFill>
          <a:ln w="12700">
            <a:solidFill>
              <a:srgbClr val="EE7A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6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Rellena la solicitud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del programa de mentoría de 4 semanas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60320" y="1280160"/>
            <a:ext cx="1920240" cy="2743200"/>
          </a:xfrm>
          <a:prstGeom prst="roundRect">
            <a:avLst>
              <a:gd name="adj" fmla="val 7143"/>
            </a:avLst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54680" y="1463040"/>
            <a:ext cx="731520" cy="731520"/>
          </a:xfrm>
          <a:prstGeom prst="ellipse">
            <a:avLst/>
          </a:prstGeom>
          <a:solidFill>
            <a:srgbClr val="8B9AB7"/>
          </a:solidFill>
          <a:ln w="12700">
            <a:solidFill>
              <a:srgbClr val="8B9A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6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377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tu llamada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día y hora en el calendario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20240" cy="2743200"/>
          </a:xfrm>
          <a:prstGeom prst="roundRect">
            <a:avLst>
              <a:gd name="adj" fmla="val 7143"/>
            </a:avLst>
          </a:prstGeom>
          <a:solidFill>
            <a:srgbClr val="EDF5EA"/>
          </a:solidFill>
          <a:ln w="12700">
            <a:solidFill>
              <a:srgbClr val="EDF5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57800" y="1463040"/>
            <a:ext cx="731520" cy="731520"/>
          </a:xfrm>
          <a:prstGeom prst="ellipse">
            <a:avLst/>
          </a:prstGeom>
          <a:solidFill>
            <a:srgbClr val="6E9C64"/>
          </a:solidFill>
          <a:ln w="12700">
            <a:solidFill>
              <a:srgbClr val="6E9C6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5780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6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377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Accede gratis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el formulario de acceso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66560" y="1280160"/>
            <a:ext cx="1920240" cy="2743200"/>
          </a:xfrm>
          <a:prstGeom prst="roundRect">
            <a:avLst>
              <a:gd name="adj" fmla="val 7143"/>
            </a:avLst>
          </a:prstGeom>
          <a:solidFill>
            <a:srgbClr val="FDF3DC"/>
          </a:solidFill>
          <a:ln w="12700">
            <a:solidFill>
              <a:srgbClr val="FDF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1463040"/>
            <a:ext cx="731520" cy="73152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6092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6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23774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2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en la comunidad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9718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el proceso de descubrimiento y empieza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5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la presentación hubo testimonios en directo de participantes y una ronda de preguntas.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095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E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68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74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D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cuerpo sano · un corazón alegre · una cuenta abundante · tiempo para disfrutarlo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Bienestar + Negocio: $10K al mes</dc:title>
  <dc:subject>PptxGenJS Presentation</dc:subject>
  <dc:creator>PptxGenJS</dc:creator>
  <cp:lastModifiedBy>PptxGenJS</cp:lastModifiedBy>
  <cp:revision>1</cp:revision>
  <dcterms:created xsi:type="dcterms:W3CDTF">2026-10-06T05:24:28Z</dcterms:created>
  <dcterms:modified xsi:type="dcterms:W3CDTF">2026-10-06T05:24:28Z</dcterms:modified>
</cp:coreProperties>
</file>
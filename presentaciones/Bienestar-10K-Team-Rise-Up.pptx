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2.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81b42cd3-3663-3a11-7ec8-7aa50eadd4de}">
          <p14:sldIdLst>
            <p14:sldId id="256"/>
            <p14:sldId id="257"/>
            <p14:sldId id="258"/>
            <p14:sldId id="259"/>
            <p14:sldId id="260"/>
          </p14:sldIdLst>
        </p14:section>
        <p14:section name="El «New Rich»" id="{b19bf721-dc2d-183f-53cd-3a0e3ab0f4fc}">
          <p14:sldIdLst>
            <p14:sldId id="261"/>
            <p14:sldId id="262"/>
            <p14:sldId id="263"/>
          </p14:sldIdLst>
        </p14:section>
        <p14:section name="Quiénes somos" id="{0931d529-4e19-5592-ac2d-32d6a5aedd35}">
          <p14:sldIdLst>
            <p14:sldId id="264"/>
            <p14:sldId id="265"/>
            <p14:sldId id="266"/>
          </p14:sldIdLst>
        </p14:section>
        <p14:section name="Crisis de salud" id="{95f4e73f-d21b-47d2-0752-092af3133a89}">
          <p14:sldIdLst>
            <p14:sldId id="267"/>
            <p14:sldId id="268"/>
            <p14:sldId id="269"/>
            <p14:sldId id="270"/>
            <p14:sldId id="271"/>
            <p14:sldId id="272"/>
            <p14:sldId id="273"/>
          </p14:sldIdLst>
        </p14:section>
        <p14:section name="La solución" id="{64bceef7-faf9-32fc-f7a1-5acf21f541da}">
          <p14:sldIdLst>
            <p14:sldId id="274"/>
            <p14:sldId id="275"/>
            <p14:sldId id="276"/>
            <p14:sldId id="277"/>
            <p14:sldId id="278"/>
            <p14:sldId id="279"/>
            <p14:sldId id="280"/>
            <p14:sldId id="281"/>
            <p14:sldId id="282"/>
            <p14:sldId id="283"/>
          </p14:sldIdLst>
        </p14:section>
        <p14:section name="Crisis financiera" id="{0877ab1e-10fe-34ee-805a-885a1def6cc2}">
          <p14:sldIdLst>
            <p14:sldId id="284"/>
            <p14:sldId id="285"/>
            <p14:sldId id="286"/>
            <p14:sldId id="287"/>
            <p14:sldId id="288"/>
            <p14:sldId id="289"/>
            <p14:sldId id="290"/>
            <p14:sldId id="291"/>
            <p14:sldId id="292"/>
            <p14:sldId id="293"/>
            <p14:sldId id="294"/>
            <p14:sldId id="295"/>
          </p14:sldIdLst>
        </p14:section>
        <p14:section name="Cómo hacerlo" id="{98bc3657-3541-6a3b-73f8-0fa49300b327}">
          <p14:sldIdLst>
            <p14:sldId id="296"/>
            <p14:sldId id="297"/>
            <p14:sldId id="298"/>
            <p14:sldId id="299"/>
            <p14:sldId id="300"/>
            <p14:sldId id="301"/>
            <p14:sldId id="302"/>
          </p14:sldIdLst>
        </p14:section>
        <p14:section name="La oferta" id="{e5950341-7173-0c6a-6acd-9205080ddf72}">
          <p14:sldIdLst>
            <p14:sldId id="303"/>
            <p14:sldId id="304"/>
            <p14:sldId id="305"/>
            <p14:sldId id="306"/>
            <p14:sldId id="307"/>
            <p14:sldId id="308"/>
            <p14:sldId id="309"/>
            <p14:sldId id="310"/>
            <p14:sldId id="311"/>
            <p14:sldId id="312"/>
            <p14:sldId id="313"/>
          </p14:sldIdLst>
        </p14:section>
        <p14:section name="Cierre" id="{1a7a511e-fcd8-bb69-a907-1cc684189a18}">
          <p14:sldIdLst>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3F41"/>
                </a:solidFill>
                <a:latin typeface="+mn-lt"/>
              </a:defRPr>
            </a:pPr>
            <a:r>
              <a:rPr sz="1200" b="0" i="0" u="none" strike="noStrike">
                <a:solidFill>
                  <a:srgbClr val="4A3F41"/>
                </a:solidFill>
                <a:latin typeface="+mn-lt"/>
              </a:rPr>
              <a:t>Coste total en 15 años (USD)</a:t>
            </a:r>
          </a:p>
        </c:rich>
      </c:tx>
      <c:layout/>
      <c:overlay val="0"/>
    </c:title>
    <c:autoTitleDeleted val="0"/>
    <c:plotArea>
      <c:layout/>
      <c:barChart>
        <c:barDir val="bar"/>
        <c:grouping val="clustered"/>
        <c:varyColors val="0"/>
        <c:ser>
          <c:idx val="0"/>
          <c:order val="0"/>
          <c:tx>
            <c:strRef>
              <c:f>Sheet1!$B$1</c:f>
              <c:strCache>
                <c:ptCount val="1"/>
                <c:pt idx="0">
                  <c:v>Coste a 15 años (USD)</c:v>
                </c:pt>
              </c:strCache>
            </c:strRef>
          </c:tx>
          <c:spPr>
            <a:solidFill>
              <a:srgbClr val="B9D3B1"/>
            </a:solidFill>
            <a:effectLst/>
          </c:spPr>
          <c:invertIfNegative val="0"/>
          <c:dLbls>
            <c:numFmt formatCode="$#,##0" sourceLinked="0"/>
            <c:txPr>
              <a:bodyPr/>
              <a:lstStyle/>
              <a:p>
                <a:pPr>
                  <a:defRPr b="0" i="0" strike="noStrike" sz="1000" u="none">
                    <a:solidFill>
                      <a:srgbClr val="4A3F41"/>
                    </a:solidFill>
                    <a:latin typeface="+mn-lt"/>
                  </a:defRPr>
                </a:pPr>
              </a:p>
            </c:txPr>
            <c:showLegendKey val="0"/>
            <c:showVal val="1"/>
            <c:showCatName val="0"/>
            <c:showSerName val="0"/>
            <c:showPercent val="0"/>
            <c:showBubbleSize val="0"/>
            <c:showLeaderLines val="0"/>
          </c:dLbls>
          <c:dPt>
            <c:idx val="0"/>
            <c:invertIfNegative val="0"/>
            <c:bubble3D val="0"/>
            <c:spPr>
              <a:solidFill>
                <a:srgbClr val="B9D3B1"/>
              </a:solidFill>
              <a:effectLst/>
            </c:spPr>
          </c:dPt>
          <c:dPt>
            <c:idx val="1"/>
            <c:invertIfNegative val="0"/>
            <c:bubble3D val="0"/>
            <c:spPr>
              <a:solidFill>
                <a:srgbClr val="EE7A7A"/>
              </a:solidFill>
              <a:effectLst/>
            </c:spPr>
          </c:dPt>
          <c:dPt>
            <c:idx val="2"/>
            <c:invertIfNegative val="0"/>
            <c:bubble3D val="0"/>
            <c:spPr>
              <a:solidFill>
                <a:srgbClr val="EE7A7A"/>
              </a:solidFill>
              <a:effectLst/>
            </c:spPr>
          </c:dPt>
          <c:dPt>
            <c:idx val="3"/>
            <c:invertIfNegative val="0"/>
            <c:bubble3D val="0"/>
            <c:spPr>
              <a:solidFill>
                <a:srgbClr val="EE7A7A"/>
              </a:solidFill>
              <a:effectLst/>
            </c:spPr>
          </c:dPt>
          <c:dPt>
            <c:idx val="4"/>
            <c:invertIfNegative val="0"/>
            <c:bubble3D val="0"/>
            <c:spPr>
              <a:solidFill>
                <a:srgbClr val="EE7A7A"/>
              </a:solidFill>
              <a:effectLst/>
            </c:spPr>
          </c:dPt>
          <c:dPt>
            <c:idx val="5"/>
            <c:invertIfNegative val="0"/>
            <c:bubble3D val="0"/>
            <c:spPr>
              <a:solidFill>
                <a:srgbClr val="EE7A7A"/>
              </a:solidFill>
              <a:effectLst/>
            </c:spPr>
          </c:dPt>
          <c:cat>
            <c:multiLvlStrRef>
              <c:f>Sheet1!$A$2:$A$7</c:f>
              <c:multiLvlStrCache>
                <c:ptCount val="6"/>
                <c:lvl>
                  <c:pt idx="0">
                    <c:v>Ionizador Kangen</c:v>
                  </c:pt>
                  <c:pt idx="1">
                    <c:v>Reparto a domicilio</c:v>
                  </c:pt>
                  <c:pt idx="2">
                    <c:v>Fiji</c:v>
                  </c:pt>
                  <c:pt idx="3">
                    <c:v>Dasani</c:v>
                  </c:pt>
                  <c:pt idx="4">
                    <c:v>Aquafina</c:v>
                  </c:pt>
                  <c:pt idx="5">
                    <c:v>Evian</c:v>
                  </c:pt>
                </c:lvl>
              </c:multiLvlStrCache>
            </c:multiLvlStrRef>
          </c:cat>
          <c:val>
            <c:numRef>
              <c:f>Sheet1!$B$2:$B$7</c:f>
              <c:numCache>
                <c:formatCode>General</c:formatCode>
                <c:ptCount val="6"/>
                <c:pt idx="0">
                  <c:v>5890</c:v>
                </c:pt>
                <c:pt idx="1">
                  <c:v>14400</c:v>
                </c:pt>
                <c:pt idx="2">
                  <c:v>29025</c:v>
                </c:pt>
                <c:pt idx="3">
                  <c:v>32670</c:v>
                </c:pt>
                <c:pt idx="4">
                  <c:v>32670</c:v>
                </c:pt>
                <c:pt idx="5">
                  <c:v>38637</c:v>
                </c:pt>
              </c:numCache>
            </c:numRef>
          </c:val>
        </c:ser>
        <c:dLbls>
          <c:numFmt formatCode="$#,##0" sourceLinked="0"/>
          <c:txPr>
            <a:bodyPr/>
            <a:lstStyle/>
            <a:p>
              <a:pPr>
                <a:defRPr b="0" i="0" strike="noStrike" sz="1000" u="none">
                  <a:solidFill>
                    <a:srgbClr val="4A3F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3F4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4A3F41"/>
                </a:solidFill>
                <a:latin typeface="+mn-lt"/>
              </a:defRPr>
            </a:pPr>
            <a:r>
              <a:rPr sz="1200" b="0" i="0" u="none" strike="noStrike">
                <a:solidFill>
                  <a:srgbClr val="4A3F41"/>
                </a:solidFill>
                <a:latin typeface="+mn-lt"/>
              </a:rPr>
              <a:t>Comisión directa por venta (USD)</a:t>
            </a:r>
          </a:p>
        </c:rich>
      </c:tx>
      <c:layout/>
      <c:overlay val="0"/>
    </c:title>
    <c:autoTitleDeleted val="0"/>
    <c:plotArea>
      <c:layout/>
      <c:barChart>
        <c:barDir val="col"/>
        <c:grouping val="clustered"/>
        <c:varyColors val="0"/>
        <c:ser>
          <c:idx val="0"/>
          <c:order val="0"/>
          <c:tx>
            <c:strRef>
              <c:f>Sheet1!$B$1</c:f>
              <c:strCache>
                <c:ptCount val="1"/>
                <c:pt idx="0">
                  <c:v>Comisión por venta (USD)</c:v>
                </c:pt>
              </c:strCache>
            </c:strRef>
          </c:tx>
          <c:spPr>
            <a:solidFill>
              <a:srgbClr val="8B9AB7"/>
            </a:solidFill>
            <a:effectLst/>
          </c:spPr>
          <c:invertIfNegative val="0"/>
          <c:dLbls>
            <c:numFmt formatCode="$#,##0" sourceLinked="0"/>
            <c:txPr>
              <a:bodyPr/>
              <a:lstStyle/>
              <a:p>
                <a:pPr>
                  <a:defRPr b="0" i="0" strike="noStrike" sz="1000" u="none">
                    <a:solidFill>
                      <a:srgbClr val="4A3F41"/>
                    </a:solidFill>
                    <a:latin typeface="+mn-lt"/>
                  </a:defRPr>
                </a:pPr>
              </a:p>
            </c:txPr>
            <c:showLegendKey val="0"/>
            <c:showVal val="1"/>
            <c:showCatName val="0"/>
            <c:showSerName val="0"/>
            <c:showPercent val="0"/>
            <c:showBubbleSize val="0"/>
            <c:showLeaderLines val="0"/>
          </c:dLbls>
          <c:dPt>
            <c:idx val="0"/>
            <c:invertIfNegative val="0"/>
            <c:bubble3D val="0"/>
            <c:spPr>
              <a:solidFill>
                <a:srgbClr val="8B9AB7"/>
              </a:solidFill>
              <a:effectLst/>
            </c:spPr>
          </c:dPt>
          <c:dPt>
            <c:idx val="1"/>
            <c:invertIfNegative val="0"/>
            <c:bubble3D val="0"/>
            <c:spPr>
              <a:solidFill>
                <a:srgbClr val="8B9AB7"/>
              </a:solidFill>
              <a:effectLst/>
            </c:spPr>
          </c:dPt>
          <c:dPt>
            <c:idx val="2"/>
            <c:invertIfNegative val="0"/>
            <c:bubble3D val="0"/>
            <c:spPr>
              <a:solidFill>
                <a:srgbClr val="8B9AB7"/>
              </a:solidFill>
              <a:effectLst/>
            </c:spPr>
          </c:dPt>
          <c:dPt>
            <c:idx val="3"/>
            <c:invertIfNegative val="0"/>
            <c:bubble3D val="0"/>
            <c:spPr>
              <a:solidFill>
                <a:srgbClr val="8B9AB7"/>
              </a:solidFill>
              <a:effectLst/>
            </c:spPr>
          </c:dPt>
          <c:dPt>
            <c:idx val="4"/>
            <c:invertIfNegative val="0"/>
            <c:bubble3D val="0"/>
            <c:spPr>
              <a:solidFill>
                <a:srgbClr val="EE7A7A"/>
              </a:solidFill>
              <a:effectLst/>
            </c:spPr>
          </c:dPt>
          <c:dPt>
            <c:idx val="5"/>
            <c:invertIfNegative val="0"/>
            <c:bubble3D val="0"/>
            <c:spPr>
              <a:solidFill>
                <a:srgbClr val="B9D3B1"/>
              </a:solidFill>
              <a:effectLst/>
            </c:spPr>
          </c:dPt>
          <c:dPt>
            <c:idx val="6"/>
            <c:invertIfNegative val="0"/>
            <c:bubble3D val="0"/>
            <c:spPr>
              <a:solidFill>
                <a:srgbClr val="B9D3B1"/>
              </a:solidFill>
              <a:effectLst/>
            </c:spPr>
          </c:dPt>
          <c:dPt>
            <c:idx val="7"/>
            <c:invertIfNegative val="0"/>
            <c:bubble3D val="0"/>
            <c:spPr>
              <a:solidFill>
                <a:srgbClr val="B9D3B1"/>
              </a:solidFill>
              <a:effectLst/>
            </c:spPr>
          </c:dPt>
          <c:cat>
            <c:multiLvlStrRef>
              <c:f>Sheet1!$A$2:$A$9</c:f>
              <c:multiLvlStrCache>
                <c:ptCount val="8"/>
                <c:lvl>
                  <c:pt idx="0">
                    <c:v>1.ª</c:v>
                  </c:pt>
                  <c:pt idx="1">
                    <c:v>2.ª</c:v>
                  </c:pt>
                  <c:pt idx="2">
                    <c:v>3.ª</c:v>
                  </c:pt>
                  <c:pt idx="3">
                    <c:v>4.ª</c:v>
                  </c:pt>
                  <c:pt idx="4">
                    <c:v>5.ª</c:v>
                  </c:pt>
                  <c:pt idx="5">
                    <c:v>6.ª</c:v>
                  </c:pt>
                  <c:pt idx="6">
                    <c:v>7.ª</c:v>
                  </c:pt>
                  <c:pt idx="7">
                    <c:v>8.ª</c:v>
                  </c:pt>
                </c:lvl>
              </c:multiLvlStrCache>
            </c:multiLvlStrRef>
          </c:cat>
          <c:val>
            <c:numRef>
              <c:f>Sheet1!$B$2:$B$9</c:f>
              <c:numCache>
                <c:formatCode>General</c:formatCode>
                <c:ptCount val="8"/>
                <c:pt idx="0">
                  <c:v>3960</c:v>
                </c:pt>
                <c:pt idx="1">
                  <c:v>5280</c:v>
                </c:pt>
                <c:pt idx="2">
                  <c:v>3960</c:v>
                </c:pt>
                <c:pt idx="3">
                  <c:v>5280</c:v>
                </c:pt>
                <c:pt idx="4">
                  <c:v>7920</c:v>
                </c:pt>
                <c:pt idx="5">
                  <c:v>7920</c:v>
                </c:pt>
                <c:pt idx="6">
                  <c:v>7920</c:v>
                </c:pt>
                <c:pt idx="7">
                  <c:v>7920</c:v>
                </c:pt>
              </c:numCache>
            </c:numRef>
          </c:val>
        </c:ser>
        <c:dLbls>
          <c:numFmt formatCode="$#,##0" sourceLinked="0"/>
          <c:txPr>
            <a:bodyPr/>
            <a:lstStyle/>
            <a:p>
              <a:pPr>
                <a:defRPr b="0" i="0" strike="noStrike" sz="1000" u="none">
                  <a:solidFill>
                    <a:srgbClr val="4A3F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3F41"/>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[0:00–5:00] Carly da la bienvenida (más de 600 inscritos) y pide que digan desde dónde se conectan. Aclara que no hay presión: el objetivo es escuchar y ver si esto encaja contigo. Duración: 90 minutos, con más de $550 en premios en efectivo al final para quien se quede. Pide escuchar «como si hubieras pagado $5.000» por estar aquí.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[8:20–9:35] Presentación de las ponentes. Carly conoció el producto en una clínica oncológica integrativa durante su proceso de cáncer y ha generado más de $2M en 4 años. Shannon: mamá homeschool, $100K en su primer año. Iulia: exmaestra, mes de $34K a los 5 meses. Lynn: nido vacío, $26K en sus 2 primeros meses (recuperó su inversión). Michelle: enfermera convertida en sanadora holística, mamá de 4, $140K en 20 meses. Aubrey: ex empleada corporativa, $13K en su 4.º mes. Anna: ex ejecutiva de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[7:05–10:00] Lo que verás hoy es el camino más claro para convertir la pasión por el bienestar en ingresos online sin ser agresiva en ventas, sin publicar sin parar y sin experiencia previa. Carly cuenta que acaba de volver de Japón, de la casa natal del fundador de la empresa (exvendedor de Sony), cuya filosofía es servir primero. Objetivo: entender el modelo Wellness Partnership y cómo generar ingresos desde cualquier lugar con el móvil o el ordenador.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[11:15–12:55] Si te quedas hasta el final recibes dos cosas: (1) una llamada de claridad con una coach del equipo para ver tu caso según tu calendario, personalidad y objetivos; (2) acceso a un grupo privado de mentoría de 4 semanas con personas que ganan 6 y 7 cifras: bases y visión, plan de redes y DMs, ventas offline, mentalidad e ingreso de legado. «Aunque no tengas seguidores ni te sientas tecnológica, saldrás con un plan claro».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[12:55–14:35] Visualización: imagínate dentro de un año, construyendo algo a largo plazo, con impulso y apoyo, trabajando desde cualquier lugar, pudiendo viajar o quedarte en casa con tus hijos. «¿Cómo sería tu vida si el dinero dejara de mandar?». Carly pide un trato: 90 minutos de atención total, móvil en no molestar.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[16:40–17:55] Lo que la gente cree que crea riqueza: un trabajo estable de 9 a 5 hasta los 65, una carrera en derecho, finanzas o medicina, o una herencia. Pero mucha gente en esas carreras está quemada y sin tiempo, y muchas personas con herencia no sienten propósito. «Eso no es lo que buscamos».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[17:55–19:35] El «New Rich»: un cuerpo sano, un corazón alegre, una cuenta bancaria abundante y tiempo para disfrutarlo. No es una pirámide de «tres que traen a tres», ni copiar y pegar DMs, ni vender cursos, ni hacer una lista de 100 amigos. Es aprender una habilidad, seguir un sistema y conectarte a una comunidad. El verdadero activo eres tú: tus habilidades, tu mensaje y tu confianza.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[19:35–22:05] Es para ti si amas el bienestar, quieres un negocio alineado y no agresivo, estás harta de la cultura del hustle, no tienes audiencia pero estás dispuesta a aprender y seguir un plan. No es para ti si buscas dinero fácil, no quieres crecer ni dejarte guiar, te quedas en el escepticismo de «demuéstramelo» o no asumes responsabilidad. Si no es para ti, puedes salir sin ningún problema.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[22:05–22:55] Team Rise Up: un equipo de líderes con mentalidad de crecimiento y conscientes de su salud que crean libertad de tiempo y financiera, una persona hidratada a la vez. Padres, profesores, mamás y papás en casa, familias homeschool, ex ejecutivos… todos buscando una forma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[22:55–24:35] Esta pequeña comunidad generó más de $5M en ventas el último año, y $2.8M fueron comisiones para sus miembros. Ejemplos: Ali depositó $3.100 en cheques; Kate empezó para ayudar a su hijo con problemas intestinales; Ellen, mamá homeschool de 7 con un bebé de 3 meses, tuvo su primer mes de $9.000 a los 5 meses; Joya, superviviente de cáncer dos veces, empezó solo por beber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[24:35–25:00] Resolvemos dos cosas: la crisis de salud (la base de una salud duradera que casi nadie mira: el agua) y la crisis financiera (estabilidad financiera e ingreso de legado para tus hijos).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[25:00–26:15] Michelle se presenta: enfermera formada en medicina occidental, ahora holística, mamá de 4. En la escuela de enfermería nunca le enseñaron que la hidratación es la base de la salud. Tras su 4.º bebé decidió no volver al hospital; se mudó, encontró este negocio y ha generado más de $200K en dos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[26:15–26:40] El cuerpo humano es más de un 70% agua y el cerebro un 75%. Si queremos resolver una crisis de salud sin mirar el agua que bebemos, nos estamos perdiendo algo.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[26:40–27:55] La EPA ha identificado más de 80 contaminantes regulados en el agua del grifo: fármacos, plomo, hormonas, patógenos, aluminio, microplásticos, bacterias… Aunque no la bebas, la usas al comer fuera, al ducharte o al bañar a tus hijos. En EE. UU. puedes consultar tu código postal en ewg.org/tapwater. Dato citado: 1 de cada 2 hombres y 1 de cada 3 mujeres serán diagnosticados de cáncer.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[27:55–29:35] Ósmosis inversa: muy limpia pero sin minerales («agua limpia pero muerta»); recomiendan remineralizarla y activarla. Filtros de gravedad: Michelle cuenta que con su filtro su familia seguía enfermando cíclicamente y un análisis mostró plomo cuyo origen era el propio filtro. Ahí encontró el producto y empezó 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[29:35–30:25] El agua embotellada y las bebidas en lata suelen contener microplásticos, descritos como neurotoxinas, carcinógenos y disruptores endocrinos. Media de 325 partículas de plástico por litro. Michelle cuenta que su cuarto hijo tuvo problemas respiratorios que ella relaciona con microplásticos.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[30:25–30:50] Además, el agua embotellada cuesta unas 3.000 veces más por galón que la del grifo. Comparativa a 15 años: un ionizador (~$5.890) frente a $29K–38K en agua embotellada de marca.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[30:50–31:40] Anna cuenta la ironía: entró por el negocio, no por el agua. Tenía una lesión del manguito rotador; tras un año de remedios y esteroides iba a operarse. A las 6 semanas de beber el agua, dice, desapareció la inflamación, recuperó la movilidad y no necesitó cirugía. Lleva un cuarto de millón de dólares en dos años con el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[31:40–32:55] El ionizador de grado médico produce agua con hidrógeno molecular mediante electrólisis. Se afirma que hay estudios en más de 170 enfermedades. Se fabrican a mano en Japón, inspirados en el agua de las «zonas azules». Hace 7 tipos de agua con 85 usos y sustituye productos de limpieza: lejía, detergente, quitamanchas, desmaquillante, limpiador de verduras…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[32:55–33:20] Pregunta típica: «¿no tiene ya hidrógeno el agua?». No: en H₂O el hidrógeno no está accesible. La electrólisis separa hidrógeno y oxígeno; dos átomos de hidrógeno se unen y forman H₂ (hidrógeno molecular), que queda disuelto en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[33:20–34:10] Cinco cualidades del agua: rica en antioxidantes, absorción rápida (dicen que hidrata y elimina toxinas 6–10 veces más rápido), alcalina, ORP negativo y rica en hidrógeno molecular. Resultado: protección frente al estrés oxidativo, más energía y menos niebla 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[34:10–35:00] «No es el agua, es el hidrógeno del agua». El H₂ es la molécula más pequeña (primer elemento de la tabla periódica); como gas penetra en células, mitocondrias y ADN. Se presenta como antioxidante, antiinflamatorio, antienvejecimiento, antidiabético y antitumoral.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[35:00–35:50] El estrés oxidativo es un desequilibrio entre radicales libres y antioxidantes. Los radicales libres son moléculas inestables que «roban» a las células sanas y las dañan. Los antioxidantes como el hidrógeno frenan esa reacción en cadena.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[35:50–36:15] ¿Qué causa radicales libres? «Vivir en el mundo moderno»: comida, azúcar, toxinas, contaminación, agua embotellada y del grifo… «No es para dar miedo: el conocimiento es poder». Datos citados: un radical libre puede dañar 2 millones de células en un minuto; cada célula recibe 15.000 ataques al día.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[36:15–37:05] El hidrógeno es un antioxidante selectivo: busca los radicales más dañinos. Activa la vía Nrf2, que hace que las células produzcan más glutatión. Se afirma que reduce el estrés oxidativo y los radicales libres un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[37:05–38:45] Testimonios: erupción cutánea tras intoxicación que no mejoraba con dermatólogos ni esteroides y que, según cuenta, se fue en dos semanas; inflamación por celiaquía; el marido de una compañera con dolor de rodilla (tomaba narcóticos), migrañas y pérdida de peso; una atleta con estreñimiento que dejó su inhalador; una señora que dejó su medicación en un mes. Recordatorio: son testimonios, no evidencia médica. Para investigar: «electrolyzed reduced water», «molecular hydrogen», Molecular Hydrogen Institute. Botellas y pastillas de hidrógeno: el hidrógeno dura 10–20 min frente a 48–72 h del ionizador, y la batería dura 300–500 ciclos.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[40:25–42:05] La prevención es la mejor cura: el infarto a los 50 empezó a los 20; el alzhéimer a los 70, a los 40; el cáncer a los 60, a los 30. No enfermamos de un día para otro. Testimonios: Stephanie dejó sus recetas tras 6 meses; a Lois le bajó el LDL 43 puntos en 3 semanas; Dana mejoró alergias e intestino irritable en 4 semanas.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[42:05–43:20] Otros productos: Anespa convierte la ducha en un spa mineral y filtra cloro y bacterias (dicen que en 10 minutos de ducha el cuerpo absorbe unos 8 vasos de agua). Ukon: cúrcuma silvestre de Okinawa (zona azul) en cápsulas, té y jabón. Kangen Beauté: nueva línea coreana de cuidado de la piel con Ukon y agua de pH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[43:20–45:50] Lynn: hace poco estaba viendo esta misma clase. Con su hija pequeña entrando en el último año de instituto, se preguntó cuál sería su siguiente etapa. La piel de su hijo reaccionaba al agua (con arsénico). Hizo el proceso de descubrimiento con su marido, empezó con el Quad, pasó al Legacy y en sus primeras 7 semanas generó más de $26.000 en comisiones. También cuenta mejoras en piel, energía y niebla mental.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[45:50–46:40] La libertad son las cuatro ruedas de un coche: tiempo, ubicación, dinero y salud. Un médico o abogado tiene libertad financiera pero no de tiempo; Lynn, con el nido vacío, tenía tiempo pero no libertad financiera ni de ubicación.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[46:40–50:50] Carly explica el cuadrante del flujo de dinero: empleado (cambias tiempo por dinero), autoempleado (tienes un trabajo propio), dueño de negocio (tienes un sistema) e inversor (tus inversiones generan ingresos). Este negocio no empieza ahí: se gana con el tiempo. De media, en 3–5 años (sin garantía) se llega al rango «legacy», con ingresos mensuales heredables. También destaca la calidad del producto japonés y el plan de compensación patentado (empresa con más de 50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[50:50–51:15] Joya era coach de salud autónoma: para ganar más necesitaba más llamadas, más clientes y más energía. Ganaba $500–600 al mes; ahora genera $3K–9K al mes con más flexibilidad e ingresos pasivos.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[51:15–52:30] Un negocio físico requiere cientos de miles de dólares de arranque, operaciones diarias y poca flexibilidad. Naomi tenía márgenes del 10–15% en su cafetería; con este modelo habla de un 70–80%. El comercio electrónico no para de crecer mientras caen las ventas de grandes almacenes: aprender a vender online es clave.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[52:30–53:45] Shannon venía de las ventas de bajo ticket. Le encantaba ese trabajo, pero no era sostenible: su mejor mes fueron unos $13.000 con más de 100 ventas. Hace poco tuvo un mes de $30.000 con solo 7 ventas. «Quiero un negocio que encaje en mi vida, no una vida que encaje en mi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[53:45–55:00] Para ganar $10K al mes: con bajo ticket necesitas 500–1.000 ventas; como empleado, un sueldo con techo; como coach a $100–300 por sesión, muchísimos clientes; un negocio físico tiene gastos que reducen el beneficio. Con el modelo Wellness Partnership ($3K–7K por venta) bastan 2–4 socias alineadas al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[55:00–56:40] Estabilidad financiera: cubrir lo básico (unos $2K–5K al mes). Independencia: el doble, con margen para invertir. Libertad financiera: 10 veces la estabilidad, para invertir y ser «radicalmente generosa». Ejemplo: Carly pasó 12 semanas en Grecia con su familia trabajando unas dos horas por la tarde. «No puedo garantizarte nada; si alguien te lo garantiza, es una señal de alarma».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[56:40–57:30] Pregunta en el chat: si dejaras de trabajar hoy, ¿tu negocio seguiría generando ingresos? Y si murieras hoy, ¿tendrías un ingreso que dejar en herencia a tus hijos? La mayoría no lo tiene.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[57:30–58:45] Por qué Enagic: empresa japonesa de 52 años con sede en Okinawa, más de $1.000M en ventas. El agua es algo que todos necesitan; el producto es sostenible y dura más de 20 años (hay gente con máquinas de 25–30 años). Sin inventario ni cuotas; según Shannon, se parece más a un modelo inmobiliario que a la venta directa tradicional. Alrededor del 51% de comisión va a los distribuidores.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[58:45–59:35] El plan de compensación: lo importante es el rango 6A2-3, que Carly alcanzó hace unos meses: un mínimo de $5.000 al mes de por vida y heredable. «La gente trabaja décadas para su pensión a los 65; aquí se puede conseguir en 3–5 años».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[59:35–1:00:25] La venta directa global valía unos $200.000M en 2022 y llegará a unos $286.000M en 2030. El mercado de ionizadores crecerá más de $1.000M entre 2021 y 2027. Sumado al marketing online, «no llegas tarde: es el momento, la demanda y la oportunidad alineados».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[1:00:25–1:02:30] «¿Necesito experiencia, ser influencer o experta en tecnología?». No. Iulia se presenta: lleva 7–8 meses y en su 5.º–6.º mes ganó $34.000 en un mes. Fue maestra con un sueldo de $32.000 al año en un trabajo que odiaba; ahora hace homeschool con sus 5 hijos.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[1:02:30–1:08:45] Tres caminos. Orgánico: hay más de 5.200M de usuarios de redes y pasamos más de 6 horas al día online; no hace falta ser influencer, se trata de compartir lo que te apasiona y crear contenido que trabaje 24/7. Publicidad pagada: anuncios de pocos dólares al día en Meta dirigidos a tu público ideal; Iulia ganó más de $7.000 con un solo anuncio en 3 semanas sin experiencia previa. Offline (Aubrey): conversaciones reales, bolsa de agua con folleto, máquina en préstamo, puntos de recogida en centros de bienestar, demostraciones y ferias.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[1:08:45–1:11:15] Membresías de agua compartida: Aubrey conoció el agua así. Hizo una demostración en casa, lanzó su programa de agua compartida esa noche y pagó su máquina en 6 meses. La tabla muestra ingresos mensuales extra de negocios (smoothies ~$2.500, MedSpa ~$1.300) y hogares ($500–1.500), y las comisiones cuando esos clientes compran su propia máquina.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[1:11:15–1:12:30] No importa el tamaño de tu cuenta: Dana tiene 20.000 seguidores, otras 4.000 o 1.500. Dana, acupuntora, ha generado más de $336.000; Anna duplicó sus ingresos en tres meses; Michelle superó los $100.000 en 13 meses con un día de $10.255. Aubrey trabajó 12 años en marketing corporativo y ha sustituido su sueldo para estar en casa con su hija.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[1:12:30–1:13:45] La infraestructura del millón en 5 pasos: 1) atraer atención y conectar (orgánico, anuncios o en persona); 2) presentar una oferta que mejora la vida de alguien; 3) conectarlo a un sistema que genera confianza; 4) automatizar el proceso para no cambiar tiempo por dinero; 5) acelerar con mentoría.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[1:13:45–1:15:25] «No tienes que construir estos sistemas: ya están hechos». Conexión real → clase gratuita como esta → proceso de aprendizaje automatizado (el «proceso de descubrimiento») → la persona decide sus productos y entra en la comunidad. Aubrey: así puede ir al gimnasio a las 8:30 y quedar con amigas entre semana. Después, Ross (marido de Carly) cuenta que era el «marido escéptico»: investigó la parte de salud (el hidrógeno) y el modelo de negocio, que describe como una forma de «gamificar» las ventas y el marketing con afiliados.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[1:20:25–1:21:40] La forma más rápida de cambiar tu vida es encontrar a alguien que ya vive la vida que quieres y aprender de esa persona. Oprah fue mentorizada por Maya Angelou; Zuckerberg, por Steve Jobs; Lady Gaga, por Akon; Tony Robbins, por Jim Rohn. La mentoría acorta los plazos.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[1:21:40–1:22:30] El modelo no va de reclutar masivamente, ni de hacerse viral, ni de lanzar enlaces. Va de identificar a unas pocas mujeres serias y alineadas con la misma pasión por la salud, el impacto y la libertad, presentarles la infraestructura y conectarlas con la mentoría adecuada.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[1:22:30–1:24:10] Si todo lo que hiciera este negocio fuera… cambiar tu perspectiva (Dana dice que ha crecido más en 2 años que en toda su vida); reemplazar tu sueldo (Anna: 12 ventas directas en un mes); viajar (Ali recorre Australia en caravana con meses de 12.000 AUD); hacer lo que amas (a Lacey la empresa le reembolsó $7.700 por ir a Japón); más tiempo en familia; mejorar la salud (la hija de Amanda con PANDAS); o una comunidad afín… ¿merecería la pena?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[1:24:10–1:25:00] Hemos cubierto mucho, pero la información sola no cambia tu vida: vivimos rodeados de información y ruido. Podrías aprenderlo todo por tu cuenta, pero ¿y si tuvieras una comunidad y sistemas a los que conectarte?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[1:25:00–1:27:05] El paquete Wellness Partnership: primero el proceso de descubrimiento (vídeos cortos con más testimonios, productos, financiación y preguntas frecuentes), que conviene ver con cualquier otra persona que decida en casa. Luego una llamada de claridad uno a uno. Al invertir en producto se abre la comunidad: acceso de por vida al centro de formación (lanzamiento, ventas, redes, anuncios), llamadas en directo, chats 24/7 y masterminds. «Como un MBA para trabajar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[1:27:05–1:28:45] Más resultados: Sunny, $100K en su primer año; Naomi, $50K en sus primeros 6 meses; Jillian, días de $5.000 y $7.500. Hay tres formas de empezar, con una inversión de $6K a $24K y opciones de financiación. Lo importante es el retorno: con el K8 recuperas la inversión en 9 ventas; con el Quad y el Legacy, en unas 4. A partir de ahí, «estás en beneficio el resto de tu vida».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[1:28:45–1:29:35] El K8 cuesta $5.890 más impuestos y envío. El Quad (dos K8, uno para ti y otro para prestar, filtro de ducha, remineralizador y cúrcuma) ronda los $18.000. El Legacy (dos filtros de ducha, dos ionizadores y dos Ukon) ronda los $24.000. Las cifras exactas se dan en la llamada.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[1:29:35–1:30:25] Con el Legacy recuperas la inversión en 5 ventas y llegas a unos $50.000 en 8 ventas. Esto conecta con el cuadrante del inversor: los rangos legacy (3–5 años de media) dan ingresos mensuales heredables. Carly enseña a tener las tres cuentas superiores, por eso su ingreso legacy pasará de $5.000 este año a $20.000 el próximo.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[1:30:25–1:31:15] Promoción de la propia empresa solo en junio: empiezas con 4 veces la comisión. Normalmente tu primera venta de un Quad son $3.030; este mes empiezas en $4.040 y la tercera sube a $5.050. Son más de $3.000 extra si cierras tus ventas antes de fin de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[1:31:15–1:32:05] Bonos: el grupo privado de mentoría; apoyo hasta tus primeros $10.000 en ventas (te acompañan en tu primera conversación con un cliente); acceso al marco del millón de dólares que compartió Aubrey; y retiros y eventos presenciales cada tres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[1:32:05–1:32:30] Fuera de esta llamada, el proceso de descubrimiento y la llamada cuestan $99. Hoy no se cobran esos $99: puedes avanzar al siguiente paso gratis, sin ninguna inversión hasta que decidas tu paquete.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[1:32:30–1:35:25] Siguiente paso: solicitar plaza en el grupo de mentoría (por qué te interesa, qué quieres aprender). Si te aprueban, recibes gratis los vídeos del proceso de descubrimiento, reservas tu llamada uno a uno y decides si empiezas con el K8, el Quad o el Legacy. Tras invertir se abren las puertas de Team Rise Up. Ábrelo en otra pestaña: al cerrar la llamada deja de estar disponible.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[1:35:25–1:41:30] Premios en efectivo ($560 repartidos entre dos personas). Marissa, recién graduada del instituto, cuenta que no pidió plaza en la universidad porque quiere empezar este negocio para tener libertad de tiempo, ubicación y dinero. Melis, coach de salud y mamá de dos, venía de un MLM de bajo ticket agotador; le atraen la salud, la libertad financiera y la comunidad con mentoría. Recordatorio: para entrar en la promoción de junio hay que hacerlo antes de fin de mes, y conviene ver el proceso de descubrimiento con quien decida en casa.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rgbClr val="2E2224"/>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E22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2600" b="1" dirty="0">
                <a:solidFill>
                  <a:srgbClr val="FFFFFF"/>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2E2224"/>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731520"/>
            <a:ext cx="7315200" cy="36576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CÓMO USAR TU PASIÓN POR EL</a:t>
            </a:r>
            <a:endParaRPr lang="en-US" sz="1600" dirty="0"/>
          </a:p>
        </p:txBody>
      </p:sp>
      <p:sp>
        <p:nvSpPr>
          <p:cNvPr id="4" name="Text 1"/>
          <p:cNvSpPr txBox="1"/>
          <p:nvPr/>
        </p:nvSpPr>
        <p:spPr>
          <a:xfrm>
            <a:off x="640080" y="1097280"/>
            <a:ext cx="7315200" cy="822960"/>
          </a:xfrm>
          <a:prstGeom prst="rect">
            <a:avLst/>
          </a:prstGeom>
          <a:noFill/>
          <a:ln/>
        </p:spPr>
        <p:txBody>
          <a:bodyPr wrap="square" lIns="0" tIns="0" rIns="0" bIns="0" rtlCol="0" anchor="t"/>
          <a:lstStyle/>
          <a:p>
            <a:pPr indent="0" marL="0">
              <a:buNone/>
            </a:pPr>
            <a:r>
              <a:rPr lang="en-US" sz="5400" b="1" dirty="0">
                <a:solidFill>
                  <a:srgbClr val="EE7A7A"/>
                </a:solidFill>
                <a:latin typeface="Arial" pitchFamily="34" charset="0"/>
                <a:ea typeface="Arial" pitchFamily="34" charset="-122"/>
                <a:cs typeface="Arial" pitchFamily="34" charset="-120"/>
              </a:rPr>
              <a:t>BIENESTAR</a:t>
            </a:r>
            <a:endParaRPr lang="en-US" sz="5400" dirty="0"/>
          </a:p>
        </p:txBody>
      </p:sp>
      <p:sp>
        <p:nvSpPr>
          <p:cNvPr id="5" name="Text 2"/>
          <p:cNvSpPr txBox="1"/>
          <p:nvPr/>
        </p:nvSpPr>
        <p:spPr>
          <a:xfrm>
            <a:off x="640080" y="1965960"/>
            <a:ext cx="7315200" cy="365760"/>
          </a:xfrm>
          <a:prstGeom prst="rect">
            <a:avLst/>
          </a:prstGeom>
          <a:noFill/>
          <a:ln/>
        </p:spPr>
        <p:txBody>
          <a:bodyPr wrap="square" lIns="0" tIns="0" rIns="0" bIns="0" rtlCol="0" anchor="t"/>
          <a:lstStyle/>
          <a:p>
            <a:pPr indent="0" marL="0">
              <a:buNone/>
            </a:pPr>
            <a:r>
              <a:rPr lang="en-US" sz="1600" b="1" spc="300" kern="0" dirty="0">
                <a:solidFill>
                  <a:srgbClr val="FFFFFF"/>
                </a:solidFill>
                <a:latin typeface="Calibri" pitchFamily="34" charset="0"/>
                <a:ea typeface="Calibri" pitchFamily="34" charset="-122"/>
                <a:cs typeface="Calibri" pitchFamily="34" charset="-120"/>
              </a:rPr>
              <a:t>PARA CREAR MESES CONSISTENTES DE</a:t>
            </a:r>
            <a:endParaRPr lang="en-US" sz="1600" dirty="0"/>
          </a:p>
        </p:txBody>
      </p:sp>
      <p:sp>
        <p:nvSpPr>
          <p:cNvPr id="6" name="Shape 3"/>
          <p:cNvSpPr/>
          <p:nvPr/>
        </p:nvSpPr>
        <p:spPr>
          <a:xfrm>
            <a:off x="640080" y="2468880"/>
            <a:ext cx="4206240" cy="914400"/>
          </a:xfrm>
          <a:prstGeom prst="roundRect">
            <a:avLst>
              <a:gd name="adj" fmla="val 10000"/>
            </a:avLst>
          </a:prstGeom>
          <a:solidFill>
            <a:srgbClr val="8B9AB7"/>
          </a:solidFill>
          <a:ln w="12700">
            <a:solidFill>
              <a:srgbClr val="8B9AB7"/>
            </a:solidFill>
            <a:prstDash val="solid"/>
          </a:ln>
        </p:spPr>
      </p:sp>
      <p:sp>
        <p:nvSpPr>
          <p:cNvPr id="7" name="Text 4"/>
          <p:cNvSpPr txBox="1"/>
          <p:nvPr/>
        </p:nvSpPr>
        <p:spPr>
          <a:xfrm>
            <a:off x="822960" y="2468880"/>
            <a:ext cx="393192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$10K+ </a:t>
            </a:r>
            <a:pPr indent="0" marL="0">
              <a:buNone/>
            </a:pPr>
            <a:r>
              <a:rPr lang="en-US" sz="1800" b="1" dirty="0">
                <a:solidFill>
                  <a:srgbClr val="FFFFFF"/>
                </a:solidFill>
                <a:latin typeface="Calibri" pitchFamily="34" charset="0"/>
                <a:ea typeface="Calibri" pitchFamily="34" charset="-122"/>
                <a:cs typeface="Calibri" pitchFamily="34" charset="-120"/>
              </a:rPr>
              <a:t>AL MES ONLINE</a:t>
            </a:r>
            <a:endParaRPr lang="en-US" sz="1400" dirty="0"/>
          </a:p>
        </p:txBody>
      </p:sp>
      <p:sp>
        <p:nvSpPr>
          <p:cNvPr id="8" name="Text 5"/>
          <p:cNvSpPr txBox="1"/>
          <p:nvPr/>
        </p:nvSpPr>
        <p:spPr>
          <a:xfrm>
            <a:off x="640080" y="3657600"/>
            <a:ext cx="7680960" cy="457200"/>
          </a:xfrm>
          <a:prstGeom prst="rect">
            <a:avLst/>
          </a:prstGeom>
          <a:noFill/>
          <a:ln/>
        </p:spPr>
        <p:txBody>
          <a:bodyPr wrap="square" lIns="0" tIns="0" rIns="0" bIns="0" rtlCol="0" anchor="t"/>
          <a:lstStyle/>
          <a:p>
            <a:pPr indent="0" marL="0">
              <a:buNone/>
            </a:pPr>
            <a:r>
              <a:rPr lang="en-US" sz="1600" b="1" spc="200" kern="0" dirty="0">
                <a:solidFill>
                  <a:srgbClr val="B9D3B1"/>
                </a:solidFill>
                <a:latin typeface="Calibri" pitchFamily="34" charset="0"/>
                <a:ea typeface="Calibri" pitchFamily="34" charset="-122"/>
                <a:cs typeface="Calibri" pitchFamily="34" charset="-120"/>
              </a:rPr>
              <a:t>MIENTRAS AYUDAS A OTROS A RECUPERAR SU SALUD</a:t>
            </a:r>
            <a:endParaRPr lang="en-US" sz="1600" dirty="0"/>
          </a:p>
        </p:txBody>
      </p:sp>
      <p:sp>
        <p:nvSpPr>
          <p:cNvPr id="9" name="Text 6"/>
          <p:cNvSpPr txBox="1"/>
          <p:nvPr/>
        </p:nvSpPr>
        <p:spPr>
          <a:xfrm>
            <a:off x="640080" y="4343400"/>
            <a:ext cx="7315200" cy="274320"/>
          </a:xfrm>
          <a:prstGeom prst="rect">
            <a:avLst/>
          </a:prstGeom>
          <a:noFill/>
          <a:ln/>
        </p:spPr>
        <p:txBody>
          <a:bodyPr wrap="square" lIns="0" tIns="0" rIns="0" bIns="0" rtlCol="0" anchor="t"/>
          <a:lstStyle/>
          <a:p>
            <a:pPr indent="0" marL="0">
              <a:buNone/>
            </a:pPr>
            <a:r>
              <a:rPr lang="en-US" sz="1200" dirty="0">
                <a:solidFill>
                  <a:srgbClr val="BFB4B5"/>
                </a:solidFill>
                <a:latin typeface="Calibri" pitchFamily="34" charset="0"/>
                <a:ea typeface="Calibri" pitchFamily="34" charset="-122"/>
                <a:cs typeface="Calibri" pitchFamily="34" charset="-120"/>
              </a:rPr>
              <a:t>Team Rise Up · Evento en vivo (replay)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Conoce a las ponentes</a:t>
            </a:r>
            <a:endParaRPr lang="en-US" sz="2600" dirty="0"/>
          </a:p>
        </p:txBody>
      </p:sp>
      <p:sp>
        <p:nvSpPr>
          <p:cNvPr id="4" name="Shape 1"/>
          <p:cNvSpPr/>
          <p:nvPr/>
        </p:nvSpPr>
        <p:spPr>
          <a:xfrm>
            <a:off x="457200" y="1143000"/>
            <a:ext cx="1097280" cy="2743200"/>
          </a:xfrm>
          <a:prstGeom prst="roundRect">
            <a:avLst>
              <a:gd name="adj" fmla="val 12500"/>
            </a:avLst>
          </a:prstGeom>
          <a:solidFill>
            <a:srgbClr val="EE7A7A"/>
          </a:solidFill>
          <a:ln w="12700">
            <a:solidFill>
              <a:srgbClr val="EE7A7A"/>
            </a:solidFill>
            <a:prstDash val="solid"/>
          </a:ln>
        </p:spPr>
      </p:sp>
      <p:sp>
        <p:nvSpPr>
          <p:cNvPr id="5" name="Text 2"/>
          <p:cNvSpPr txBox="1"/>
          <p:nvPr/>
        </p:nvSpPr>
        <p:spPr>
          <a:xfrm>
            <a:off x="530352" y="1280160"/>
            <a:ext cx="950976" cy="548640"/>
          </a:xfrm>
          <a:prstGeom prst="rect">
            <a:avLst/>
          </a:prstGeom>
          <a:noFill/>
          <a:ln/>
        </p:spPr>
        <p:txBody>
          <a:bodyPr wrap="square" lIns="0" tIns="0" rIns="0" bIns="0" rtlCol="0" anchor="t"/>
          <a:lstStyle/>
          <a:p>
            <a:pPr algn="ctr" indent="0" marL="0">
              <a:buNone/>
            </a:pPr>
            <a:r>
              <a:rPr lang="en-US" sz="1100" b="1" dirty="0">
                <a:solidFill>
                  <a:srgbClr val="2E2224"/>
                </a:solidFill>
                <a:latin typeface="Arial" pitchFamily="34" charset="0"/>
                <a:ea typeface="Arial" pitchFamily="34" charset="-122"/>
                <a:cs typeface="Arial" pitchFamily="34" charset="-120"/>
              </a:rPr>
              <a:t>CARLY BROWN</a:t>
            </a:r>
            <a:endParaRPr lang="en-US" sz="1100" dirty="0"/>
          </a:p>
        </p:txBody>
      </p:sp>
      <p:sp>
        <p:nvSpPr>
          <p:cNvPr id="6" name="Text 3"/>
          <p:cNvSpPr txBox="1"/>
          <p:nvPr/>
        </p:nvSpPr>
        <p:spPr>
          <a:xfrm>
            <a:off x="530352" y="1874520"/>
            <a:ext cx="950976" cy="1920240"/>
          </a:xfrm>
          <a:prstGeom prst="rect">
            <a:avLst/>
          </a:prstGeom>
          <a:noFill/>
          <a:ln/>
        </p:spPr>
        <p:txBody>
          <a:bodyPr wrap="square" lIns="0" tIns="0" rIns="0" bIns="0" rtlCol="0" anchor="t"/>
          <a:lstStyle/>
          <a:p>
            <a:pPr algn="ctr" indent="0" marL="0">
              <a:buNone/>
            </a:pPr>
            <a:r>
              <a:rPr lang="en-US" sz="1000" dirty="0">
                <a:solidFill>
                  <a:srgbClr val="2E2224"/>
                </a:solidFill>
                <a:latin typeface="Calibri" pitchFamily="34" charset="0"/>
                <a:ea typeface="Calibri" pitchFamily="34" charset="-122"/>
                <a:cs typeface="Calibri" pitchFamily="34" charset="-120"/>
              </a:rPr>
              <a:t>Mamá, superviviente de cáncer, coach de salud y riqueza</a:t>
            </a:r>
            <a:endParaRPr lang="en-US" sz="1000" dirty="0"/>
          </a:p>
        </p:txBody>
      </p:sp>
      <p:sp>
        <p:nvSpPr>
          <p:cNvPr id="7" name="Shape 4"/>
          <p:cNvSpPr/>
          <p:nvPr/>
        </p:nvSpPr>
        <p:spPr>
          <a:xfrm>
            <a:off x="457200" y="3977640"/>
            <a:ext cx="1097280" cy="685800"/>
          </a:xfrm>
          <a:prstGeom prst="roundRect">
            <a:avLst>
              <a:gd name="adj" fmla="val 13333"/>
            </a:avLst>
          </a:prstGeom>
          <a:solidFill>
            <a:srgbClr val="2E2224"/>
          </a:solidFill>
          <a:ln w="12700">
            <a:solidFill>
              <a:srgbClr val="2E2224"/>
            </a:solidFill>
            <a:prstDash val="solid"/>
          </a:ln>
        </p:spPr>
      </p:sp>
      <p:sp>
        <p:nvSpPr>
          <p:cNvPr id="8" name="Text 5"/>
          <p:cNvSpPr txBox="1"/>
          <p:nvPr/>
        </p:nvSpPr>
        <p:spPr>
          <a:xfrm>
            <a:off x="512064" y="3977640"/>
            <a:ext cx="987552"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+$2M en 4 años</a:t>
            </a:r>
            <a:endParaRPr lang="en-US" sz="1000" dirty="0"/>
          </a:p>
        </p:txBody>
      </p:sp>
      <p:sp>
        <p:nvSpPr>
          <p:cNvPr id="9" name="Shape 6"/>
          <p:cNvSpPr/>
          <p:nvPr/>
        </p:nvSpPr>
        <p:spPr>
          <a:xfrm>
            <a:off x="1645920" y="1143000"/>
            <a:ext cx="1097280" cy="2743200"/>
          </a:xfrm>
          <a:prstGeom prst="roundRect">
            <a:avLst>
              <a:gd name="adj" fmla="val 12500"/>
            </a:avLst>
          </a:prstGeom>
          <a:solidFill>
            <a:srgbClr val="8B9AB7"/>
          </a:solidFill>
          <a:ln w="12700">
            <a:solidFill>
              <a:srgbClr val="8B9AB7"/>
            </a:solidFill>
            <a:prstDash val="solid"/>
          </a:ln>
        </p:spPr>
      </p:sp>
      <p:sp>
        <p:nvSpPr>
          <p:cNvPr id="10" name="Text 7"/>
          <p:cNvSpPr txBox="1"/>
          <p:nvPr/>
        </p:nvSpPr>
        <p:spPr>
          <a:xfrm>
            <a:off x="1719072" y="1280160"/>
            <a:ext cx="950976" cy="548640"/>
          </a:xfrm>
          <a:prstGeom prst="rect">
            <a:avLst/>
          </a:prstGeom>
          <a:noFill/>
          <a:ln/>
        </p:spPr>
        <p:txBody>
          <a:bodyPr wrap="square" lIns="0" tIns="0" rIns="0" bIns="0" rtlCol="0" anchor="t"/>
          <a:lstStyle/>
          <a:p>
            <a:pPr algn="ctr" indent="0" marL="0">
              <a:buNone/>
            </a:pPr>
            <a:r>
              <a:rPr lang="en-US" sz="1100" b="1" dirty="0">
                <a:solidFill>
                  <a:srgbClr val="2E2224"/>
                </a:solidFill>
                <a:latin typeface="Arial" pitchFamily="34" charset="0"/>
                <a:ea typeface="Arial" pitchFamily="34" charset="-122"/>
                <a:cs typeface="Arial" pitchFamily="34" charset="-120"/>
              </a:rPr>
              <a:t>SHANNON GARCIA</a:t>
            </a:r>
            <a:endParaRPr lang="en-US" sz="1100" dirty="0"/>
          </a:p>
        </p:txBody>
      </p:sp>
      <p:sp>
        <p:nvSpPr>
          <p:cNvPr id="11" name="Text 8"/>
          <p:cNvSpPr txBox="1"/>
          <p:nvPr/>
        </p:nvSpPr>
        <p:spPr>
          <a:xfrm>
            <a:off x="1719072" y="1874520"/>
            <a:ext cx="950976" cy="1920240"/>
          </a:xfrm>
          <a:prstGeom prst="rect">
            <a:avLst/>
          </a:prstGeom>
          <a:noFill/>
          <a:ln/>
        </p:spPr>
        <p:txBody>
          <a:bodyPr wrap="square" lIns="0" tIns="0" rIns="0" bIns="0" rtlCol="0" anchor="t"/>
          <a:lstStyle/>
          <a:p>
            <a:pPr algn="ctr" indent="0" marL="0">
              <a:buNone/>
            </a:pPr>
            <a:r>
              <a:rPr lang="en-US" sz="1000" dirty="0">
                <a:solidFill>
                  <a:srgbClr val="2E2224"/>
                </a:solidFill>
                <a:latin typeface="Calibri" pitchFamily="34" charset="0"/>
                <a:ea typeface="Calibri" pitchFamily="34" charset="-122"/>
                <a:cs typeface="Calibri" pitchFamily="34" charset="-120"/>
              </a:rPr>
              <a:t>Venía del bajo ticket; esposa de militar, mamá homeschool</a:t>
            </a:r>
            <a:endParaRPr lang="en-US" sz="1000" dirty="0"/>
          </a:p>
        </p:txBody>
      </p:sp>
      <p:sp>
        <p:nvSpPr>
          <p:cNvPr id="12" name="Shape 9"/>
          <p:cNvSpPr/>
          <p:nvPr/>
        </p:nvSpPr>
        <p:spPr>
          <a:xfrm>
            <a:off x="1645920" y="3977640"/>
            <a:ext cx="1097280" cy="685800"/>
          </a:xfrm>
          <a:prstGeom prst="roundRect">
            <a:avLst>
              <a:gd name="adj" fmla="val 13333"/>
            </a:avLst>
          </a:prstGeom>
          <a:solidFill>
            <a:srgbClr val="2E2224"/>
          </a:solidFill>
          <a:ln w="12700">
            <a:solidFill>
              <a:srgbClr val="2E2224"/>
            </a:solidFill>
            <a:prstDash val="solid"/>
          </a:ln>
        </p:spPr>
      </p:sp>
      <p:sp>
        <p:nvSpPr>
          <p:cNvPr id="13" name="Text 10"/>
          <p:cNvSpPr txBox="1"/>
          <p:nvPr/>
        </p:nvSpPr>
        <p:spPr>
          <a:xfrm>
            <a:off x="1700784" y="3977640"/>
            <a:ext cx="987552"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$100K en su primer año</a:t>
            </a:r>
            <a:endParaRPr lang="en-US" sz="1000" dirty="0"/>
          </a:p>
        </p:txBody>
      </p:sp>
      <p:sp>
        <p:nvSpPr>
          <p:cNvPr id="14" name="Shape 11"/>
          <p:cNvSpPr/>
          <p:nvPr/>
        </p:nvSpPr>
        <p:spPr>
          <a:xfrm>
            <a:off x="2834640" y="1143000"/>
            <a:ext cx="1097280" cy="2743200"/>
          </a:xfrm>
          <a:prstGeom prst="roundRect">
            <a:avLst>
              <a:gd name="adj" fmla="val 12500"/>
            </a:avLst>
          </a:prstGeom>
          <a:solidFill>
            <a:srgbClr val="B9D3B1"/>
          </a:solidFill>
          <a:ln w="12700">
            <a:solidFill>
              <a:srgbClr val="B9D3B1"/>
            </a:solidFill>
            <a:prstDash val="solid"/>
          </a:ln>
        </p:spPr>
      </p:sp>
      <p:sp>
        <p:nvSpPr>
          <p:cNvPr id="15" name="Text 12"/>
          <p:cNvSpPr txBox="1"/>
          <p:nvPr/>
        </p:nvSpPr>
        <p:spPr>
          <a:xfrm>
            <a:off x="2907792" y="1280160"/>
            <a:ext cx="950976" cy="548640"/>
          </a:xfrm>
          <a:prstGeom prst="rect">
            <a:avLst/>
          </a:prstGeom>
          <a:noFill/>
          <a:ln/>
        </p:spPr>
        <p:txBody>
          <a:bodyPr wrap="square" lIns="0" tIns="0" rIns="0" bIns="0" rtlCol="0" anchor="t"/>
          <a:lstStyle/>
          <a:p>
            <a:pPr algn="ctr" indent="0" marL="0">
              <a:buNone/>
            </a:pPr>
            <a:r>
              <a:rPr lang="en-US" sz="1100" b="1" dirty="0">
                <a:solidFill>
                  <a:srgbClr val="2E2224"/>
                </a:solidFill>
                <a:latin typeface="Arial" pitchFamily="34" charset="0"/>
                <a:ea typeface="Arial" pitchFamily="34" charset="-122"/>
                <a:cs typeface="Arial" pitchFamily="34" charset="-120"/>
              </a:rPr>
              <a:t>IULIA BARTON</a:t>
            </a:r>
            <a:endParaRPr lang="en-US" sz="1100" dirty="0"/>
          </a:p>
        </p:txBody>
      </p:sp>
      <p:sp>
        <p:nvSpPr>
          <p:cNvPr id="16" name="Text 13"/>
          <p:cNvSpPr txBox="1"/>
          <p:nvPr/>
        </p:nvSpPr>
        <p:spPr>
          <a:xfrm>
            <a:off x="2907792" y="1874520"/>
            <a:ext cx="950976" cy="1920240"/>
          </a:xfrm>
          <a:prstGeom prst="rect">
            <a:avLst/>
          </a:prstGeom>
          <a:noFill/>
          <a:ln/>
        </p:spPr>
        <p:txBody>
          <a:bodyPr wrap="square" lIns="0" tIns="0" rIns="0" bIns="0" rtlCol="0" anchor="t"/>
          <a:lstStyle/>
          <a:p>
            <a:pPr algn="ctr" indent="0" marL="0">
              <a:buNone/>
            </a:pPr>
            <a:r>
              <a:rPr lang="en-US" sz="1000" dirty="0">
                <a:solidFill>
                  <a:srgbClr val="2E2224"/>
                </a:solidFill>
                <a:latin typeface="Calibri" pitchFamily="34" charset="0"/>
                <a:ea typeface="Calibri" pitchFamily="34" charset="-122"/>
                <a:cs typeface="Calibri" pitchFamily="34" charset="-120"/>
              </a:rPr>
              <a:t>Mamá homeschool, exmaestra</a:t>
            </a:r>
            <a:endParaRPr lang="en-US" sz="1000" dirty="0"/>
          </a:p>
        </p:txBody>
      </p:sp>
      <p:sp>
        <p:nvSpPr>
          <p:cNvPr id="17" name="Shape 14"/>
          <p:cNvSpPr/>
          <p:nvPr/>
        </p:nvSpPr>
        <p:spPr>
          <a:xfrm>
            <a:off x="2834640" y="3977640"/>
            <a:ext cx="1097280" cy="685800"/>
          </a:xfrm>
          <a:prstGeom prst="roundRect">
            <a:avLst>
              <a:gd name="adj" fmla="val 13333"/>
            </a:avLst>
          </a:prstGeom>
          <a:solidFill>
            <a:srgbClr val="2E2224"/>
          </a:solidFill>
          <a:ln w="12700">
            <a:solidFill>
              <a:srgbClr val="2E2224"/>
            </a:solidFill>
            <a:prstDash val="solid"/>
          </a:ln>
        </p:spPr>
      </p:sp>
      <p:sp>
        <p:nvSpPr>
          <p:cNvPr id="18" name="Text 15"/>
          <p:cNvSpPr txBox="1"/>
          <p:nvPr/>
        </p:nvSpPr>
        <p:spPr>
          <a:xfrm>
            <a:off x="2889504" y="3977640"/>
            <a:ext cx="987552"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$34K/mes en sus primeros 5 meses</a:t>
            </a:r>
            <a:endParaRPr lang="en-US" sz="1000" dirty="0"/>
          </a:p>
        </p:txBody>
      </p:sp>
      <p:sp>
        <p:nvSpPr>
          <p:cNvPr id="19" name="Shape 16"/>
          <p:cNvSpPr/>
          <p:nvPr/>
        </p:nvSpPr>
        <p:spPr>
          <a:xfrm>
            <a:off x="4023360" y="1143000"/>
            <a:ext cx="1097280" cy="2743200"/>
          </a:xfrm>
          <a:prstGeom prst="roundRect">
            <a:avLst>
              <a:gd name="adj" fmla="val 12500"/>
            </a:avLst>
          </a:prstGeom>
          <a:solidFill>
            <a:srgbClr val="F4A78A"/>
          </a:solidFill>
          <a:ln w="12700">
            <a:solidFill>
              <a:srgbClr val="F4A78A"/>
            </a:solidFill>
            <a:prstDash val="solid"/>
          </a:ln>
        </p:spPr>
      </p:sp>
      <p:sp>
        <p:nvSpPr>
          <p:cNvPr id="20" name="Text 17"/>
          <p:cNvSpPr txBox="1"/>
          <p:nvPr/>
        </p:nvSpPr>
        <p:spPr>
          <a:xfrm>
            <a:off x="4096512" y="1280160"/>
            <a:ext cx="950976" cy="548640"/>
          </a:xfrm>
          <a:prstGeom prst="rect">
            <a:avLst/>
          </a:prstGeom>
          <a:noFill/>
          <a:ln/>
        </p:spPr>
        <p:txBody>
          <a:bodyPr wrap="square" lIns="0" tIns="0" rIns="0" bIns="0" rtlCol="0" anchor="t"/>
          <a:lstStyle/>
          <a:p>
            <a:pPr algn="ctr" indent="0" marL="0">
              <a:buNone/>
            </a:pPr>
            <a:r>
              <a:rPr lang="en-US" sz="1100" b="1" dirty="0">
                <a:solidFill>
                  <a:srgbClr val="2E2224"/>
                </a:solidFill>
                <a:latin typeface="Arial" pitchFamily="34" charset="0"/>
                <a:ea typeface="Arial" pitchFamily="34" charset="-122"/>
                <a:cs typeface="Arial" pitchFamily="34" charset="-120"/>
              </a:rPr>
              <a:t>LYNN HOCKING</a:t>
            </a:r>
            <a:endParaRPr lang="en-US" sz="1100" dirty="0"/>
          </a:p>
        </p:txBody>
      </p:sp>
      <p:sp>
        <p:nvSpPr>
          <p:cNvPr id="21" name="Text 18"/>
          <p:cNvSpPr txBox="1"/>
          <p:nvPr/>
        </p:nvSpPr>
        <p:spPr>
          <a:xfrm>
            <a:off x="4096512" y="1874520"/>
            <a:ext cx="950976" cy="1920240"/>
          </a:xfrm>
          <a:prstGeom prst="rect">
            <a:avLst/>
          </a:prstGeom>
          <a:noFill/>
          <a:ln/>
        </p:spPr>
        <p:txBody>
          <a:bodyPr wrap="square" lIns="0" tIns="0" rIns="0" bIns="0" rtlCol="0" anchor="t"/>
          <a:lstStyle/>
          <a:p>
            <a:pPr algn="ctr" indent="0" marL="0">
              <a:buNone/>
            </a:pPr>
            <a:r>
              <a:rPr lang="en-US" sz="1000" dirty="0">
                <a:solidFill>
                  <a:srgbClr val="2E2224"/>
                </a:solidFill>
                <a:latin typeface="Calibri" pitchFamily="34" charset="0"/>
                <a:ea typeface="Calibri" pitchFamily="34" charset="-122"/>
                <a:cs typeface="Calibri" pitchFamily="34" charset="-120"/>
              </a:rPr>
              <a:t>Nido vacío, mamá de 5, nueva etapa</a:t>
            </a:r>
            <a:endParaRPr lang="en-US" sz="1000" dirty="0"/>
          </a:p>
        </p:txBody>
      </p:sp>
      <p:sp>
        <p:nvSpPr>
          <p:cNvPr id="22" name="Shape 19"/>
          <p:cNvSpPr/>
          <p:nvPr/>
        </p:nvSpPr>
        <p:spPr>
          <a:xfrm>
            <a:off x="4023360" y="3977640"/>
            <a:ext cx="1097280" cy="685800"/>
          </a:xfrm>
          <a:prstGeom prst="roundRect">
            <a:avLst>
              <a:gd name="adj" fmla="val 13333"/>
            </a:avLst>
          </a:prstGeom>
          <a:solidFill>
            <a:srgbClr val="2E2224"/>
          </a:solidFill>
          <a:ln w="12700">
            <a:solidFill>
              <a:srgbClr val="2E2224"/>
            </a:solidFill>
            <a:prstDash val="solid"/>
          </a:ln>
        </p:spPr>
      </p:sp>
      <p:sp>
        <p:nvSpPr>
          <p:cNvPr id="23" name="Text 20"/>
          <p:cNvSpPr txBox="1"/>
          <p:nvPr/>
        </p:nvSpPr>
        <p:spPr>
          <a:xfrm>
            <a:off x="4078224" y="3977640"/>
            <a:ext cx="987552"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$26K en sus 2 primeros meses</a:t>
            </a:r>
            <a:endParaRPr lang="en-US" sz="1000" dirty="0"/>
          </a:p>
        </p:txBody>
      </p:sp>
      <p:sp>
        <p:nvSpPr>
          <p:cNvPr id="24" name="Shape 21"/>
          <p:cNvSpPr/>
          <p:nvPr/>
        </p:nvSpPr>
        <p:spPr>
          <a:xfrm>
            <a:off x="5212080" y="1143000"/>
            <a:ext cx="1097280" cy="2743200"/>
          </a:xfrm>
          <a:prstGeom prst="roundRect">
            <a:avLst>
              <a:gd name="adj" fmla="val 12500"/>
            </a:avLst>
          </a:prstGeom>
          <a:solidFill>
            <a:srgbClr val="F2C14E"/>
          </a:solidFill>
          <a:ln w="12700">
            <a:solidFill>
              <a:srgbClr val="F2C14E"/>
            </a:solidFill>
            <a:prstDash val="solid"/>
          </a:ln>
        </p:spPr>
      </p:sp>
      <p:sp>
        <p:nvSpPr>
          <p:cNvPr id="25" name="Text 22"/>
          <p:cNvSpPr txBox="1"/>
          <p:nvPr/>
        </p:nvSpPr>
        <p:spPr>
          <a:xfrm>
            <a:off x="5285232" y="1280160"/>
            <a:ext cx="950976" cy="548640"/>
          </a:xfrm>
          <a:prstGeom prst="rect">
            <a:avLst/>
          </a:prstGeom>
          <a:noFill/>
          <a:ln/>
        </p:spPr>
        <p:txBody>
          <a:bodyPr wrap="square" lIns="0" tIns="0" rIns="0" bIns="0" rtlCol="0" anchor="t"/>
          <a:lstStyle/>
          <a:p>
            <a:pPr algn="ctr" indent="0" marL="0">
              <a:buNone/>
            </a:pPr>
            <a:r>
              <a:rPr lang="en-US" sz="1100" b="1" dirty="0">
                <a:solidFill>
                  <a:srgbClr val="2E2224"/>
                </a:solidFill>
                <a:latin typeface="Arial" pitchFamily="34" charset="0"/>
                <a:ea typeface="Arial" pitchFamily="34" charset="-122"/>
                <a:cs typeface="Arial" pitchFamily="34" charset="-120"/>
              </a:rPr>
              <a:t>MICHELLE FOSS</a:t>
            </a:r>
            <a:endParaRPr lang="en-US" sz="1100" dirty="0"/>
          </a:p>
        </p:txBody>
      </p:sp>
      <p:sp>
        <p:nvSpPr>
          <p:cNvPr id="26" name="Text 23"/>
          <p:cNvSpPr txBox="1"/>
          <p:nvPr/>
        </p:nvSpPr>
        <p:spPr>
          <a:xfrm>
            <a:off x="5285232" y="1874520"/>
            <a:ext cx="950976" cy="1920240"/>
          </a:xfrm>
          <a:prstGeom prst="rect">
            <a:avLst/>
          </a:prstGeom>
          <a:noFill/>
          <a:ln/>
        </p:spPr>
        <p:txBody>
          <a:bodyPr wrap="square" lIns="0" tIns="0" rIns="0" bIns="0" rtlCol="0" anchor="t"/>
          <a:lstStyle/>
          <a:p>
            <a:pPr algn="ctr" indent="0" marL="0">
              <a:buNone/>
            </a:pPr>
            <a:r>
              <a:rPr lang="en-US" sz="1000" dirty="0">
                <a:solidFill>
                  <a:srgbClr val="2E2224"/>
                </a:solidFill>
                <a:latin typeface="Calibri" pitchFamily="34" charset="0"/>
                <a:ea typeface="Calibri" pitchFamily="34" charset="-122"/>
                <a:cs typeface="Calibri" pitchFamily="34" charset="-120"/>
              </a:rPr>
              <a:t>Enfermera de medicina occidental → sanadora holística, mamá</a:t>
            </a:r>
            <a:endParaRPr lang="en-US" sz="1000" dirty="0"/>
          </a:p>
        </p:txBody>
      </p:sp>
      <p:sp>
        <p:nvSpPr>
          <p:cNvPr id="27" name="Shape 24"/>
          <p:cNvSpPr/>
          <p:nvPr/>
        </p:nvSpPr>
        <p:spPr>
          <a:xfrm>
            <a:off x="5212080" y="3977640"/>
            <a:ext cx="1097280" cy="685800"/>
          </a:xfrm>
          <a:prstGeom prst="roundRect">
            <a:avLst>
              <a:gd name="adj" fmla="val 13333"/>
            </a:avLst>
          </a:prstGeom>
          <a:solidFill>
            <a:srgbClr val="2E2224"/>
          </a:solidFill>
          <a:ln w="12700">
            <a:solidFill>
              <a:srgbClr val="2E2224"/>
            </a:solidFill>
            <a:prstDash val="solid"/>
          </a:ln>
        </p:spPr>
      </p:sp>
      <p:sp>
        <p:nvSpPr>
          <p:cNvPr id="28" name="Text 25"/>
          <p:cNvSpPr txBox="1"/>
          <p:nvPr/>
        </p:nvSpPr>
        <p:spPr>
          <a:xfrm>
            <a:off x="5266944" y="3977640"/>
            <a:ext cx="987552"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$140K en 20 meses</a:t>
            </a:r>
            <a:endParaRPr lang="en-US" sz="1000" dirty="0"/>
          </a:p>
        </p:txBody>
      </p:sp>
      <p:sp>
        <p:nvSpPr>
          <p:cNvPr id="29" name="Shape 26"/>
          <p:cNvSpPr/>
          <p:nvPr/>
        </p:nvSpPr>
        <p:spPr>
          <a:xfrm>
            <a:off x="6400800" y="1143000"/>
            <a:ext cx="1097280" cy="2743200"/>
          </a:xfrm>
          <a:prstGeom prst="roundRect">
            <a:avLst>
              <a:gd name="adj" fmla="val 12500"/>
            </a:avLst>
          </a:prstGeom>
          <a:solidFill>
            <a:srgbClr val="EE7A7A"/>
          </a:solidFill>
          <a:ln w="12700">
            <a:solidFill>
              <a:srgbClr val="EE7A7A"/>
            </a:solidFill>
            <a:prstDash val="solid"/>
          </a:ln>
        </p:spPr>
      </p:sp>
      <p:sp>
        <p:nvSpPr>
          <p:cNvPr id="30" name="Text 27"/>
          <p:cNvSpPr txBox="1"/>
          <p:nvPr/>
        </p:nvSpPr>
        <p:spPr>
          <a:xfrm>
            <a:off x="6473952" y="1280160"/>
            <a:ext cx="950976" cy="548640"/>
          </a:xfrm>
          <a:prstGeom prst="rect">
            <a:avLst/>
          </a:prstGeom>
          <a:noFill/>
          <a:ln/>
        </p:spPr>
        <p:txBody>
          <a:bodyPr wrap="square" lIns="0" tIns="0" rIns="0" bIns="0" rtlCol="0" anchor="t"/>
          <a:lstStyle/>
          <a:p>
            <a:pPr algn="ctr" indent="0" marL="0">
              <a:buNone/>
            </a:pPr>
            <a:r>
              <a:rPr lang="en-US" sz="1100" b="1" dirty="0">
                <a:solidFill>
                  <a:srgbClr val="2E2224"/>
                </a:solidFill>
                <a:latin typeface="Arial" pitchFamily="34" charset="0"/>
                <a:ea typeface="Arial" pitchFamily="34" charset="-122"/>
                <a:cs typeface="Arial" pitchFamily="34" charset="-120"/>
              </a:rPr>
              <a:t>AUBREY NICCUM</a:t>
            </a:r>
            <a:endParaRPr lang="en-US" sz="1100" dirty="0"/>
          </a:p>
        </p:txBody>
      </p:sp>
      <p:sp>
        <p:nvSpPr>
          <p:cNvPr id="31" name="Text 28"/>
          <p:cNvSpPr txBox="1"/>
          <p:nvPr/>
        </p:nvSpPr>
        <p:spPr>
          <a:xfrm>
            <a:off x="6473952" y="1874520"/>
            <a:ext cx="950976" cy="1920240"/>
          </a:xfrm>
          <a:prstGeom prst="rect">
            <a:avLst/>
          </a:prstGeom>
          <a:noFill/>
          <a:ln/>
        </p:spPr>
        <p:txBody>
          <a:bodyPr wrap="square" lIns="0" tIns="0" rIns="0" bIns="0" rtlCol="0" anchor="t"/>
          <a:lstStyle/>
          <a:p>
            <a:pPr algn="ctr" indent="0" marL="0">
              <a:buNone/>
            </a:pPr>
            <a:r>
              <a:rPr lang="en-US" sz="1000" dirty="0">
                <a:solidFill>
                  <a:srgbClr val="2E2224"/>
                </a:solidFill>
                <a:latin typeface="Calibri" pitchFamily="34" charset="0"/>
                <a:ea typeface="Calibri" pitchFamily="34" charset="-122"/>
                <a:cs typeface="Calibri" pitchFamily="34" charset="-120"/>
              </a:rPr>
              <a:t>Mamá, ex empleada corporativa</a:t>
            </a:r>
            <a:endParaRPr lang="en-US" sz="1000" dirty="0"/>
          </a:p>
        </p:txBody>
      </p:sp>
      <p:sp>
        <p:nvSpPr>
          <p:cNvPr id="32" name="Shape 29"/>
          <p:cNvSpPr/>
          <p:nvPr/>
        </p:nvSpPr>
        <p:spPr>
          <a:xfrm>
            <a:off x="6400800" y="3977640"/>
            <a:ext cx="1097280" cy="685800"/>
          </a:xfrm>
          <a:prstGeom prst="roundRect">
            <a:avLst>
              <a:gd name="adj" fmla="val 13333"/>
            </a:avLst>
          </a:prstGeom>
          <a:solidFill>
            <a:srgbClr val="2E2224"/>
          </a:solidFill>
          <a:ln w="12700">
            <a:solidFill>
              <a:srgbClr val="2E2224"/>
            </a:solidFill>
            <a:prstDash val="solid"/>
          </a:ln>
        </p:spPr>
      </p:sp>
      <p:sp>
        <p:nvSpPr>
          <p:cNvPr id="33" name="Text 30"/>
          <p:cNvSpPr txBox="1"/>
          <p:nvPr/>
        </p:nvSpPr>
        <p:spPr>
          <a:xfrm>
            <a:off x="6455664" y="3977640"/>
            <a:ext cx="987552"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$13K en su 4.º mes</a:t>
            </a:r>
            <a:endParaRPr lang="en-US" sz="1000" dirty="0"/>
          </a:p>
        </p:txBody>
      </p:sp>
      <p:sp>
        <p:nvSpPr>
          <p:cNvPr id="34" name="Shape 31"/>
          <p:cNvSpPr/>
          <p:nvPr/>
        </p:nvSpPr>
        <p:spPr>
          <a:xfrm>
            <a:off x="7589520" y="1143000"/>
            <a:ext cx="1097280" cy="2743200"/>
          </a:xfrm>
          <a:prstGeom prst="roundRect">
            <a:avLst>
              <a:gd name="adj" fmla="val 12500"/>
            </a:avLst>
          </a:prstGeom>
          <a:solidFill>
            <a:srgbClr val="8B9AB7"/>
          </a:solidFill>
          <a:ln w="12700">
            <a:solidFill>
              <a:srgbClr val="8B9AB7"/>
            </a:solidFill>
            <a:prstDash val="solid"/>
          </a:ln>
        </p:spPr>
      </p:sp>
      <p:sp>
        <p:nvSpPr>
          <p:cNvPr id="35" name="Text 32"/>
          <p:cNvSpPr txBox="1"/>
          <p:nvPr/>
        </p:nvSpPr>
        <p:spPr>
          <a:xfrm>
            <a:off x="7662672" y="1280160"/>
            <a:ext cx="950976" cy="548640"/>
          </a:xfrm>
          <a:prstGeom prst="rect">
            <a:avLst/>
          </a:prstGeom>
          <a:noFill/>
          <a:ln/>
        </p:spPr>
        <p:txBody>
          <a:bodyPr wrap="square" lIns="0" tIns="0" rIns="0" bIns="0" rtlCol="0" anchor="t"/>
          <a:lstStyle/>
          <a:p>
            <a:pPr algn="ctr" indent="0" marL="0">
              <a:buNone/>
            </a:pPr>
            <a:r>
              <a:rPr lang="en-US" sz="1100" b="1" dirty="0">
                <a:solidFill>
                  <a:srgbClr val="2E2224"/>
                </a:solidFill>
                <a:latin typeface="Arial" pitchFamily="34" charset="0"/>
                <a:ea typeface="Arial" pitchFamily="34" charset="-122"/>
                <a:cs typeface="Arial" pitchFamily="34" charset="-120"/>
              </a:rPr>
              <a:t>ANNA FELZ</a:t>
            </a:r>
            <a:endParaRPr lang="en-US" sz="1100" dirty="0"/>
          </a:p>
        </p:txBody>
      </p:sp>
      <p:sp>
        <p:nvSpPr>
          <p:cNvPr id="36" name="Text 33"/>
          <p:cNvSpPr txBox="1"/>
          <p:nvPr/>
        </p:nvSpPr>
        <p:spPr>
          <a:xfrm>
            <a:off x="7662672" y="1874520"/>
            <a:ext cx="950976" cy="1920240"/>
          </a:xfrm>
          <a:prstGeom prst="rect">
            <a:avLst/>
          </a:prstGeom>
          <a:noFill/>
          <a:ln/>
        </p:spPr>
        <p:txBody>
          <a:bodyPr wrap="square" lIns="0" tIns="0" rIns="0" bIns="0" rtlCol="0" anchor="t"/>
          <a:lstStyle/>
          <a:p>
            <a:pPr algn="ctr" indent="0" marL="0">
              <a:buNone/>
            </a:pPr>
            <a:r>
              <a:rPr lang="en-US" sz="1000" dirty="0">
                <a:solidFill>
                  <a:srgbClr val="2E2224"/>
                </a:solidFill>
                <a:latin typeface="Calibri" pitchFamily="34" charset="0"/>
                <a:ea typeface="Calibri" pitchFamily="34" charset="-122"/>
                <a:cs typeface="Calibri" pitchFamily="34" charset="-120"/>
              </a:rPr>
              <a:t>Ex ejecutiva de marketing corporativo (18+ años)</a:t>
            </a:r>
            <a:endParaRPr lang="en-US" sz="1000" dirty="0"/>
          </a:p>
        </p:txBody>
      </p:sp>
      <p:sp>
        <p:nvSpPr>
          <p:cNvPr id="37" name="Shape 34"/>
          <p:cNvSpPr/>
          <p:nvPr/>
        </p:nvSpPr>
        <p:spPr>
          <a:xfrm>
            <a:off x="7589520" y="3977640"/>
            <a:ext cx="1097280" cy="685800"/>
          </a:xfrm>
          <a:prstGeom prst="roundRect">
            <a:avLst>
              <a:gd name="adj" fmla="val 13333"/>
            </a:avLst>
          </a:prstGeom>
          <a:solidFill>
            <a:srgbClr val="2E2224"/>
          </a:solidFill>
          <a:ln w="12700">
            <a:solidFill>
              <a:srgbClr val="2E2224"/>
            </a:solidFill>
            <a:prstDash val="solid"/>
          </a:ln>
        </p:spPr>
      </p:sp>
      <p:sp>
        <p:nvSpPr>
          <p:cNvPr id="38" name="Text 35"/>
          <p:cNvSpPr txBox="1"/>
          <p:nvPr/>
        </p:nvSpPr>
        <p:spPr>
          <a:xfrm>
            <a:off x="7644384" y="3977640"/>
            <a:ext cx="987552" cy="6858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$40K al mes</a:t>
            </a:r>
            <a:endParaRPr lang="en-US" sz="10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Nuestro objetivo…</a:t>
            </a:r>
            <a:endParaRPr lang="en-US" sz="2600" dirty="0"/>
          </a:p>
        </p:txBody>
      </p:sp>
      <p:sp>
        <p:nvSpPr>
          <p:cNvPr id="4" name="Shape 1"/>
          <p:cNvSpPr/>
          <p:nvPr/>
        </p:nvSpPr>
        <p:spPr>
          <a:xfrm>
            <a:off x="457200" y="1280160"/>
            <a:ext cx="3977640" cy="3108960"/>
          </a:xfrm>
          <a:prstGeom prst="roundRect">
            <a:avLst>
              <a:gd name="adj" fmla="val 3529"/>
            </a:avLst>
          </a:prstGeom>
          <a:solidFill>
            <a:srgbClr val="EE7A7A"/>
          </a:solidFill>
          <a:ln w="12700">
            <a:solidFill>
              <a:srgbClr val="EE7A7A"/>
            </a:solidFill>
            <a:prstDash val="solid"/>
          </a:ln>
        </p:spPr>
      </p:sp>
      <p:sp>
        <p:nvSpPr>
          <p:cNvPr id="5" name="Text 2"/>
          <p:cNvSpPr txBox="1"/>
          <p:nvPr/>
        </p:nvSpPr>
        <p:spPr>
          <a:xfrm>
            <a:off x="640080" y="1444752"/>
            <a:ext cx="3611880" cy="457200"/>
          </a:xfrm>
          <a:prstGeom prst="rect">
            <a:avLst/>
          </a:prstGeom>
          <a:noFill/>
          <a:ln/>
        </p:spPr>
        <p:txBody>
          <a:bodyPr wrap="square" lIns="0" tIns="0" rIns="0" bIns="0" rtlCol="0" anchor="t"/>
          <a:lstStyle/>
          <a:p>
            <a:pPr algn="l" indent="0" marL="0">
              <a:buNone/>
            </a:pPr>
            <a:r>
              <a:rPr lang="en-US" sz="2000" b="1" dirty="0">
                <a:solidFill>
                  <a:srgbClr val="FFFFFF"/>
                </a:solidFill>
                <a:latin typeface="Arial" pitchFamily="34" charset="0"/>
                <a:ea typeface="Arial" pitchFamily="34" charset="-122"/>
                <a:cs typeface="Arial" pitchFamily="34" charset="-120"/>
              </a:rPr>
              <a:t>Mostrarte lo que es posible</a:t>
            </a:r>
            <a:endParaRPr lang="en-US" sz="2000" dirty="0"/>
          </a:p>
        </p:txBody>
      </p:sp>
      <p:sp>
        <p:nvSpPr>
          <p:cNvPr id="6" name="Text 3"/>
          <p:cNvSpPr txBox="1"/>
          <p:nvPr/>
        </p:nvSpPr>
        <p:spPr>
          <a:xfrm>
            <a:off x="640080" y="2194560"/>
            <a:ext cx="3611880" cy="2057400"/>
          </a:xfrm>
          <a:prstGeom prst="rect">
            <a:avLst/>
          </a:prstGeom>
          <a:noFill/>
          <a:ln/>
        </p:spPr>
        <p:txBody>
          <a:bodyPr wrap="square" lIns="0" tIns="0" rIns="0" bIns="0" rtlCol="0" anchor="t"/>
          <a:lstStyle/>
          <a:p>
            <a:pPr algn="l" indent="0" marL="0">
              <a:buNone/>
            </a:pPr>
            <a:r>
              <a:rPr lang="en-US" sz="1500" dirty="0">
                <a:solidFill>
                  <a:srgbClr val="FFFFFF"/>
                </a:solidFill>
                <a:latin typeface="Calibri" pitchFamily="34" charset="0"/>
                <a:ea typeface="Calibri" pitchFamily="34" charset="-122"/>
                <a:cs typeface="Calibri" pitchFamily="34" charset="-120"/>
              </a:rPr>
              <a:t>Personas de orígenes muy distintos están ganando en este negocio. Queremos que des el siguiente pequeño paso con un plan claro.</a:t>
            </a:r>
            <a:endParaRPr lang="en-US" sz="1500" dirty="0"/>
          </a:p>
        </p:txBody>
      </p:sp>
      <p:sp>
        <p:nvSpPr>
          <p:cNvPr id="7" name="Shape 4"/>
          <p:cNvSpPr/>
          <p:nvPr/>
        </p:nvSpPr>
        <p:spPr>
          <a:xfrm>
            <a:off x="4709160" y="1280160"/>
            <a:ext cx="3977640" cy="3108960"/>
          </a:xfrm>
          <a:prstGeom prst="roundRect">
            <a:avLst>
              <a:gd name="adj" fmla="val 3529"/>
            </a:avLst>
          </a:prstGeom>
          <a:solidFill>
            <a:srgbClr val="B9D3B1"/>
          </a:solidFill>
          <a:ln w="12700">
            <a:solidFill>
              <a:srgbClr val="B9D3B1"/>
            </a:solidFill>
            <a:prstDash val="solid"/>
          </a:ln>
        </p:spPr>
      </p:sp>
      <p:sp>
        <p:nvSpPr>
          <p:cNvPr id="8" name="Text 5"/>
          <p:cNvSpPr txBox="1"/>
          <p:nvPr/>
        </p:nvSpPr>
        <p:spPr>
          <a:xfrm>
            <a:off x="4892040" y="1444752"/>
            <a:ext cx="3611880" cy="457200"/>
          </a:xfrm>
          <a:prstGeom prst="rect">
            <a:avLst/>
          </a:prstGeom>
          <a:noFill/>
          <a:ln/>
        </p:spPr>
        <p:txBody>
          <a:bodyPr wrap="square" lIns="0" tIns="0" rIns="0" bIns="0" rtlCol="0" anchor="t"/>
          <a:lstStyle/>
          <a:p>
            <a:pPr algn="l" indent="0" marL="0">
              <a:buNone/>
            </a:pPr>
            <a:r>
              <a:rPr lang="en-US" sz="2000" b="1" dirty="0">
                <a:solidFill>
                  <a:srgbClr val="2E2224"/>
                </a:solidFill>
                <a:latin typeface="Arial" pitchFamily="34" charset="0"/>
                <a:ea typeface="Arial" pitchFamily="34" charset="-122"/>
                <a:cs typeface="Arial" pitchFamily="34" charset="-120"/>
              </a:rPr>
              <a:t>Ayudar a otros a recuperar su salud</a:t>
            </a:r>
            <a:endParaRPr lang="en-US" sz="2000" dirty="0"/>
          </a:p>
        </p:txBody>
      </p:sp>
      <p:sp>
        <p:nvSpPr>
          <p:cNvPr id="9" name="Text 6"/>
          <p:cNvSpPr txBox="1"/>
          <p:nvPr/>
        </p:nvSpPr>
        <p:spPr>
          <a:xfrm>
            <a:off x="4892040" y="2194560"/>
            <a:ext cx="3611880" cy="2057400"/>
          </a:xfrm>
          <a:prstGeom prst="rect">
            <a:avLst/>
          </a:prstGeom>
          <a:noFill/>
          <a:ln/>
        </p:spPr>
        <p:txBody>
          <a:bodyPr wrap="square" lIns="0" tIns="0" rIns="0" bIns="0" rtlCol="0" anchor="t"/>
          <a:lstStyle/>
          <a:p>
            <a:pPr algn="l" indent="0" marL="0">
              <a:buNone/>
            </a:pPr>
            <a:r>
              <a:rPr lang="en-US" sz="1500" dirty="0">
                <a:solidFill>
                  <a:srgbClr val="2E2224"/>
                </a:solidFill>
                <a:latin typeface="Calibri" pitchFamily="34" charset="0"/>
                <a:ea typeface="Calibri" pitchFamily="34" charset="-122"/>
                <a:cs typeface="Calibri" pitchFamily="34" charset="-120"/>
              </a:rPr>
              <a:t>Crear ingresos reales con tu pasión por el bienestar y, por el camino, mejorar la salud de las personas a las que llegas.</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Quédate hasta el final: dos regalos</a:t>
            </a:r>
            <a:endParaRPr lang="en-US" sz="2600" dirty="0"/>
          </a:p>
        </p:txBody>
      </p:sp>
      <p:sp>
        <p:nvSpPr>
          <p:cNvPr id="4" name="Shape 1"/>
          <p:cNvSpPr/>
          <p:nvPr/>
        </p:nvSpPr>
        <p:spPr>
          <a:xfrm>
            <a:off x="457200" y="1188720"/>
            <a:ext cx="3291840" cy="3383280"/>
          </a:xfrm>
          <a:prstGeom prst="roundRect">
            <a:avLst>
              <a:gd name="adj" fmla="val 4167"/>
            </a:avLst>
          </a:prstGeom>
          <a:solidFill>
            <a:srgbClr val="2E2224"/>
          </a:solidFill>
          <a:ln w="12700">
            <a:solidFill>
              <a:srgbClr val="2E2224"/>
            </a:solidFill>
            <a:prstDash val="solid"/>
          </a:ln>
        </p:spPr>
      </p:sp>
      <p:sp>
        <p:nvSpPr>
          <p:cNvPr id="5" name="Shape 2"/>
          <p:cNvSpPr/>
          <p:nvPr/>
        </p:nvSpPr>
        <p:spPr>
          <a:xfrm>
            <a:off x="685800" y="1417320"/>
            <a:ext cx="548640" cy="548640"/>
          </a:xfrm>
          <a:prstGeom prst="ellipse">
            <a:avLst/>
          </a:prstGeom>
          <a:solidFill>
            <a:srgbClr val="EE7A7A"/>
          </a:solidFill>
          <a:ln w="12700">
            <a:solidFill>
              <a:srgbClr val="EE7A7A"/>
            </a:solidFill>
            <a:prstDash val="solid"/>
          </a:ln>
        </p:spPr>
      </p:sp>
      <p:sp>
        <p:nvSpPr>
          <p:cNvPr id="6" name="Text 3"/>
          <p:cNvSpPr txBox="1"/>
          <p:nvPr/>
        </p:nvSpPr>
        <p:spPr>
          <a:xfrm>
            <a:off x="685800" y="141732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1</a:t>
            </a:r>
            <a:endParaRPr lang="en-US" sz="1320" dirty="0"/>
          </a:p>
        </p:txBody>
      </p:sp>
      <p:sp>
        <p:nvSpPr>
          <p:cNvPr id="7" name="Text 4"/>
          <p:cNvSpPr txBox="1"/>
          <p:nvPr/>
        </p:nvSpPr>
        <p:spPr>
          <a:xfrm>
            <a:off x="685800" y="2148840"/>
            <a:ext cx="2834640" cy="822960"/>
          </a:xfrm>
          <a:prstGeom prst="rect">
            <a:avLst/>
          </a:prstGeom>
          <a:noFill/>
          <a:ln/>
        </p:spPr>
        <p:txBody>
          <a:bodyPr wrap="square" lIns="0" tIns="0" rIns="0" bIns="0" rtlCol="0" anchor="t"/>
          <a:lstStyle/>
          <a:p>
            <a:pPr indent="0" marL="0">
              <a:buNone/>
            </a:pPr>
            <a:r>
              <a:rPr lang="en-US" sz="2000" b="1" dirty="0">
                <a:solidFill>
                  <a:srgbClr val="B9D3B1"/>
                </a:solidFill>
                <a:latin typeface="Arial" pitchFamily="34" charset="0"/>
                <a:ea typeface="Arial" pitchFamily="34" charset="-122"/>
                <a:cs typeface="Arial" pitchFamily="34" charset="-120"/>
              </a:rPr>
              <a:t>Paquete Wellness Partnership</a:t>
            </a:r>
            <a:endParaRPr lang="en-US" sz="2000" dirty="0"/>
          </a:p>
        </p:txBody>
      </p:sp>
      <p:sp>
        <p:nvSpPr>
          <p:cNvPr id="8" name="Text 5"/>
          <p:cNvSpPr txBox="1"/>
          <p:nvPr/>
        </p:nvSpPr>
        <p:spPr>
          <a:xfrm>
            <a:off x="685800" y="3063240"/>
            <a:ext cx="2834640" cy="73152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Incluye una llamada de claridad uno a uno.</a:t>
            </a:r>
            <a:endParaRPr lang="en-US" sz="1500" dirty="0"/>
          </a:p>
        </p:txBody>
      </p:sp>
      <p:sp>
        <p:nvSpPr>
          <p:cNvPr id="9" name="Shape 6"/>
          <p:cNvSpPr/>
          <p:nvPr/>
        </p:nvSpPr>
        <p:spPr>
          <a:xfrm>
            <a:off x="4023360" y="1188720"/>
            <a:ext cx="4663440" cy="3383280"/>
          </a:xfrm>
          <a:prstGeom prst="roundRect">
            <a:avLst>
              <a:gd name="adj" fmla="val 4054"/>
            </a:avLst>
          </a:prstGeom>
          <a:solidFill>
            <a:srgbClr val="FBEAEA"/>
          </a:solidFill>
          <a:ln w="12700">
            <a:solidFill>
              <a:srgbClr val="FBEAEA"/>
            </a:solidFill>
            <a:prstDash val="solid"/>
          </a:ln>
        </p:spPr>
      </p:sp>
      <p:sp>
        <p:nvSpPr>
          <p:cNvPr id="10" name="Shape 7"/>
          <p:cNvSpPr/>
          <p:nvPr/>
        </p:nvSpPr>
        <p:spPr>
          <a:xfrm>
            <a:off x="4251960" y="1417320"/>
            <a:ext cx="548640" cy="548640"/>
          </a:xfrm>
          <a:prstGeom prst="ellipse">
            <a:avLst/>
          </a:prstGeom>
          <a:solidFill>
            <a:srgbClr val="EE7A7A"/>
          </a:solidFill>
          <a:ln w="12700">
            <a:solidFill>
              <a:srgbClr val="EE7A7A"/>
            </a:solidFill>
            <a:prstDash val="solid"/>
          </a:ln>
        </p:spPr>
      </p:sp>
      <p:sp>
        <p:nvSpPr>
          <p:cNvPr id="11" name="Text 8"/>
          <p:cNvSpPr txBox="1"/>
          <p:nvPr/>
        </p:nvSpPr>
        <p:spPr>
          <a:xfrm>
            <a:off x="4251960" y="141732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2</a:t>
            </a:r>
            <a:endParaRPr lang="en-US" sz="1320" dirty="0"/>
          </a:p>
        </p:txBody>
      </p:sp>
      <p:sp>
        <p:nvSpPr>
          <p:cNvPr id="12" name="Text 9"/>
          <p:cNvSpPr txBox="1"/>
          <p:nvPr/>
        </p:nvSpPr>
        <p:spPr>
          <a:xfrm>
            <a:off x="4937760" y="1463040"/>
            <a:ext cx="2377440" cy="457200"/>
          </a:xfrm>
          <a:prstGeom prst="rect">
            <a:avLst/>
          </a:prstGeom>
          <a:noFill/>
          <a:ln/>
        </p:spPr>
        <p:txBody>
          <a:bodyPr wrap="square" lIns="0" tIns="0" rIns="0" bIns="0" rtlCol="0" anchor="ctr"/>
          <a:lstStyle/>
          <a:p>
            <a:pPr indent="0" marL="0">
              <a:buNone/>
            </a:pPr>
            <a:r>
              <a:rPr lang="en-US" sz="1800" b="1" dirty="0">
                <a:solidFill>
                  <a:srgbClr val="2E2224"/>
                </a:solidFill>
                <a:latin typeface="Arial" pitchFamily="34" charset="0"/>
                <a:ea typeface="Arial" pitchFamily="34" charset="-122"/>
                <a:cs typeface="Arial" pitchFamily="34" charset="-120"/>
              </a:rPr>
              <a:t>Mentoría de 4 semanas</a:t>
            </a:r>
            <a:endParaRPr lang="en-US" sz="1800" dirty="0"/>
          </a:p>
        </p:txBody>
      </p:sp>
      <p:sp>
        <p:nvSpPr>
          <p:cNvPr id="13" name="Shape 10"/>
          <p:cNvSpPr/>
          <p:nvPr/>
        </p:nvSpPr>
        <p:spPr>
          <a:xfrm>
            <a:off x="7406640" y="1371600"/>
            <a:ext cx="1097280" cy="640080"/>
          </a:xfrm>
          <a:prstGeom prst="roundRect">
            <a:avLst>
              <a:gd name="adj" fmla="val 11429"/>
            </a:avLst>
          </a:prstGeom>
          <a:solidFill>
            <a:srgbClr val="8B9AB7"/>
          </a:solidFill>
          <a:ln w="12700">
            <a:solidFill>
              <a:srgbClr val="8B9AB7"/>
            </a:solidFill>
            <a:prstDash val="solid"/>
          </a:ln>
        </p:spPr>
      </p:sp>
      <p:sp>
        <p:nvSpPr>
          <p:cNvPr id="14" name="Text 11"/>
          <p:cNvSpPr txBox="1"/>
          <p:nvPr/>
        </p:nvSpPr>
        <p:spPr>
          <a:xfrm>
            <a:off x="7406640" y="1371600"/>
            <a:ext cx="109728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$8K</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valor</a:t>
            </a:r>
            <a:endParaRPr lang="en-US" sz="1300" dirty="0"/>
          </a:p>
        </p:txBody>
      </p:sp>
      <p:sp>
        <p:nvSpPr>
          <p:cNvPr id="15" name="Text 12"/>
          <p:cNvSpPr txBox="1"/>
          <p:nvPr/>
        </p:nvSpPr>
        <p:spPr>
          <a:xfrm>
            <a:off x="4251960" y="2103120"/>
            <a:ext cx="4206240" cy="365760"/>
          </a:xfrm>
          <a:prstGeom prst="rect">
            <a:avLst/>
          </a:prstGeom>
          <a:noFill/>
          <a:ln/>
        </p:spPr>
        <p:txBody>
          <a:bodyPr wrap="square" lIns="0" tIns="0" rIns="0" bIns="0" rtlCol="0" anchor="t"/>
          <a:lstStyle/>
          <a:p>
            <a:pPr indent="0" marL="0">
              <a:buNone/>
            </a:pPr>
            <a:r>
              <a:rPr lang="en-US" sz="1200" i="1" dirty="0">
                <a:solidFill>
                  <a:srgbClr val="6B5F61"/>
                </a:solidFill>
                <a:latin typeface="Calibri" pitchFamily="34" charset="0"/>
                <a:ea typeface="Calibri" pitchFamily="34" charset="-122"/>
                <a:cs typeface="Calibri" pitchFamily="34" charset="-120"/>
              </a:rPr>
              <a:t>Con personas que ganan 6 y 7 cifras en nuestra comunidad</a:t>
            </a:r>
            <a:endParaRPr lang="en-US" sz="1200" dirty="0"/>
          </a:p>
        </p:txBody>
      </p:sp>
      <p:sp>
        <p:nvSpPr>
          <p:cNvPr id="16" name="Text 13"/>
          <p:cNvSpPr txBox="1"/>
          <p:nvPr/>
        </p:nvSpPr>
        <p:spPr>
          <a:xfrm>
            <a:off x="4251960" y="2560320"/>
            <a:ext cx="4206240" cy="1920240"/>
          </a:xfrm>
          <a:prstGeom prst="rect">
            <a:avLst/>
          </a:prstGeom>
          <a:noFill/>
          <a:ln/>
        </p:spPr>
        <p:txBody>
          <a:bodyPr wrap="square" lIns="0" tIns="0" rIns="0" bIns="0" rtlCol="0" anchor="t"/>
          <a:lstStyle/>
          <a:p>
            <a:pPr indent="0" marL="0">
              <a:spcAft>
                <a:spcPts val="500"/>
              </a:spcAft>
              <a:buNone/>
            </a:pPr>
            <a:r>
              <a:rPr lang="en-US" sz="1300" b="1" dirty="0">
                <a:solidFill>
                  <a:srgbClr val="2E2224"/>
                </a:solidFill>
                <a:latin typeface="Calibri" pitchFamily="34" charset="0"/>
                <a:ea typeface="Calibri" pitchFamily="34" charset="-122"/>
                <a:cs typeface="Calibri" pitchFamily="34" charset="-120"/>
              </a:rPr>
              <a:t>Semana 1: </a:t>
            </a:r>
            <a:pPr indent="0" marL="0">
              <a:buNone/>
            </a:pPr>
            <a:r>
              <a:rPr lang="en-US" sz="1300" dirty="0">
                <a:solidFill>
                  <a:srgbClr val="2E2224"/>
                </a:solidFill>
                <a:latin typeface="Calibri" pitchFamily="34" charset="0"/>
                <a:ea typeface="Calibri" pitchFamily="34" charset="-122"/>
                <a:cs typeface="Calibri" pitchFamily="34" charset="-120"/>
              </a:rPr>
              <a:t>bases + visión</a:t>
            </a:r>
            <a:endParaRPr lang="en-US" sz="1300" dirty="0"/>
          </a:p>
          <a:p>
            <a:pPr indent="0" marL="0">
              <a:spcAft>
                <a:spcPts val="500"/>
              </a:spcAft>
              <a:buNone/>
            </a:pPr>
            <a:r>
              <a:rPr lang="en-US" sz="1300" b="1" dirty="0">
                <a:solidFill>
                  <a:srgbClr val="2E2224"/>
                </a:solidFill>
                <a:latin typeface="Calibri" pitchFamily="34" charset="0"/>
                <a:ea typeface="Calibri" pitchFamily="34" charset="-122"/>
                <a:cs typeface="Calibri" pitchFamily="34" charset="-120"/>
              </a:rPr>
              <a:t>Semana 2: </a:t>
            </a:r>
            <a:pPr indent="0" marL="0">
              <a:buNone/>
            </a:pPr>
            <a:r>
              <a:rPr lang="en-US" sz="1300" dirty="0">
                <a:solidFill>
                  <a:srgbClr val="2E2224"/>
                </a:solidFill>
                <a:latin typeface="Calibri" pitchFamily="34" charset="0"/>
                <a:ea typeface="Calibri" pitchFamily="34" charset="-122"/>
                <a:cs typeface="Calibri" pitchFamily="34" charset="-120"/>
              </a:rPr>
              <a:t>plan de marketing orgánico en redes + primeros leads con anuncios de DM</a:t>
            </a:r>
            <a:endParaRPr lang="en-US" sz="1300" dirty="0"/>
          </a:p>
          <a:p>
            <a:pPr indent="0" marL="0">
              <a:spcAft>
                <a:spcPts val="500"/>
              </a:spcAft>
              <a:buNone/>
            </a:pPr>
            <a:r>
              <a:rPr lang="en-US" sz="1300" b="1" dirty="0">
                <a:solidFill>
                  <a:srgbClr val="2E2224"/>
                </a:solidFill>
                <a:latin typeface="Calibri" pitchFamily="34" charset="0"/>
                <a:ea typeface="Calibri" pitchFamily="34" charset="-122"/>
                <a:cs typeface="Calibri" pitchFamily="34" charset="-120"/>
              </a:rPr>
              <a:t>Semana 3: </a:t>
            </a:r>
            <a:pPr indent="0" marL="0">
              <a:buNone/>
            </a:pPr>
            <a:r>
              <a:rPr lang="en-US" sz="1300" dirty="0">
                <a:solidFill>
                  <a:srgbClr val="2E2224"/>
                </a:solidFill>
                <a:latin typeface="Calibri" pitchFamily="34" charset="0"/>
                <a:ea typeface="Calibri" pitchFamily="34" charset="-122"/>
                <a:cs typeface="Calibri" pitchFamily="34" charset="-120"/>
              </a:rPr>
              <a:t>cómo vender offline</a:t>
            </a:r>
            <a:endParaRPr lang="en-US" sz="1300" dirty="0"/>
          </a:p>
          <a:p>
            <a:pPr indent="0" marL="0">
              <a:spcAft>
                <a:spcPts val="500"/>
              </a:spcAft>
              <a:buNone/>
            </a:pPr>
            <a:r>
              <a:rPr lang="en-US" sz="1300" b="1" dirty="0">
                <a:solidFill>
                  <a:srgbClr val="2E2224"/>
                </a:solidFill>
                <a:latin typeface="Calibri" pitchFamily="34" charset="0"/>
                <a:ea typeface="Calibri" pitchFamily="34" charset="-122"/>
                <a:cs typeface="Calibri" pitchFamily="34" charset="-120"/>
              </a:rPr>
              <a:t>Semana 4: </a:t>
            </a:r>
            <a:pPr indent="0" marL="0">
              <a:buNone/>
            </a:pPr>
            <a:r>
              <a:rPr lang="en-US" sz="1300" dirty="0">
                <a:solidFill>
                  <a:srgbClr val="2E2224"/>
                </a:solidFill>
                <a:latin typeface="Calibri" pitchFamily="34" charset="0"/>
                <a:ea typeface="Calibri" pitchFamily="34" charset="-122"/>
                <a:cs typeface="Calibri" pitchFamily="34" charset="-120"/>
              </a:rPr>
              <a:t>mentalidad + ingreso de legado</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640080" y="1188720"/>
            <a:ext cx="7863840" cy="2011680"/>
          </a:xfrm>
          <a:prstGeom prst="rect">
            <a:avLst/>
          </a:prstGeom>
          <a:noFill/>
          <a:ln/>
        </p:spPr>
        <p:txBody>
          <a:bodyPr wrap="square" lIns="0" tIns="0" rIns="0" bIns="0" rtlCol="0" anchor="ctr"/>
          <a:lstStyle/>
          <a:p>
            <a:pPr algn="ctr" indent="0" marL="0">
              <a:buNone/>
            </a:pPr>
            <a:r>
              <a:rPr lang="en-US" sz="4000" b="1" dirty="0">
                <a:solidFill>
                  <a:srgbClr val="EE7A7A"/>
                </a:solidFill>
                <a:latin typeface="Arial" pitchFamily="34" charset="0"/>
                <a:ea typeface="Arial" pitchFamily="34" charset="-122"/>
                <a:cs typeface="Arial" pitchFamily="34" charset="-120"/>
              </a:rPr>
              <a:t>IMAGINA…</a:t>
            </a:r>
            <a:endParaRPr lang="en-US" sz="4000" dirty="0"/>
          </a:p>
        </p:txBody>
      </p:sp>
      <p:sp>
        <p:nvSpPr>
          <p:cNvPr id="4" name="Text 1"/>
          <p:cNvSpPr txBox="1"/>
          <p:nvPr/>
        </p:nvSpPr>
        <p:spPr>
          <a:xfrm>
            <a:off x="1097280" y="3291840"/>
            <a:ext cx="6949440" cy="914400"/>
          </a:xfrm>
          <a:prstGeom prst="rect">
            <a:avLst/>
          </a:prstGeom>
          <a:noFill/>
          <a:ln/>
        </p:spPr>
        <p:txBody>
          <a:bodyPr wrap="square" lIns="0" tIns="0" rIns="0" bIns="0" rtlCol="0" anchor="t"/>
          <a:lstStyle/>
          <a:p>
            <a:pPr algn="ctr" indent="0" marL="0">
              <a:buNone/>
            </a:pPr>
            <a:r>
              <a:rPr lang="en-US" sz="1800" dirty="0">
                <a:solidFill>
                  <a:srgbClr val="FFFFFF"/>
                </a:solidFill>
                <a:latin typeface="Calibri" pitchFamily="34" charset="0"/>
                <a:ea typeface="Calibri" pitchFamily="34" charset="-122"/>
                <a:cs typeface="Calibri" pitchFamily="34" charset="-120"/>
              </a:rPr>
              <a:t>Una vida diseñada a tu medida, empezando hoy con un plan claro.</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Lo que la gente cree que crea riqueza</a:t>
            </a:r>
            <a:endParaRPr lang="en-US" sz="2600" dirty="0"/>
          </a:p>
        </p:txBody>
      </p:sp>
      <p:sp>
        <p:nvSpPr>
          <p:cNvPr id="4" name="Shape 1"/>
          <p:cNvSpPr/>
          <p:nvPr/>
        </p:nvSpPr>
        <p:spPr>
          <a:xfrm>
            <a:off x="457200" y="1143000"/>
            <a:ext cx="8229600" cy="548640"/>
          </a:xfrm>
          <a:prstGeom prst="roundRect">
            <a:avLst>
              <a:gd name="adj" fmla="val 13333"/>
            </a:avLst>
          </a:prstGeom>
          <a:solidFill>
            <a:srgbClr val="FBEAEA"/>
          </a:solidFill>
          <a:ln w="12700">
            <a:solidFill>
              <a:srgbClr val="FBEAEA"/>
            </a:solidFill>
            <a:prstDash val="solid"/>
          </a:ln>
        </p:spPr>
      </p:sp>
      <p:sp>
        <p:nvSpPr>
          <p:cNvPr id="5" name="Text 2"/>
          <p:cNvSpPr txBox="1"/>
          <p:nvPr/>
        </p:nvSpPr>
        <p:spPr>
          <a:xfrm>
            <a:off x="594360" y="1143000"/>
            <a:ext cx="365760" cy="548640"/>
          </a:xfrm>
          <a:prstGeom prst="rect">
            <a:avLst/>
          </a:prstGeom>
          <a:noFill/>
          <a:ln/>
        </p:spPr>
        <p:txBody>
          <a:bodyPr wrap="square" lIns="0" tIns="0" rIns="0" bIns="0" rtlCol="0" anchor="ctr"/>
          <a:lstStyle/>
          <a:p>
            <a:pPr indent="0" marL="0">
              <a:buNone/>
            </a:pPr>
            <a:r>
              <a:rPr lang="en-US" sz="1800" b="1" dirty="0">
                <a:solidFill>
                  <a:srgbClr val="EE7A7A"/>
                </a:solidFill>
                <a:latin typeface="Calibri" pitchFamily="34" charset="0"/>
                <a:ea typeface="Calibri" pitchFamily="34" charset="-122"/>
                <a:cs typeface="Calibri" pitchFamily="34" charset="-120"/>
              </a:rPr>
              <a:t>✕</a:t>
            </a:r>
            <a:endParaRPr lang="en-US" sz="1800" dirty="0"/>
          </a:p>
        </p:txBody>
      </p:sp>
      <p:sp>
        <p:nvSpPr>
          <p:cNvPr id="6" name="Text 3"/>
          <p:cNvSpPr txBox="1"/>
          <p:nvPr/>
        </p:nvSpPr>
        <p:spPr>
          <a:xfrm>
            <a:off x="1005840" y="1143000"/>
            <a:ext cx="7498080" cy="54864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Trabajar en un empleo «estable» de 9 a 5 hasta los 65</a:t>
            </a:r>
            <a:endParaRPr lang="en-US" sz="1500" dirty="0"/>
          </a:p>
        </p:txBody>
      </p:sp>
      <p:sp>
        <p:nvSpPr>
          <p:cNvPr id="7" name="Shape 4"/>
          <p:cNvSpPr/>
          <p:nvPr/>
        </p:nvSpPr>
        <p:spPr>
          <a:xfrm>
            <a:off x="457200" y="1828800"/>
            <a:ext cx="8229600" cy="548640"/>
          </a:xfrm>
          <a:prstGeom prst="roundRect">
            <a:avLst>
              <a:gd name="adj" fmla="val 13333"/>
            </a:avLst>
          </a:prstGeom>
          <a:solidFill>
            <a:srgbClr val="E8ECF3"/>
          </a:solidFill>
          <a:ln w="12700">
            <a:solidFill>
              <a:srgbClr val="E8ECF3"/>
            </a:solidFill>
            <a:prstDash val="solid"/>
          </a:ln>
        </p:spPr>
      </p:sp>
      <p:sp>
        <p:nvSpPr>
          <p:cNvPr id="8" name="Text 5"/>
          <p:cNvSpPr txBox="1"/>
          <p:nvPr/>
        </p:nvSpPr>
        <p:spPr>
          <a:xfrm>
            <a:off x="594360" y="1828800"/>
            <a:ext cx="365760" cy="548640"/>
          </a:xfrm>
          <a:prstGeom prst="rect">
            <a:avLst/>
          </a:prstGeom>
          <a:noFill/>
          <a:ln/>
        </p:spPr>
        <p:txBody>
          <a:bodyPr wrap="square" lIns="0" tIns="0" rIns="0" bIns="0" rtlCol="0" anchor="ctr"/>
          <a:lstStyle/>
          <a:p>
            <a:pPr indent="0" marL="0">
              <a:buNone/>
            </a:pPr>
            <a:r>
              <a:rPr lang="en-US" sz="1800" b="1" dirty="0">
                <a:solidFill>
                  <a:srgbClr val="EE7A7A"/>
                </a:solidFill>
                <a:latin typeface="Calibri" pitchFamily="34" charset="0"/>
                <a:ea typeface="Calibri" pitchFamily="34" charset="-122"/>
                <a:cs typeface="Calibri" pitchFamily="34" charset="-120"/>
              </a:rPr>
              <a:t>✕</a:t>
            </a:r>
            <a:endParaRPr lang="en-US" sz="1800" dirty="0"/>
          </a:p>
        </p:txBody>
      </p:sp>
      <p:sp>
        <p:nvSpPr>
          <p:cNvPr id="9" name="Text 6"/>
          <p:cNvSpPr txBox="1"/>
          <p:nvPr/>
        </p:nvSpPr>
        <p:spPr>
          <a:xfrm>
            <a:off x="1005840" y="1828800"/>
            <a:ext cx="7498080" cy="54864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Trabajo duro sin descanso, burnout y jornadas largas: la mentalidad del «hustle»</a:t>
            </a:r>
            <a:endParaRPr lang="en-US" sz="1500" dirty="0"/>
          </a:p>
        </p:txBody>
      </p:sp>
      <p:sp>
        <p:nvSpPr>
          <p:cNvPr id="10" name="Shape 7"/>
          <p:cNvSpPr/>
          <p:nvPr/>
        </p:nvSpPr>
        <p:spPr>
          <a:xfrm>
            <a:off x="457200" y="2514600"/>
            <a:ext cx="8229600" cy="548640"/>
          </a:xfrm>
          <a:prstGeom prst="roundRect">
            <a:avLst>
              <a:gd name="adj" fmla="val 13333"/>
            </a:avLst>
          </a:prstGeom>
          <a:solidFill>
            <a:srgbClr val="FBEAEA"/>
          </a:solidFill>
          <a:ln w="12700">
            <a:solidFill>
              <a:srgbClr val="FBEAEA"/>
            </a:solidFill>
            <a:prstDash val="solid"/>
          </a:ln>
        </p:spPr>
      </p:sp>
      <p:sp>
        <p:nvSpPr>
          <p:cNvPr id="11" name="Text 8"/>
          <p:cNvSpPr txBox="1"/>
          <p:nvPr/>
        </p:nvSpPr>
        <p:spPr>
          <a:xfrm>
            <a:off x="594360" y="2514600"/>
            <a:ext cx="365760" cy="548640"/>
          </a:xfrm>
          <a:prstGeom prst="rect">
            <a:avLst/>
          </a:prstGeom>
          <a:noFill/>
          <a:ln/>
        </p:spPr>
        <p:txBody>
          <a:bodyPr wrap="square" lIns="0" tIns="0" rIns="0" bIns="0" rtlCol="0" anchor="ctr"/>
          <a:lstStyle/>
          <a:p>
            <a:pPr indent="0" marL="0">
              <a:buNone/>
            </a:pPr>
            <a:r>
              <a:rPr lang="en-US" sz="1800" b="1" dirty="0">
                <a:solidFill>
                  <a:srgbClr val="EE7A7A"/>
                </a:solidFill>
                <a:latin typeface="Calibri" pitchFamily="34" charset="0"/>
                <a:ea typeface="Calibri" pitchFamily="34" charset="-122"/>
                <a:cs typeface="Calibri" pitchFamily="34" charset="-120"/>
              </a:rPr>
              <a:t>✕</a:t>
            </a:r>
            <a:endParaRPr lang="en-US" sz="1800" dirty="0"/>
          </a:p>
        </p:txBody>
      </p:sp>
      <p:sp>
        <p:nvSpPr>
          <p:cNvPr id="12" name="Text 9"/>
          <p:cNvSpPr txBox="1"/>
          <p:nvPr/>
        </p:nvSpPr>
        <p:spPr>
          <a:xfrm>
            <a:off x="1005840" y="2514600"/>
            <a:ext cx="7498080" cy="54864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Conseguir un puesto en medicina, derecho, finanzas o tecnología</a:t>
            </a:r>
            <a:endParaRPr lang="en-US" sz="1500" dirty="0"/>
          </a:p>
        </p:txBody>
      </p:sp>
      <p:sp>
        <p:nvSpPr>
          <p:cNvPr id="13" name="Shape 10"/>
          <p:cNvSpPr/>
          <p:nvPr/>
        </p:nvSpPr>
        <p:spPr>
          <a:xfrm>
            <a:off x="457200" y="3200400"/>
            <a:ext cx="8229600" cy="548640"/>
          </a:xfrm>
          <a:prstGeom prst="roundRect">
            <a:avLst>
              <a:gd name="adj" fmla="val 13333"/>
            </a:avLst>
          </a:prstGeom>
          <a:solidFill>
            <a:srgbClr val="E8ECF3"/>
          </a:solidFill>
          <a:ln w="12700">
            <a:solidFill>
              <a:srgbClr val="E8ECF3"/>
            </a:solidFill>
            <a:prstDash val="solid"/>
          </a:ln>
        </p:spPr>
      </p:sp>
      <p:sp>
        <p:nvSpPr>
          <p:cNvPr id="14" name="Text 11"/>
          <p:cNvSpPr txBox="1"/>
          <p:nvPr/>
        </p:nvSpPr>
        <p:spPr>
          <a:xfrm>
            <a:off x="594360" y="3200400"/>
            <a:ext cx="365760" cy="548640"/>
          </a:xfrm>
          <a:prstGeom prst="rect">
            <a:avLst/>
          </a:prstGeom>
          <a:noFill/>
          <a:ln/>
        </p:spPr>
        <p:txBody>
          <a:bodyPr wrap="square" lIns="0" tIns="0" rIns="0" bIns="0" rtlCol="0" anchor="ctr"/>
          <a:lstStyle/>
          <a:p>
            <a:pPr indent="0" marL="0">
              <a:buNone/>
            </a:pPr>
            <a:r>
              <a:rPr lang="en-US" sz="1800" b="1" dirty="0">
                <a:solidFill>
                  <a:srgbClr val="EE7A7A"/>
                </a:solidFill>
                <a:latin typeface="Calibri" pitchFamily="34" charset="0"/>
                <a:ea typeface="Calibri" pitchFamily="34" charset="-122"/>
                <a:cs typeface="Calibri" pitchFamily="34" charset="-120"/>
              </a:rPr>
              <a:t>✕</a:t>
            </a:r>
            <a:endParaRPr lang="en-US" sz="1800" dirty="0"/>
          </a:p>
        </p:txBody>
      </p:sp>
      <p:sp>
        <p:nvSpPr>
          <p:cNvPr id="15" name="Text 12"/>
          <p:cNvSpPr txBox="1"/>
          <p:nvPr/>
        </p:nvSpPr>
        <p:spPr>
          <a:xfrm>
            <a:off x="1005840" y="3200400"/>
            <a:ext cx="7498080" cy="54864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Que es cuestión de suerte o de «estar en el sitio adecuado en el momento justo»</a:t>
            </a:r>
            <a:endParaRPr lang="en-US" sz="1500" dirty="0"/>
          </a:p>
        </p:txBody>
      </p:sp>
      <p:sp>
        <p:nvSpPr>
          <p:cNvPr id="16" name="Shape 13"/>
          <p:cNvSpPr/>
          <p:nvPr/>
        </p:nvSpPr>
        <p:spPr>
          <a:xfrm>
            <a:off x="457200" y="3886200"/>
            <a:ext cx="8229600" cy="548640"/>
          </a:xfrm>
          <a:prstGeom prst="roundRect">
            <a:avLst>
              <a:gd name="adj" fmla="val 13333"/>
            </a:avLst>
          </a:prstGeom>
          <a:solidFill>
            <a:srgbClr val="FBEAEA"/>
          </a:solidFill>
          <a:ln w="12700">
            <a:solidFill>
              <a:srgbClr val="FBEAEA"/>
            </a:solidFill>
            <a:prstDash val="solid"/>
          </a:ln>
        </p:spPr>
      </p:sp>
      <p:sp>
        <p:nvSpPr>
          <p:cNvPr id="17" name="Text 14"/>
          <p:cNvSpPr txBox="1"/>
          <p:nvPr/>
        </p:nvSpPr>
        <p:spPr>
          <a:xfrm>
            <a:off x="594360" y="3886200"/>
            <a:ext cx="365760" cy="548640"/>
          </a:xfrm>
          <a:prstGeom prst="rect">
            <a:avLst/>
          </a:prstGeom>
          <a:noFill/>
          <a:ln/>
        </p:spPr>
        <p:txBody>
          <a:bodyPr wrap="square" lIns="0" tIns="0" rIns="0" bIns="0" rtlCol="0" anchor="ctr"/>
          <a:lstStyle/>
          <a:p>
            <a:pPr indent="0" marL="0">
              <a:buNone/>
            </a:pPr>
            <a:r>
              <a:rPr lang="en-US" sz="1800" b="1" dirty="0">
                <a:solidFill>
                  <a:srgbClr val="EE7A7A"/>
                </a:solidFill>
                <a:latin typeface="Calibri" pitchFamily="34" charset="0"/>
                <a:ea typeface="Calibri" pitchFamily="34" charset="-122"/>
                <a:cs typeface="Calibri" pitchFamily="34" charset="-120"/>
              </a:rPr>
              <a:t>✕</a:t>
            </a:r>
            <a:endParaRPr lang="en-US" sz="1800" dirty="0"/>
          </a:p>
        </p:txBody>
      </p:sp>
      <p:sp>
        <p:nvSpPr>
          <p:cNvPr id="18" name="Text 15"/>
          <p:cNvSpPr txBox="1"/>
          <p:nvPr/>
        </p:nvSpPr>
        <p:spPr>
          <a:xfrm>
            <a:off x="1005840" y="3886200"/>
            <a:ext cx="7498080" cy="54864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La riqueza familiar y las herencias</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¿Qué es el «New Rich»?</a:t>
            </a:r>
            <a:endParaRPr lang="en-US" sz="2600" dirty="0"/>
          </a:p>
        </p:txBody>
      </p:sp>
      <p:sp>
        <p:nvSpPr>
          <p:cNvPr id="4" name="Shape 1"/>
          <p:cNvSpPr/>
          <p:nvPr/>
        </p:nvSpPr>
        <p:spPr>
          <a:xfrm>
            <a:off x="457200" y="1371600"/>
            <a:ext cx="1920240" cy="2194560"/>
          </a:xfrm>
          <a:prstGeom prst="roundRect">
            <a:avLst>
              <a:gd name="adj" fmla="val 7143"/>
            </a:avLst>
          </a:prstGeom>
          <a:solidFill>
            <a:srgbClr val="B9D3B1"/>
          </a:solidFill>
          <a:ln w="12700">
            <a:solidFill>
              <a:srgbClr val="B9D3B1"/>
            </a:solidFill>
            <a:prstDash val="solid"/>
          </a:ln>
        </p:spPr>
      </p:sp>
      <p:sp>
        <p:nvSpPr>
          <p:cNvPr id="5" name="Text 2"/>
          <p:cNvSpPr txBox="1"/>
          <p:nvPr/>
        </p:nvSpPr>
        <p:spPr>
          <a:xfrm>
            <a:off x="640080" y="1508760"/>
            <a:ext cx="914400" cy="7315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1</a:t>
            </a:r>
            <a:endParaRPr lang="en-US" sz="3600" dirty="0"/>
          </a:p>
        </p:txBody>
      </p:sp>
      <p:sp>
        <p:nvSpPr>
          <p:cNvPr id="6" name="Text 3"/>
          <p:cNvSpPr txBox="1"/>
          <p:nvPr/>
        </p:nvSpPr>
        <p:spPr>
          <a:xfrm>
            <a:off x="640080" y="2377440"/>
            <a:ext cx="1554480" cy="1005840"/>
          </a:xfrm>
          <a:prstGeom prst="rect">
            <a:avLst/>
          </a:prstGeom>
          <a:noFill/>
          <a:ln/>
        </p:spPr>
        <p:txBody>
          <a:bodyPr wrap="square" lIns="0" tIns="0" rIns="0" bIns="0" rtlCol="0" anchor="t"/>
          <a:lstStyle/>
          <a:p>
            <a:pPr indent="0" marL="0">
              <a:buNone/>
            </a:pPr>
            <a:r>
              <a:rPr lang="en-US" sz="1700" b="1" dirty="0">
                <a:solidFill>
                  <a:srgbClr val="2E2224"/>
                </a:solidFill>
                <a:latin typeface="Arial" pitchFamily="34" charset="0"/>
                <a:ea typeface="Arial" pitchFamily="34" charset="-122"/>
                <a:cs typeface="Arial" pitchFamily="34" charset="-120"/>
              </a:rPr>
              <a:t>Un cuerpo sano</a:t>
            </a:r>
            <a:endParaRPr lang="en-US" sz="1700" dirty="0"/>
          </a:p>
        </p:txBody>
      </p:sp>
      <p:sp>
        <p:nvSpPr>
          <p:cNvPr id="7" name="Shape 4"/>
          <p:cNvSpPr/>
          <p:nvPr/>
        </p:nvSpPr>
        <p:spPr>
          <a:xfrm>
            <a:off x="2560320" y="1371600"/>
            <a:ext cx="1920240" cy="2194560"/>
          </a:xfrm>
          <a:prstGeom prst="roundRect">
            <a:avLst>
              <a:gd name="adj" fmla="val 7143"/>
            </a:avLst>
          </a:prstGeom>
          <a:solidFill>
            <a:srgbClr val="EE7A7A"/>
          </a:solidFill>
          <a:ln w="12700">
            <a:solidFill>
              <a:srgbClr val="EE7A7A"/>
            </a:solidFill>
            <a:prstDash val="solid"/>
          </a:ln>
        </p:spPr>
      </p:sp>
      <p:sp>
        <p:nvSpPr>
          <p:cNvPr id="8" name="Text 5"/>
          <p:cNvSpPr txBox="1"/>
          <p:nvPr/>
        </p:nvSpPr>
        <p:spPr>
          <a:xfrm>
            <a:off x="2743200" y="1508760"/>
            <a:ext cx="914400" cy="7315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2</a:t>
            </a:r>
            <a:endParaRPr lang="en-US" sz="3600" dirty="0"/>
          </a:p>
        </p:txBody>
      </p:sp>
      <p:sp>
        <p:nvSpPr>
          <p:cNvPr id="9" name="Text 6"/>
          <p:cNvSpPr txBox="1"/>
          <p:nvPr/>
        </p:nvSpPr>
        <p:spPr>
          <a:xfrm>
            <a:off x="2743200" y="2377440"/>
            <a:ext cx="1554480" cy="1005840"/>
          </a:xfrm>
          <a:prstGeom prst="rect">
            <a:avLst/>
          </a:prstGeom>
          <a:noFill/>
          <a:ln/>
        </p:spPr>
        <p:txBody>
          <a:bodyPr wrap="square" lIns="0" tIns="0" rIns="0" bIns="0" rtlCol="0" anchor="t"/>
          <a:lstStyle/>
          <a:p>
            <a:pPr indent="0" marL="0">
              <a:buNone/>
            </a:pPr>
            <a:r>
              <a:rPr lang="en-US" sz="1700" b="1" dirty="0">
                <a:solidFill>
                  <a:srgbClr val="2E2224"/>
                </a:solidFill>
                <a:latin typeface="Arial" pitchFamily="34" charset="0"/>
                <a:ea typeface="Arial" pitchFamily="34" charset="-122"/>
                <a:cs typeface="Arial" pitchFamily="34" charset="-120"/>
              </a:rPr>
              <a:t>Un corazón alegre</a:t>
            </a:r>
            <a:endParaRPr lang="en-US" sz="1700" dirty="0"/>
          </a:p>
        </p:txBody>
      </p:sp>
      <p:sp>
        <p:nvSpPr>
          <p:cNvPr id="10" name="Shape 7"/>
          <p:cNvSpPr/>
          <p:nvPr/>
        </p:nvSpPr>
        <p:spPr>
          <a:xfrm>
            <a:off x="4663440" y="1371600"/>
            <a:ext cx="1920240" cy="2194560"/>
          </a:xfrm>
          <a:prstGeom prst="roundRect">
            <a:avLst>
              <a:gd name="adj" fmla="val 7143"/>
            </a:avLst>
          </a:prstGeom>
          <a:solidFill>
            <a:srgbClr val="F2C14E"/>
          </a:solidFill>
          <a:ln w="12700">
            <a:solidFill>
              <a:srgbClr val="F2C14E"/>
            </a:solidFill>
            <a:prstDash val="solid"/>
          </a:ln>
        </p:spPr>
      </p:sp>
      <p:sp>
        <p:nvSpPr>
          <p:cNvPr id="11" name="Text 8"/>
          <p:cNvSpPr txBox="1"/>
          <p:nvPr/>
        </p:nvSpPr>
        <p:spPr>
          <a:xfrm>
            <a:off x="4846320" y="1508760"/>
            <a:ext cx="914400" cy="7315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3</a:t>
            </a:r>
            <a:endParaRPr lang="en-US" sz="3600" dirty="0"/>
          </a:p>
        </p:txBody>
      </p:sp>
      <p:sp>
        <p:nvSpPr>
          <p:cNvPr id="12" name="Text 9"/>
          <p:cNvSpPr txBox="1"/>
          <p:nvPr/>
        </p:nvSpPr>
        <p:spPr>
          <a:xfrm>
            <a:off x="4846320" y="2377440"/>
            <a:ext cx="1554480" cy="1005840"/>
          </a:xfrm>
          <a:prstGeom prst="rect">
            <a:avLst/>
          </a:prstGeom>
          <a:noFill/>
          <a:ln/>
        </p:spPr>
        <p:txBody>
          <a:bodyPr wrap="square" lIns="0" tIns="0" rIns="0" bIns="0" rtlCol="0" anchor="t"/>
          <a:lstStyle/>
          <a:p>
            <a:pPr indent="0" marL="0">
              <a:buNone/>
            </a:pPr>
            <a:r>
              <a:rPr lang="en-US" sz="1700" b="1" dirty="0">
                <a:solidFill>
                  <a:srgbClr val="2E2224"/>
                </a:solidFill>
                <a:latin typeface="Arial" pitchFamily="34" charset="0"/>
                <a:ea typeface="Arial" pitchFamily="34" charset="-122"/>
                <a:cs typeface="Arial" pitchFamily="34" charset="-120"/>
              </a:rPr>
              <a:t>Una cuenta bancaria abundante</a:t>
            </a:r>
            <a:endParaRPr lang="en-US" sz="1700" dirty="0"/>
          </a:p>
        </p:txBody>
      </p:sp>
      <p:sp>
        <p:nvSpPr>
          <p:cNvPr id="13" name="Shape 10"/>
          <p:cNvSpPr/>
          <p:nvPr/>
        </p:nvSpPr>
        <p:spPr>
          <a:xfrm>
            <a:off x="6766560" y="1371600"/>
            <a:ext cx="1920240" cy="2194560"/>
          </a:xfrm>
          <a:prstGeom prst="roundRect">
            <a:avLst>
              <a:gd name="adj" fmla="val 7143"/>
            </a:avLst>
          </a:prstGeom>
          <a:solidFill>
            <a:srgbClr val="8B9AB7"/>
          </a:solidFill>
          <a:ln w="12700">
            <a:solidFill>
              <a:srgbClr val="8B9AB7"/>
            </a:solidFill>
            <a:prstDash val="solid"/>
          </a:ln>
        </p:spPr>
      </p:sp>
      <p:sp>
        <p:nvSpPr>
          <p:cNvPr id="14" name="Text 11"/>
          <p:cNvSpPr txBox="1"/>
          <p:nvPr/>
        </p:nvSpPr>
        <p:spPr>
          <a:xfrm>
            <a:off x="6949440" y="1508760"/>
            <a:ext cx="914400" cy="731520"/>
          </a:xfrm>
          <a:prstGeom prst="rect">
            <a:avLst/>
          </a:prstGeom>
          <a:noFill/>
          <a:ln/>
        </p:spPr>
        <p:txBody>
          <a:bodyPr wrap="square" lIns="0" tIns="0" rIns="0" bIns="0" rtlCol="0" anchor="t"/>
          <a:lstStyle/>
          <a:p>
            <a:pPr indent="0" marL="0">
              <a:buNone/>
            </a:pPr>
            <a:r>
              <a:rPr lang="en-US" sz="3600" b="1" dirty="0">
                <a:solidFill>
                  <a:srgbClr val="FFFFFF"/>
                </a:solidFill>
                <a:latin typeface="Arial" pitchFamily="34" charset="0"/>
                <a:ea typeface="Arial" pitchFamily="34" charset="-122"/>
                <a:cs typeface="Arial" pitchFamily="34" charset="-120"/>
              </a:rPr>
              <a:t>4</a:t>
            </a:r>
            <a:endParaRPr lang="en-US" sz="3600" dirty="0"/>
          </a:p>
        </p:txBody>
      </p:sp>
      <p:sp>
        <p:nvSpPr>
          <p:cNvPr id="15" name="Text 12"/>
          <p:cNvSpPr txBox="1"/>
          <p:nvPr/>
        </p:nvSpPr>
        <p:spPr>
          <a:xfrm>
            <a:off x="6949440" y="2377440"/>
            <a:ext cx="1554480" cy="1005840"/>
          </a:xfrm>
          <a:prstGeom prst="rect">
            <a:avLst/>
          </a:prstGeom>
          <a:noFill/>
          <a:ln/>
        </p:spPr>
        <p:txBody>
          <a:bodyPr wrap="square" lIns="0" tIns="0" rIns="0" bIns="0" rtlCol="0" anchor="t"/>
          <a:lstStyle/>
          <a:p>
            <a:pPr indent="0" marL="0">
              <a:buNone/>
            </a:pPr>
            <a:r>
              <a:rPr lang="en-US" sz="1700" b="1" dirty="0">
                <a:solidFill>
                  <a:srgbClr val="2E2224"/>
                </a:solidFill>
                <a:latin typeface="Arial" pitchFamily="34" charset="0"/>
                <a:ea typeface="Arial" pitchFamily="34" charset="-122"/>
                <a:cs typeface="Arial" pitchFamily="34" charset="-120"/>
              </a:rPr>
              <a:t>Y tiempo para disfrutarlo todo</a:t>
            </a:r>
            <a:endParaRPr lang="en-US" sz="1700" dirty="0"/>
          </a:p>
        </p:txBody>
      </p:sp>
      <p:sp>
        <p:nvSpPr>
          <p:cNvPr id="16" name="Text 13"/>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No va de lo que tienes, sino de cómo vives tu día a día: algo que se sienta auténticamente tuyo.</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¿Para quién es esto… y para quién no?</a:t>
            </a:r>
            <a:endParaRPr lang="en-US" sz="2600" dirty="0"/>
          </a:p>
        </p:txBody>
      </p:sp>
      <p:sp>
        <p:nvSpPr>
          <p:cNvPr id="4" name="Shape 1"/>
          <p:cNvSpPr/>
          <p:nvPr/>
        </p:nvSpPr>
        <p:spPr>
          <a:xfrm>
            <a:off x="457200" y="1097280"/>
            <a:ext cx="4023360" cy="3611880"/>
          </a:xfrm>
          <a:prstGeom prst="roundRect">
            <a:avLst>
              <a:gd name="adj" fmla="val 3038"/>
            </a:avLst>
          </a:prstGeom>
          <a:solidFill>
            <a:srgbClr val="EDF5EA"/>
          </a:solidFill>
          <a:ln w="12700">
            <a:solidFill>
              <a:srgbClr val="EDF5EA"/>
            </a:solidFill>
            <a:prstDash val="solid"/>
          </a:ln>
        </p:spPr>
      </p:sp>
      <p:sp>
        <p:nvSpPr>
          <p:cNvPr id="5" name="Text 2"/>
          <p:cNvSpPr txBox="1"/>
          <p:nvPr/>
        </p:nvSpPr>
        <p:spPr>
          <a:xfrm>
            <a:off x="640080" y="1188720"/>
            <a:ext cx="3657600" cy="365760"/>
          </a:xfrm>
          <a:prstGeom prst="rect">
            <a:avLst/>
          </a:prstGeom>
          <a:noFill/>
          <a:ln/>
        </p:spPr>
        <p:txBody>
          <a:bodyPr wrap="square" lIns="0" tIns="0" rIns="0" bIns="0" rtlCol="0" anchor="t"/>
          <a:lstStyle/>
          <a:p>
            <a:pPr indent="0" marL="0">
              <a:buNone/>
            </a:pPr>
            <a:r>
              <a:rPr lang="en-US" sz="1500" b="1" dirty="0">
                <a:solidFill>
                  <a:srgbClr val="4E7A45"/>
                </a:solidFill>
                <a:latin typeface="Arial" pitchFamily="34" charset="0"/>
                <a:ea typeface="Arial" pitchFamily="34" charset="-122"/>
                <a:cs typeface="Arial" pitchFamily="34" charset="-120"/>
              </a:rPr>
              <a:t>ES PARA TI SI…</a:t>
            </a:r>
            <a:endParaRPr lang="en-US" sz="1500" dirty="0"/>
          </a:p>
        </p:txBody>
      </p:sp>
      <p:sp>
        <p:nvSpPr>
          <p:cNvPr id="6" name="Text 3"/>
          <p:cNvSpPr txBox="1"/>
          <p:nvPr/>
        </p:nvSpPr>
        <p:spPr>
          <a:xfrm>
            <a:off x="640080" y="1600200"/>
            <a:ext cx="3703320" cy="30175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Amas el bienestar y quieres convertir tu pasión en ingresos reales</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Quieres un negocio alineado: nada agresivo, ni spam, ni postureo</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No tienes audiencia (o casi), pero estás dispuesta a aprender y seguir un plan</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Eres mamá, trabajas o simplemente vas a tope: necesitas un modelo que funcione en la vida real</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Empiezas de cero, pero te dejas guiar y quieres aprender</a:t>
            </a:r>
            <a:endParaRPr lang="en-US" sz="1200" dirty="0"/>
          </a:p>
        </p:txBody>
      </p:sp>
      <p:sp>
        <p:nvSpPr>
          <p:cNvPr id="7" name="Shape 4"/>
          <p:cNvSpPr/>
          <p:nvPr/>
        </p:nvSpPr>
        <p:spPr>
          <a:xfrm>
            <a:off x="4663440" y="1097280"/>
            <a:ext cx="4023360" cy="3611880"/>
          </a:xfrm>
          <a:prstGeom prst="roundRect">
            <a:avLst>
              <a:gd name="adj" fmla="val 3038"/>
            </a:avLst>
          </a:prstGeom>
          <a:solidFill>
            <a:srgbClr val="FBEAEA"/>
          </a:solidFill>
          <a:ln w="12700">
            <a:solidFill>
              <a:srgbClr val="FBEAEA"/>
            </a:solidFill>
            <a:prstDash val="solid"/>
          </a:ln>
        </p:spPr>
      </p:sp>
      <p:sp>
        <p:nvSpPr>
          <p:cNvPr id="8" name="Text 5"/>
          <p:cNvSpPr txBox="1"/>
          <p:nvPr/>
        </p:nvSpPr>
        <p:spPr>
          <a:xfrm>
            <a:off x="4846320" y="1188720"/>
            <a:ext cx="3657600" cy="365760"/>
          </a:xfrm>
          <a:prstGeom prst="rect">
            <a:avLst/>
          </a:prstGeom>
          <a:noFill/>
          <a:ln/>
        </p:spPr>
        <p:txBody>
          <a:bodyPr wrap="square" lIns="0" tIns="0" rIns="0" bIns="0" rtlCol="0" anchor="t"/>
          <a:lstStyle/>
          <a:p>
            <a:pPr indent="0" marL="0">
              <a:buNone/>
            </a:pPr>
            <a:r>
              <a:rPr lang="en-US" sz="1500" b="1" dirty="0">
                <a:solidFill>
                  <a:srgbClr val="C04848"/>
                </a:solidFill>
                <a:latin typeface="Arial" pitchFamily="34" charset="0"/>
                <a:ea typeface="Arial" pitchFamily="34" charset="-122"/>
                <a:cs typeface="Arial" pitchFamily="34" charset="-120"/>
              </a:rPr>
              <a:t>NO ES PARA TI SI…</a:t>
            </a:r>
            <a:endParaRPr lang="en-US" sz="1500" dirty="0"/>
          </a:p>
        </p:txBody>
      </p:sp>
      <p:sp>
        <p:nvSpPr>
          <p:cNvPr id="9" name="Text 6"/>
          <p:cNvSpPr txBox="1"/>
          <p:nvPr/>
        </p:nvSpPr>
        <p:spPr>
          <a:xfrm>
            <a:off x="4846320" y="1600200"/>
            <a:ext cx="3703320" cy="30175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Buscas un atajo o «dinero fácil» sin esfuerzo</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No estás dispuesta a aprender, implementar ni dejarte guiar</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Odias la idea del crecimiento personal o del feedback</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Culpas a las circunstancias y te quedas atascada en excusas</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Quieres resultados sin responsabilidad</a:t>
            </a:r>
            <a:endParaRPr lang="en-US" sz="12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457200" y="457200"/>
            <a:ext cx="4572000" cy="320040"/>
          </a:xfrm>
          <a:prstGeom prst="rect">
            <a:avLst/>
          </a:prstGeom>
          <a:noFill/>
          <a:ln/>
        </p:spPr>
        <p:txBody>
          <a:bodyPr wrap="square" lIns="0" tIns="0" rIns="0" bIns="0" rtlCol="0" anchor="t"/>
          <a:lstStyle/>
          <a:p>
            <a:pPr indent="0" marL="0">
              <a:buNone/>
            </a:pPr>
            <a:r>
              <a:rPr lang="en-US" sz="1200" b="1" spc="300" kern="0" dirty="0">
                <a:solidFill>
                  <a:srgbClr val="F2C14E"/>
                </a:solidFill>
                <a:latin typeface="Calibri" pitchFamily="34" charset="0"/>
                <a:ea typeface="Calibri" pitchFamily="34" charset="-122"/>
                <a:cs typeface="Calibri" pitchFamily="34" charset="-120"/>
              </a:rPr>
              <a:t>NUESTRA COMUNIDAD DE NEGOCIO ONLINE</a:t>
            </a:r>
            <a:endParaRPr lang="en-US" sz="1200" dirty="0"/>
          </a:p>
        </p:txBody>
      </p:sp>
      <p:sp>
        <p:nvSpPr>
          <p:cNvPr id="4" name="Text 1"/>
          <p:cNvSpPr txBox="1"/>
          <p:nvPr/>
        </p:nvSpPr>
        <p:spPr>
          <a:xfrm>
            <a:off x="457200" y="822960"/>
            <a:ext cx="4206240" cy="731520"/>
          </a:xfrm>
          <a:prstGeom prst="rect">
            <a:avLst/>
          </a:prstGeom>
          <a:noFill/>
          <a:ln/>
        </p:spPr>
        <p:txBody>
          <a:bodyPr wrap="square" lIns="0" tIns="0" rIns="0" bIns="0" rtlCol="0" anchor="t"/>
          <a:lstStyle/>
          <a:p>
            <a:pPr indent="0" marL="0">
              <a:buNone/>
            </a:pPr>
            <a:r>
              <a:rPr lang="en-US" sz="3000" b="1" dirty="0">
                <a:solidFill>
                  <a:srgbClr val="EE7A7A"/>
                </a:solidFill>
                <a:latin typeface="Arial" pitchFamily="34" charset="0"/>
                <a:ea typeface="Arial" pitchFamily="34" charset="-122"/>
                <a:cs typeface="Arial" pitchFamily="34" charset="-120"/>
              </a:rPr>
              <a:t>Somos Team Rise Up</a:t>
            </a:r>
            <a:endParaRPr lang="en-US" sz="3000" dirty="0"/>
          </a:p>
        </p:txBody>
      </p:sp>
      <p:sp>
        <p:nvSpPr>
          <p:cNvPr id="5" name="Text 2"/>
          <p:cNvSpPr txBox="1"/>
          <p:nvPr/>
        </p:nvSpPr>
        <p:spPr>
          <a:xfrm>
            <a:off x="457200" y="1691640"/>
            <a:ext cx="4023360" cy="146304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Un equipo empoderado de líderes con mentalidad de crecimiento y conscientes de su salud, creando libertad de tiempo y financiera para nosotras mismas y un impacto profundo en el mundo, una persona sana e hidratada a la vez.</a:t>
            </a:r>
            <a:endParaRPr lang="en-US" sz="1400" dirty="0"/>
          </a:p>
        </p:txBody>
      </p:sp>
      <p:sp>
        <p:nvSpPr>
          <p:cNvPr id="6" name="Shape 3"/>
          <p:cNvSpPr/>
          <p:nvPr/>
        </p:nvSpPr>
        <p:spPr>
          <a:xfrm>
            <a:off x="4846320" y="548640"/>
            <a:ext cx="1828800" cy="457200"/>
          </a:xfrm>
          <a:prstGeom prst="roundRect">
            <a:avLst>
              <a:gd name="adj" fmla="val 50000"/>
            </a:avLst>
          </a:prstGeom>
          <a:solidFill>
            <a:srgbClr val="EE7A7A"/>
          </a:solidFill>
          <a:ln w="12700">
            <a:solidFill>
              <a:srgbClr val="2E2224"/>
            </a:solidFill>
            <a:prstDash val="solid"/>
          </a:ln>
        </p:spPr>
      </p:sp>
      <p:sp>
        <p:nvSpPr>
          <p:cNvPr id="7" name="Text 4"/>
          <p:cNvSpPr txBox="1"/>
          <p:nvPr/>
        </p:nvSpPr>
        <p:spPr>
          <a:xfrm>
            <a:off x="4846320" y="548640"/>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Padres y madres</a:t>
            </a:r>
            <a:endParaRPr lang="en-US" sz="1200" dirty="0"/>
          </a:p>
        </p:txBody>
      </p:sp>
      <p:sp>
        <p:nvSpPr>
          <p:cNvPr id="8" name="Shape 5"/>
          <p:cNvSpPr/>
          <p:nvPr/>
        </p:nvSpPr>
        <p:spPr>
          <a:xfrm>
            <a:off x="6812280" y="548640"/>
            <a:ext cx="1828800" cy="457200"/>
          </a:xfrm>
          <a:prstGeom prst="roundRect">
            <a:avLst>
              <a:gd name="adj" fmla="val 50000"/>
            </a:avLst>
          </a:prstGeom>
          <a:solidFill>
            <a:srgbClr val="B9D3B1"/>
          </a:solidFill>
          <a:ln w="12700">
            <a:solidFill>
              <a:srgbClr val="2E2224"/>
            </a:solidFill>
            <a:prstDash val="solid"/>
          </a:ln>
        </p:spPr>
      </p:sp>
      <p:sp>
        <p:nvSpPr>
          <p:cNvPr id="9" name="Text 6"/>
          <p:cNvSpPr txBox="1"/>
          <p:nvPr/>
        </p:nvSpPr>
        <p:spPr>
          <a:xfrm>
            <a:off x="6812280" y="548640"/>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Profesores</a:t>
            </a:r>
            <a:endParaRPr lang="en-US" sz="1200" dirty="0"/>
          </a:p>
        </p:txBody>
      </p:sp>
      <p:sp>
        <p:nvSpPr>
          <p:cNvPr id="10" name="Shape 7"/>
          <p:cNvSpPr/>
          <p:nvPr/>
        </p:nvSpPr>
        <p:spPr>
          <a:xfrm>
            <a:off x="4846320" y="1115568"/>
            <a:ext cx="1828800" cy="457200"/>
          </a:xfrm>
          <a:prstGeom prst="roundRect">
            <a:avLst>
              <a:gd name="adj" fmla="val 50000"/>
            </a:avLst>
          </a:prstGeom>
          <a:solidFill>
            <a:srgbClr val="B9D3B1"/>
          </a:solidFill>
          <a:ln w="12700">
            <a:solidFill>
              <a:srgbClr val="2E2224"/>
            </a:solidFill>
            <a:prstDash val="solid"/>
          </a:ln>
        </p:spPr>
      </p:sp>
      <p:sp>
        <p:nvSpPr>
          <p:cNvPr id="11" name="Text 8"/>
          <p:cNvSpPr txBox="1"/>
          <p:nvPr/>
        </p:nvSpPr>
        <p:spPr>
          <a:xfrm>
            <a:off x="4846320" y="1115568"/>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Mamás y papás en casa</a:t>
            </a:r>
            <a:endParaRPr lang="en-US" sz="1200" dirty="0"/>
          </a:p>
        </p:txBody>
      </p:sp>
      <p:sp>
        <p:nvSpPr>
          <p:cNvPr id="12" name="Shape 9"/>
          <p:cNvSpPr/>
          <p:nvPr/>
        </p:nvSpPr>
        <p:spPr>
          <a:xfrm>
            <a:off x="6812280" y="1115568"/>
            <a:ext cx="1828800" cy="457200"/>
          </a:xfrm>
          <a:prstGeom prst="roundRect">
            <a:avLst>
              <a:gd name="adj" fmla="val 50000"/>
            </a:avLst>
          </a:prstGeom>
          <a:solidFill>
            <a:srgbClr val="F2C14E"/>
          </a:solidFill>
          <a:ln w="12700">
            <a:solidFill>
              <a:srgbClr val="2E2224"/>
            </a:solidFill>
            <a:prstDash val="solid"/>
          </a:ln>
        </p:spPr>
      </p:sp>
      <p:sp>
        <p:nvSpPr>
          <p:cNvPr id="13" name="Text 10"/>
          <p:cNvSpPr txBox="1"/>
          <p:nvPr/>
        </p:nvSpPr>
        <p:spPr>
          <a:xfrm>
            <a:off x="6812280" y="1115568"/>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Enfermeras</a:t>
            </a:r>
            <a:endParaRPr lang="en-US" sz="1200" dirty="0"/>
          </a:p>
        </p:txBody>
      </p:sp>
      <p:sp>
        <p:nvSpPr>
          <p:cNvPr id="14" name="Shape 11"/>
          <p:cNvSpPr/>
          <p:nvPr/>
        </p:nvSpPr>
        <p:spPr>
          <a:xfrm>
            <a:off x="4846320" y="1682496"/>
            <a:ext cx="1828800" cy="457200"/>
          </a:xfrm>
          <a:prstGeom prst="roundRect">
            <a:avLst>
              <a:gd name="adj" fmla="val 50000"/>
            </a:avLst>
          </a:prstGeom>
          <a:solidFill>
            <a:srgbClr val="F2C14E"/>
          </a:solidFill>
          <a:ln w="12700">
            <a:solidFill>
              <a:srgbClr val="2E2224"/>
            </a:solidFill>
            <a:prstDash val="solid"/>
          </a:ln>
        </p:spPr>
      </p:sp>
      <p:sp>
        <p:nvSpPr>
          <p:cNvPr id="15" name="Text 12"/>
          <p:cNvSpPr txBox="1"/>
          <p:nvPr/>
        </p:nvSpPr>
        <p:spPr>
          <a:xfrm>
            <a:off x="4846320" y="1682496"/>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Luchadores por la libertad</a:t>
            </a:r>
            <a:endParaRPr lang="en-US" sz="1200" dirty="0"/>
          </a:p>
        </p:txBody>
      </p:sp>
      <p:sp>
        <p:nvSpPr>
          <p:cNvPr id="16" name="Shape 13"/>
          <p:cNvSpPr/>
          <p:nvPr/>
        </p:nvSpPr>
        <p:spPr>
          <a:xfrm>
            <a:off x="6812280" y="1682496"/>
            <a:ext cx="1828800" cy="457200"/>
          </a:xfrm>
          <a:prstGeom prst="roundRect">
            <a:avLst>
              <a:gd name="adj" fmla="val 50000"/>
            </a:avLst>
          </a:prstGeom>
          <a:solidFill>
            <a:srgbClr val="8B9AB7"/>
          </a:solidFill>
          <a:ln w="12700">
            <a:solidFill>
              <a:srgbClr val="2E2224"/>
            </a:solidFill>
            <a:prstDash val="solid"/>
          </a:ln>
        </p:spPr>
      </p:sp>
      <p:sp>
        <p:nvSpPr>
          <p:cNvPr id="17" name="Text 14"/>
          <p:cNvSpPr txBox="1"/>
          <p:nvPr/>
        </p:nvSpPr>
        <p:spPr>
          <a:xfrm>
            <a:off x="6812280" y="1682496"/>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Amantes de la salud</a:t>
            </a:r>
            <a:endParaRPr lang="en-US" sz="1200" dirty="0"/>
          </a:p>
        </p:txBody>
      </p:sp>
      <p:sp>
        <p:nvSpPr>
          <p:cNvPr id="18" name="Shape 15"/>
          <p:cNvSpPr/>
          <p:nvPr/>
        </p:nvSpPr>
        <p:spPr>
          <a:xfrm>
            <a:off x="4846320" y="2249424"/>
            <a:ext cx="1828800" cy="457200"/>
          </a:xfrm>
          <a:prstGeom prst="roundRect">
            <a:avLst>
              <a:gd name="adj" fmla="val 50000"/>
            </a:avLst>
          </a:prstGeom>
          <a:solidFill>
            <a:srgbClr val="8B9AB7"/>
          </a:solidFill>
          <a:ln w="12700">
            <a:solidFill>
              <a:srgbClr val="2E2224"/>
            </a:solidFill>
            <a:prstDash val="solid"/>
          </a:ln>
        </p:spPr>
      </p:sp>
      <p:sp>
        <p:nvSpPr>
          <p:cNvPr id="19" name="Text 16"/>
          <p:cNvSpPr txBox="1"/>
          <p:nvPr/>
        </p:nvSpPr>
        <p:spPr>
          <a:xfrm>
            <a:off x="4846320" y="2249424"/>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Acupuntores</a:t>
            </a:r>
            <a:endParaRPr lang="en-US" sz="1200" dirty="0"/>
          </a:p>
        </p:txBody>
      </p:sp>
      <p:sp>
        <p:nvSpPr>
          <p:cNvPr id="20" name="Shape 17"/>
          <p:cNvSpPr/>
          <p:nvPr/>
        </p:nvSpPr>
        <p:spPr>
          <a:xfrm>
            <a:off x="6812280" y="2249424"/>
            <a:ext cx="1828800" cy="457200"/>
          </a:xfrm>
          <a:prstGeom prst="roundRect">
            <a:avLst>
              <a:gd name="adj" fmla="val 50000"/>
            </a:avLst>
          </a:prstGeom>
          <a:solidFill>
            <a:srgbClr val="F4A78A"/>
          </a:solidFill>
          <a:ln w="12700">
            <a:solidFill>
              <a:srgbClr val="2E2224"/>
            </a:solidFill>
            <a:prstDash val="solid"/>
          </a:ln>
        </p:spPr>
      </p:sp>
      <p:sp>
        <p:nvSpPr>
          <p:cNvPr id="21" name="Text 18"/>
          <p:cNvSpPr txBox="1"/>
          <p:nvPr/>
        </p:nvSpPr>
        <p:spPr>
          <a:xfrm>
            <a:off x="6812280" y="2249424"/>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Coaches de salud</a:t>
            </a:r>
            <a:endParaRPr lang="en-US" sz="1200" dirty="0"/>
          </a:p>
        </p:txBody>
      </p:sp>
      <p:sp>
        <p:nvSpPr>
          <p:cNvPr id="22" name="Shape 19"/>
          <p:cNvSpPr/>
          <p:nvPr/>
        </p:nvSpPr>
        <p:spPr>
          <a:xfrm>
            <a:off x="4846320" y="2816352"/>
            <a:ext cx="1828800" cy="457200"/>
          </a:xfrm>
          <a:prstGeom prst="roundRect">
            <a:avLst>
              <a:gd name="adj" fmla="val 50000"/>
            </a:avLst>
          </a:prstGeom>
          <a:solidFill>
            <a:srgbClr val="F4A78A"/>
          </a:solidFill>
          <a:ln w="12700">
            <a:solidFill>
              <a:srgbClr val="2E2224"/>
            </a:solidFill>
            <a:prstDash val="solid"/>
          </a:ln>
        </p:spPr>
      </p:sp>
      <p:sp>
        <p:nvSpPr>
          <p:cNvPr id="23" name="Text 20"/>
          <p:cNvSpPr txBox="1"/>
          <p:nvPr/>
        </p:nvSpPr>
        <p:spPr>
          <a:xfrm>
            <a:off x="4846320" y="2816352"/>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Familias homeschool</a:t>
            </a:r>
            <a:endParaRPr lang="en-US" sz="1200" dirty="0"/>
          </a:p>
        </p:txBody>
      </p:sp>
      <p:sp>
        <p:nvSpPr>
          <p:cNvPr id="24" name="Shape 21"/>
          <p:cNvSpPr/>
          <p:nvPr/>
        </p:nvSpPr>
        <p:spPr>
          <a:xfrm>
            <a:off x="6812280" y="2816352"/>
            <a:ext cx="1828800" cy="457200"/>
          </a:xfrm>
          <a:prstGeom prst="roundRect">
            <a:avLst>
              <a:gd name="adj" fmla="val 50000"/>
            </a:avLst>
          </a:prstGeom>
          <a:solidFill>
            <a:srgbClr val="EE7A7A"/>
          </a:solidFill>
          <a:ln w="12700">
            <a:solidFill>
              <a:srgbClr val="2E2224"/>
            </a:solidFill>
            <a:prstDash val="solid"/>
          </a:ln>
        </p:spPr>
      </p:sp>
      <p:sp>
        <p:nvSpPr>
          <p:cNvPr id="25" name="Text 22"/>
          <p:cNvSpPr txBox="1"/>
          <p:nvPr/>
        </p:nvSpPr>
        <p:spPr>
          <a:xfrm>
            <a:off x="6812280" y="2816352"/>
            <a:ext cx="1828800" cy="45720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Ejecutivos corporativos</a:t>
            </a:r>
            <a:endParaRPr lang="en-US" sz="1200" dirty="0"/>
          </a:p>
        </p:txBody>
      </p:sp>
      <p:sp>
        <p:nvSpPr>
          <p:cNvPr id="26" name="Text 23"/>
          <p:cNvSpPr txBox="1"/>
          <p:nvPr/>
        </p:nvSpPr>
        <p:spPr>
          <a:xfrm>
            <a:off x="457200" y="3474720"/>
            <a:ext cx="4023360" cy="457200"/>
          </a:xfrm>
          <a:prstGeom prst="rect">
            <a:avLst/>
          </a:prstGeom>
          <a:noFill/>
          <a:ln/>
        </p:spPr>
        <p:txBody>
          <a:bodyPr wrap="square" lIns="0" tIns="0" rIns="0" bIns="0" rtlCol="0" anchor="t"/>
          <a:lstStyle/>
          <a:p>
            <a:pPr indent="0" marL="0">
              <a:buNone/>
            </a:pPr>
            <a:r>
              <a:rPr lang="en-US" sz="1800" b="1" dirty="0">
                <a:solidFill>
                  <a:srgbClr val="B9D3B1"/>
                </a:solidFill>
                <a:latin typeface="Arial" pitchFamily="34" charset="0"/>
                <a:ea typeface="Arial" pitchFamily="34" charset="-122"/>
                <a:cs typeface="Arial" pitchFamily="34" charset="-120"/>
              </a:rPr>
              <a:t>Todas buscando una forma mejor.</a:t>
            </a:r>
            <a:endParaRPr lang="en-US" sz="1800" dirty="0"/>
          </a:p>
        </p:txBody>
      </p:sp>
      <p:sp>
        <p:nvSpPr>
          <p:cNvPr id="27"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El último año, nuestro equipo generó…</a:t>
            </a:r>
            <a:endParaRPr lang="en-US" sz="2600" dirty="0"/>
          </a:p>
        </p:txBody>
      </p:sp>
      <p:sp>
        <p:nvSpPr>
          <p:cNvPr id="4" name="Shape 1"/>
          <p:cNvSpPr/>
          <p:nvPr/>
        </p:nvSpPr>
        <p:spPr>
          <a:xfrm>
            <a:off x="822960" y="1371600"/>
            <a:ext cx="3566160" cy="2377440"/>
          </a:xfrm>
          <a:prstGeom prst="roundRect">
            <a:avLst>
              <a:gd name="adj" fmla="val 5769"/>
            </a:avLst>
          </a:prstGeom>
          <a:solidFill>
            <a:srgbClr val="EE7A7A"/>
          </a:solidFill>
          <a:ln w="12700">
            <a:solidFill>
              <a:srgbClr val="EE7A7A"/>
            </a:solidFill>
            <a:prstDash val="solid"/>
          </a:ln>
        </p:spPr>
      </p:sp>
      <p:sp>
        <p:nvSpPr>
          <p:cNvPr id="5" name="Text 2"/>
          <p:cNvSpPr txBox="1"/>
          <p:nvPr/>
        </p:nvSpPr>
        <p:spPr>
          <a:xfrm>
            <a:off x="822960" y="1554480"/>
            <a:ext cx="3566160" cy="1280160"/>
          </a:xfrm>
          <a:prstGeom prst="rect">
            <a:avLst/>
          </a:prstGeom>
          <a:noFill/>
          <a:ln/>
        </p:spPr>
        <p:txBody>
          <a:bodyPr wrap="square" lIns="0" tIns="0" rIns="0" bIns="0" rtlCol="0" anchor="ctr"/>
          <a:lstStyle/>
          <a:p>
            <a:pPr algn="ctr" indent="0" marL="0">
              <a:buNone/>
            </a:pPr>
            <a:r>
              <a:rPr lang="en-US" sz="6600" b="1" dirty="0">
                <a:solidFill>
                  <a:srgbClr val="FFFFFF"/>
                </a:solidFill>
                <a:latin typeface="Arial" pitchFamily="34" charset="0"/>
                <a:ea typeface="Arial" pitchFamily="34" charset="-122"/>
                <a:cs typeface="Arial" pitchFamily="34" charset="-120"/>
              </a:rPr>
              <a:t>$5M</a:t>
            </a:r>
            <a:endParaRPr lang="en-US" sz="6600" dirty="0"/>
          </a:p>
        </p:txBody>
      </p:sp>
      <p:sp>
        <p:nvSpPr>
          <p:cNvPr id="6" name="Text 3"/>
          <p:cNvSpPr txBox="1"/>
          <p:nvPr/>
        </p:nvSpPr>
        <p:spPr>
          <a:xfrm>
            <a:off x="822960" y="2880360"/>
            <a:ext cx="3566160" cy="457200"/>
          </a:xfrm>
          <a:prstGeom prst="rect">
            <a:avLst/>
          </a:prstGeom>
          <a:noFill/>
          <a:ln/>
        </p:spPr>
        <p:txBody>
          <a:bodyPr wrap="square" lIns="0" tIns="0" rIns="0" bIns="0" rtlCol="0" anchor="t"/>
          <a:lstStyle/>
          <a:p>
            <a:pPr algn="ctr" indent="0" marL="0">
              <a:buNone/>
            </a:pPr>
            <a:r>
              <a:rPr lang="en-US" sz="1600" b="1" spc="300" kern="0" dirty="0">
                <a:solidFill>
                  <a:srgbClr val="FFFFFF"/>
                </a:solidFill>
                <a:latin typeface="Calibri" pitchFamily="34" charset="0"/>
                <a:ea typeface="Calibri" pitchFamily="34" charset="-122"/>
                <a:cs typeface="Calibri" pitchFamily="34" charset="-120"/>
              </a:rPr>
              <a:t>EN VENTAS</a:t>
            </a:r>
            <a:endParaRPr lang="en-US" sz="1600" dirty="0"/>
          </a:p>
        </p:txBody>
      </p:sp>
      <p:sp>
        <p:nvSpPr>
          <p:cNvPr id="7" name="Shape 4"/>
          <p:cNvSpPr/>
          <p:nvPr/>
        </p:nvSpPr>
        <p:spPr>
          <a:xfrm>
            <a:off x="4754880" y="1371600"/>
            <a:ext cx="3566160" cy="2377440"/>
          </a:xfrm>
          <a:prstGeom prst="roundRect">
            <a:avLst>
              <a:gd name="adj" fmla="val 5769"/>
            </a:avLst>
          </a:prstGeom>
          <a:solidFill>
            <a:srgbClr val="8B9AB7"/>
          </a:solidFill>
          <a:ln w="12700">
            <a:solidFill>
              <a:srgbClr val="8B9AB7"/>
            </a:solidFill>
            <a:prstDash val="solid"/>
          </a:ln>
        </p:spPr>
      </p:sp>
      <p:sp>
        <p:nvSpPr>
          <p:cNvPr id="8" name="Text 5"/>
          <p:cNvSpPr txBox="1"/>
          <p:nvPr/>
        </p:nvSpPr>
        <p:spPr>
          <a:xfrm>
            <a:off x="4754880" y="1554480"/>
            <a:ext cx="3566160" cy="1280160"/>
          </a:xfrm>
          <a:prstGeom prst="rect">
            <a:avLst/>
          </a:prstGeom>
          <a:noFill/>
          <a:ln/>
        </p:spPr>
        <p:txBody>
          <a:bodyPr wrap="square" lIns="0" tIns="0" rIns="0" bIns="0" rtlCol="0" anchor="ctr"/>
          <a:lstStyle/>
          <a:p>
            <a:pPr algn="ctr" indent="0" marL="0">
              <a:buNone/>
            </a:pPr>
            <a:r>
              <a:rPr lang="en-US" sz="6600" b="1" dirty="0">
                <a:solidFill>
                  <a:srgbClr val="FFFFFF"/>
                </a:solidFill>
                <a:latin typeface="Arial" pitchFamily="34" charset="0"/>
                <a:ea typeface="Arial" pitchFamily="34" charset="-122"/>
                <a:cs typeface="Arial" pitchFamily="34" charset="-120"/>
              </a:rPr>
              <a:t>$2.8M</a:t>
            </a:r>
            <a:endParaRPr lang="en-US" sz="6600" dirty="0"/>
          </a:p>
        </p:txBody>
      </p:sp>
      <p:sp>
        <p:nvSpPr>
          <p:cNvPr id="9" name="Text 6"/>
          <p:cNvSpPr txBox="1"/>
          <p:nvPr/>
        </p:nvSpPr>
        <p:spPr>
          <a:xfrm>
            <a:off x="4754880" y="2880360"/>
            <a:ext cx="3566160" cy="457200"/>
          </a:xfrm>
          <a:prstGeom prst="rect">
            <a:avLst/>
          </a:prstGeom>
          <a:noFill/>
          <a:ln/>
        </p:spPr>
        <p:txBody>
          <a:bodyPr wrap="square" lIns="0" tIns="0" rIns="0" bIns="0" rtlCol="0" anchor="t"/>
          <a:lstStyle/>
          <a:p>
            <a:pPr algn="ctr" indent="0" marL="0">
              <a:buNone/>
            </a:pPr>
            <a:r>
              <a:rPr lang="en-US" sz="1600" b="1" spc="300" kern="0" dirty="0">
                <a:solidFill>
                  <a:srgbClr val="FFFFFF"/>
                </a:solidFill>
                <a:latin typeface="Calibri" pitchFamily="34" charset="0"/>
                <a:ea typeface="Calibri" pitchFamily="34" charset="-122"/>
                <a:cs typeface="Calibri" pitchFamily="34" charset="-120"/>
              </a:rPr>
              <a:t>EN COMISIONES</a:t>
            </a:r>
            <a:endParaRPr lang="en-US" sz="1600" dirty="0"/>
          </a:p>
        </p:txBody>
      </p:sp>
      <p:sp>
        <p:nvSpPr>
          <p:cNvPr id="10" name="Text 7"/>
          <p:cNvSpPr txBox="1"/>
          <p:nvPr/>
        </p:nvSpPr>
        <p:spPr>
          <a:xfrm>
            <a:off x="457200" y="4069080"/>
            <a:ext cx="8229600" cy="457200"/>
          </a:xfrm>
          <a:prstGeom prst="rect">
            <a:avLst/>
          </a:prstGeom>
          <a:noFill/>
          <a:ln/>
        </p:spPr>
        <p:txBody>
          <a:bodyPr wrap="square" lIns="0" tIns="0" rIns="0" bIns="0" rtlCol="0" anchor="t"/>
          <a:lstStyle/>
          <a:p>
            <a:pPr algn="ctr" indent="0" marL="0">
              <a:buNone/>
            </a:pPr>
            <a:r>
              <a:rPr lang="en-US" sz="1600" i="1" dirty="0">
                <a:solidFill>
                  <a:srgbClr val="FFFFFF"/>
                </a:solidFill>
                <a:latin typeface="Calibri" pitchFamily="34" charset="0"/>
                <a:ea typeface="Calibri" pitchFamily="34" charset="-122"/>
                <a:cs typeface="Calibri" pitchFamily="34" charset="-120"/>
              </a:rPr>
              <a:t>Por eso estamos aquí: para invitarte a formar parte de esto.</a:t>
            </a:r>
            <a:endParaRPr lang="en-US" sz="1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Lo que resolvemos</a:t>
            </a:r>
            <a:endParaRPr lang="en-US" sz="2600" dirty="0"/>
          </a:p>
        </p:txBody>
      </p:sp>
      <p:sp>
        <p:nvSpPr>
          <p:cNvPr id="4" name="Shape 1"/>
          <p:cNvSpPr/>
          <p:nvPr/>
        </p:nvSpPr>
        <p:spPr>
          <a:xfrm>
            <a:off x="457200" y="1188720"/>
            <a:ext cx="3977640" cy="3291840"/>
          </a:xfrm>
          <a:prstGeom prst="roundRect">
            <a:avLst>
              <a:gd name="adj" fmla="val 3333"/>
            </a:avLst>
          </a:prstGeom>
          <a:solidFill>
            <a:srgbClr val="E8ECF3"/>
          </a:solidFill>
          <a:ln w="12700">
            <a:solidFill>
              <a:srgbClr val="E8ECF3"/>
            </a:solidFill>
            <a:prstDash val="solid"/>
          </a:ln>
        </p:spPr>
      </p:sp>
      <p:sp>
        <p:nvSpPr>
          <p:cNvPr id="5" name="Text 2"/>
          <p:cNvSpPr txBox="1"/>
          <p:nvPr/>
        </p:nvSpPr>
        <p:spPr>
          <a:xfrm>
            <a:off x="640080" y="1353312"/>
            <a:ext cx="3611880" cy="457200"/>
          </a:xfrm>
          <a:prstGeom prst="rect">
            <a:avLst/>
          </a:prstGeom>
          <a:noFill/>
          <a:ln/>
        </p:spPr>
        <p:txBody>
          <a:bodyPr wrap="square" lIns="0" tIns="0" rIns="0" bIns="0" rtlCol="0" anchor="t"/>
          <a:lstStyle/>
          <a:p>
            <a:pPr algn="l" indent="0" marL="0">
              <a:buNone/>
            </a:pPr>
            <a:r>
              <a:rPr lang="en-US" sz="2000" b="1" dirty="0">
                <a:solidFill>
                  <a:srgbClr val="2E2224"/>
                </a:solidFill>
                <a:latin typeface="Arial" pitchFamily="34" charset="0"/>
                <a:ea typeface="Arial" pitchFamily="34" charset="-122"/>
                <a:cs typeface="Arial" pitchFamily="34" charset="-120"/>
              </a:rPr>
              <a:t>LA CRISIS DE SALUD</a:t>
            </a:r>
            <a:endParaRPr lang="en-US" sz="2000" dirty="0"/>
          </a:p>
        </p:txBody>
      </p:sp>
      <p:sp>
        <p:nvSpPr>
          <p:cNvPr id="6" name="Text 3"/>
          <p:cNvSpPr txBox="1"/>
          <p:nvPr/>
        </p:nvSpPr>
        <p:spPr>
          <a:xfrm>
            <a:off x="640080" y="2103120"/>
            <a:ext cx="3611880" cy="2240280"/>
          </a:xfrm>
          <a:prstGeom prst="rect">
            <a:avLst/>
          </a:prstGeom>
          <a:noFill/>
          <a:ln/>
        </p:spPr>
        <p:txBody>
          <a:bodyPr wrap="square" lIns="0" tIns="0" rIns="0" bIns="0" rtlCol="0" anchor="t"/>
          <a:lstStyle/>
          <a:p>
            <a:pPr algn="l" indent="0" marL="0">
              <a:buNone/>
            </a:pPr>
            <a:r>
              <a:rPr lang="en-US" sz="1600" dirty="0">
                <a:solidFill>
                  <a:srgbClr val="2E2224"/>
                </a:solidFill>
                <a:latin typeface="Calibri" pitchFamily="34" charset="0"/>
                <a:ea typeface="Calibri" pitchFamily="34" charset="-122"/>
                <a:cs typeface="Calibri" pitchFamily="34" charset="-120"/>
              </a:rPr>
              <a:t>La base de una salud duradera que la mayoría de la gente subestima: la hidratación.</a:t>
            </a:r>
            <a:endParaRPr lang="en-US" sz="1600" dirty="0"/>
          </a:p>
        </p:txBody>
      </p:sp>
      <p:sp>
        <p:nvSpPr>
          <p:cNvPr id="7" name="Shape 4"/>
          <p:cNvSpPr/>
          <p:nvPr/>
        </p:nvSpPr>
        <p:spPr>
          <a:xfrm>
            <a:off x="3566160" y="1371600"/>
            <a:ext cx="640080" cy="640080"/>
          </a:xfrm>
          <a:prstGeom prst="ellipse">
            <a:avLst/>
          </a:prstGeom>
          <a:solidFill>
            <a:srgbClr val="8B9AB7"/>
          </a:solidFill>
          <a:ln w="12700">
            <a:solidFill>
              <a:srgbClr val="8B9AB7"/>
            </a:solidFill>
            <a:prstDash val="solid"/>
          </a:ln>
        </p:spPr>
      </p:sp>
      <p:sp>
        <p:nvSpPr>
          <p:cNvPr id="8" name="Text 5"/>
          <p:cNvSpPr txBox="1"/>
          <p:nvPr/>
        </p:nvSpPr>
        <p:spPr>
          <a:xfrm>
            <a:off x="3566160" y="137160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Arial" pitchFamily="34" charset="0"/>
                <a:ea typeface="Arial" pitchFamily="34" charset="-122"/>
                <a:cs typeface="Arial" pitchFamily="34" charset="-120"/>
              </a:rPr>
              <a:t>H₂O</a:t>
            </a:r>
            <a:endParaRPr lang="en-US" sz="1540" dirty="0"/>
          </a:p>
        </p:txBody>
      </p:sp>
      <p:sp>
        <p:nvSpPr>
          <p:cNvPr id="9" name="Shape 6"/>
          <p:cNvSpPr/>
          <p:nvPr/>
        </p:nvSpPr>
        <p:spPr>
          <a:xfrm>
            <a:off x="4709160" y="1188720"/>
            <a:ext cx="3977640" cy="3291840"/>
          </a:xfrm>
          <a:prstGeom prst="roundRect">
            <a:avLst>
              <a:gd name="adj" fmla="val 3333"/>
            </a:avLst>
          </a:prstGeom>
          <a:solidFill>
            <a:srgbClr val="FBEAEA"/>
          </a:solidFill>
          <a:ln w="12700">
            <a:solidFill>
              <a:srgbClr val="FBEAEA"/>
            </a:solidFill>
            <a:prstDash val="solid"/>
          </a:ln>
        </p:spPr>
      </p:sp>
      <p:sp>
        <p:nvSpPr>
          <p:cNvPr id="10" name="Text 7"/>
          <p:cNvSpPr txBox="1"/>
          <p:nvPr/>
        </p:nvSpPr>
        <p:spPr>
          <a:xfrm>
            <a:off x="4892040" y="1353312"/>
            <a:ext cx="3611880" cy="457200"/>
          </a:xfrm>
          <a:prstGeom prst="rect">
            <a:avLst/>
          </a:prstGeom>
          <a:noFill/>
          <a:ln/>
        </p:spPr>
        <p:txBody>
          <a:bodyPr wrap="square" lIns="0" tIns="0" rIns="0" bIns="0" rtlCol="0" anchor="t"/>
          <a:lstStyle/>
          <a:p>
            <a:pPr algn="l" indent="0" marL="0">
              <a:buNone/>
            </a:pPr>
            <a:r>
              <a:rPr lang="en-US" sz="2000" b="1" dirty="0">
                <a:solidFill>
                  <a:srgbClr val="2E2224"/>
                </a:solidFill>
                <a:latin typeface="Arial" pitchFamily="34" charset="0"/>
                <a:ea typeface="Arial" pitchFamily="34" charset="-122"/>
                <a:cs typeface="Arial" pitchFamily="34" charset="-120"/>
              </a:rPr>
              <a:t>LA CRISIS FINANCIERA</a:t>
            </a:r>
            <a:endParaRPr lang="en-US" sz="2000" dirty="0"/>
          </a:p>
        </p:txBody>
      </p:sp>
      <p:sp>
        <p:nvSpPr>
          <p:cNvPr id="11" name="Text 8"/>
          <p:cNvSpPr txBox="1"/>
          <p:nvPr/>
        </p:nvSpPr>
        <p:spPr>
          <a:xfrm>
            <a:off x="4892040" y="2103120"/>
            <a:ext cx="3611880" cy="2240280"/>
          </a:xfrm>
          <a:prstGeom prst="rect">
            <a:avLst/>
          </a:prstGeom>
          <a:noFill/>
          <a:ln/>
        </p:spPr>
        <p:txBody>
          <a:bodyPr wrap="square" lIns="0" tIns="0" rIns="0" bIns="0" rtlCol="0" anchor="t"/>
          <a:lstStyle/>
          <a:p>
            <a:pPr algn="l" indent="0" marL="0">
              <a:buNone/>
            </a:pPr>
            <a:r>
              <a:rPr lang="en-US" sz="1600" dirty="0">
                <a:solidFill>
                  <a:srgbClr val="2E2224"/>
                </a:solidFill>
                <a:latin typeface="Calibri" pitchFamily="34" charset="0"/>
                <a:ea typeface="Calibri" pitchFamily="34" charset="-122"/>
                <a:cs typeface="Calibri" pitchFamily="34" charset="-120"/>
              </a:rPr>
              <a:t>Una solución para crear estabilidad financiera e ingresos de legado para tus hijos.</a:t>
            </a:r>
            <a:endParaRPr lang="en-US" sz="1600" dirty="0"/>
          </a:p>
        </p:txBody>
      </p:sp>
      <p:sp>
        <p:nvSpPr>
          <p:cNvPr id="12" name="Shape 9"/>
          <p:cNvSpPr/>
          <p:nvPr/>
        </p:nvSpPr>
        <p:spPr>
          <a:xfrm>
            <a:off x="7818120" y="1371600"/>
            <a:ext cx="640080" cy="640080"/>
          </a:xfrm>
          <a:prstGeom prst="ellipse">
            <a:avLst/>
          </a:prstGeom>
          <a:solidFill>
            <a:srgbClr val="EE7A7A"/>
          </a:solidFill>
          <a:ln w="12700">
            <a:solidFill>
              <a:srgbClr val="EE7A7A"/>
            </a:solidFill>
            <a:prstDash val="solid"/>
          </a:ln>
        </p:spPr>
      </p:sp>
      <p:sp>
        <p:nvSpPr>
          <p:cNvPr id="13" name="Text 10"/>
          <p:cNvSpPr txBox="1"/>
          <p:nvPr/>
        </p:nvSpPr>
        <p:spPr>
          <a:xfrm>
            <a:off x="7818120" y="1371600"/>
            <a:ext cx="640080" cy="640080"/>
          </a:xfrm>
          <a:prstGeom prst="rect">
            <a:avLst/>
          </a:prstGeom>
          <a:noFill/>
          <a:ln/>
        </p:spPr>
        <p:txBody>
          <a:bodyPr wrap="square" lIns="0" tIns="0" rIns="0" bIns="0" rtlCol="0" anchor="ctr"/>
          <a:lstStyle/>
          <a:p>
            <a:pPr algn="ctr" indent="0" marL="0">
              <a:buNone/>
            </a:pPr>
            <a:r>
              <a:rPr lang="en-US" sz="1540" b="1" dirty="0">
                <a:solidFill>
                  <a:srgbClr val="FFFFFF"/>
                </a:solidFill>
                <a:latin typeface="Arial" pitchFamily="34" charset="0"/>
                <a:ea typeface="Arial" pitchFamily="34" charset="-122"/>
                <a:cs typeface="Arial" pitchFamily="34" charset="-120"/>
              </a:rPr>
              <a:t>$</a:t>
            </a:r>
            <a:endParaRPr lang="en-US" sz="154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E2224"/>
        </a:solidFill>
      </p:bgPr>
    </p:bg>
    <p:spTree>
      <p:nvGrpSpPr>
        <p:cNvPr id="1" name=""/>
        <p:cNvGrpSpPr/>
        <p:nvPr/>
      </p:nvGrpSpPr>
      <p:grpSpPr>
        <a:xfrm>
          <a:off x="0" y="0"/>
          <a:ext cx="0" cy="0"/>
          <a:chOff x="0" y="0"/>
          <a:chExt cx="0" cy="0"/>
        </a:xfrm>
      </p:grpSpPr>
      <p:sp>
        <p:nvSpPr>
          <p:cNvPr id="3" name="Text 0"/>
          <p:cNvSpPr txBox="1"/>
          <p:nvPr/>
        </p:nvSpPr>
        <p:spPr>
          <a:xfrm>
            <a:off x="731520" y="1188720"/>
            <a:ext cx="7680960" cy="365760"/>
          </a:xfrm>
          <a:prstGeom prst="rect">
            <a:avLst/>
          </a:prstGeom>
          <a:noFill/>
          <a:ln/>
        </p:spPr>
        <p:txBody>
          <a:bodyPr wrap="square" lIns="0" tIns="0" rIns="0" bIns="0" rtlCol="0" anchor="t"/>
          <a:lstStyle/>
          <a:p>
            <a:pPr indent="0" marL="0">
              <a:buNone/>
            </a:pPr>
            <a:r>
              <a:rPr lang="en-US" sz="1400" b="1" spc="400" kern="0" dirty="0">
                <a:solidFill>
                  <a:srgbClr val="F2C14E"/>
                </a:solidFill>
                <a:latin typeface="Calibri" pitchFamily="34" charset="0"/>
                <a:ea typeface="Calibri" pitchFamily="34" charset="-122"/>
                <a:cs typeface="Calibri" pitchFamily="34" charset="-120"/>
              </a:rPr>
              <a:t>PARTE 1</a:t>
            </a:r>
            <a:endParaRPr lang="en-US" sz="1400" dirty="0"/>
          </a:p>
        </p:txBody>
      </p:sp>
      <p:sp>
        <p:nvSpPr>
          <p:cNvPr id="4" name="Text 1"/>
          <p:cNvSpPr txBox="1"/>
          <p:nvPr/>
        </p:nvSpPr>
        <p:spPr>
          <a:xfrm>
            <a:off x="731520" y="1600200"/>
            <a:ext cx="7680960" cy="12801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La crisis de salud</a:t>
            </a:r>
            <a:endParaRPr lang="en-US" sz="4000" dirty="0"/>
          </a:p>
        </p:txBody>
      </p:sp>
      <p:sp>
        <p:nvSpPr>
          <p:cNvPr id="5" name="Shape 2"/>
          <p:cNvSpPr/>
          <p:nvPr/>
        </p:nvSpPr>
        <p:spPr>
          <a:xfrm>
            <a:off x="731520" y="3063240"/>
            <a:ext cx="5120640" cy="731520"/>
          </a:xfrm>
          <a:prstGeom prst="roundRect">
            <a:avLst>
              <a:gd name="adj" fmla="val 12500"/>
            </a:avLst>
          </a:prstGeom>
          <a:solidFill>
            <a:srgbClr val="EE7A7A"/>
          </a:solidFill>
          <a:ln w="12700">
            <a:solidFill>
              <a:srgbClr val="EE7A7A"/>
            </a:solidFill>
            <a:prstDash val="solid"/>
          </a:ln>
        </p:spPr>
      </p:sp>
      <p:sp>
        <p:nvSpPr>
          <p:cNvPr id="6" name="Text 3"/>
          <p:cNvSpPr txBox="1"/>
          <p:nvPr/>
        </p:nvSpPr>
        <p:spPr>
          <a:xfrm>
            <a:off x="914400" y="3063240"/>
            <a:ext cx="47548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Una hidratación adecuada es la base de nuestra salud</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457200" y="914400"/>
            <a:ext cx="4114800" cy="2011680"/>
          </a:xfrm>
          <a:prstGeom prst="rect">
            <a:avLst/>
          </a:prstGeom>
          <a:noFill/>
          <a:ln/>
        </p:spPr>
        <p:txBody>
          <a:bodyPr wrap="square" lIns="0" tIns="0" rIns="0" bIns="0" rtlCol="0" anchor="ctr"/>
          <a:lstStyle/>
          <a:p>
            <a:pPr indent="0" marL="0">
              <a:buNone/>
            </a:pPr>
            <a:r>
              <a:rPr lang="en-US" sz="11000" b="1" dirty="0">
                <a:solidFill>
                  <a:srgbClr val="8B9AB7"/>
                </a:solidFill>
                <a:latin typeface="Arial" pitchFamily="34" charset="0"/>
                <a:ea typeface="Arial" pitchFamily="34" charset="-122"/>
                <a:cs typeface="Arial" pitchFamily="34" charset="-120"/>
              </a:rPr>
              <a:t>&gt;70%</a:t>
            </a:r>
            <a:endParaRPr lang="en-US" sz="11000" dirty="0"/>
          </a:p>
        </p:txBody>
      </p:sp>
      <p:sp>
        <p:nvSpPr>
          <p:cNvPr id="4" name="Text 1"/>
          <p:cNvSpPr txBox="1"/>
          <p:nvPr/>
        </p:nvSpPr>
        <p:spPr>
          <a:xfrm>
            <a:off x="4572000" y="1280160"/>
            <a:ext cx="4114800" cy="137160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El cuerpo humano está compuesto por más de un 70% de agua.</a:t>
            </a:r>
            <a:endParaRPr lang="en-US" sz="2400" dirty="0"/>
          </a:p>
        </p:txBody>
      </p:sp>
      <p:sp>
        <p:nvSpPr>
          <p:cNvPr id="5" name="Text 2"/>
          <p:cNvSpPr txBox="1"/>
          <p:nvPr/>
        </p:nvSpPr>
        <p:spPr>
          <a:xfrm>
            <a:off x="457200" y="3474720"/>
            <a:ext cx="8229600" cy="548640"/>
          </a:xfrm>
          <a:prstGeom prst="rect">
            <a:avLst/>
          </a:prstGeom>
          <a:noFill/>
          <a:ln/>
        </p:spPr>
        <p:txBody>
          <a:bodyPr wrap="square" lIns="0" tIns="0" rIns="0" bIns="0" rtlCol="0" anchor="t"/>
          <a:lstStyle/>
          <a:p>
            <a:pPr indent="0" marL="0">
              <a:buNone/>
            </a:pPr>
            <a:r>
              <a:rPr lang="en-US" sz="1600" i="1" dirty="0">
                <a:solidFill>
                  <a:srgbClr val="B9D3B1"/>
                </a:solidFill>
                <a:latin typeface="Calibri" pitchFamily="34" charset="0"/>
                <a:ea typeface="Calibri" pitchFamily="34" charset="-122"/>
                <a:cs typeface="Calibri" pitchFamily="34" charset="-120"/>
              </a:rPr>
              <a:t>Si el agua es la base, la calidad del agua que bebemos importa.</a:t>
            </a:r>
            <a:endParaRPr lang="en-US" sz="1600" dirty="0"/>
          </a:p>
        </p:txBody>
      </p:sp>
      <p:sp>
        <p:nvSpPr>
          <p:cNvPr id="6"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El problema del agua del grifo</a:t>
            </a:r>
            <a:endParaRPr lang="en-US" sz="2600" dirty="0"/>
          </a:p>
        </p:txBody>
      </p:sp>
      <p:sp>
        <p:nvSpPr>
          <p:cNvPr id="4" name="Text 1"/>
          <p:cNvSpPr txBox="1"/>
          <p:nvPr/>
        </p:nvSpPr>
        <p:spPr>
          <a:xfrm>
            <a:off x="457200" y="1188720"/>
            <a:ext cx="3291840" cy="1828800"/>
          </a:xfrm>
          <a:prstGeom prst="rect">
            <a:avLst/>
          </a:prstGeom>
          <a:noFill/>
          <a:ln/>
        </p:spPr>
        <p:txBody>
          <a:bodyPr wrap="square" lIns="0" tIns="0" rIns="0" bIns="0" rtlCol="0" anchor="t"/>
          <a:lstStyle/>
          <a:p>
            <a:pPr indent="0" marL="0">
              <a:buNone/>
            </a:pPr>
            <a:r>
              <a:rPr lang="en-US" sz="1500" i="1" dirty="0">
                <a:solidFill>
                  <a:srgbClr val="2E2224"/>
                </a:solidFill>
                <a:latin typeface="Calibri" pitchFamily="34" charset="0"/>
                <a:ea typeface="Calibri" pitchFamily="34" charset="-122"/>
                <a:cs typeface="Calibri" pitchFamily="34" charset="-120"/>
              </a:rPr>
              <a:t>La Agencia de Protección Ambiental de EE. UU. (EPA) ha identificado más de 80 contaminantes regulados en el agua del grifo, entre ellos Cryptosporidium, Giardia y E. coli.</a:t>
            </a:r>
            <a:endParaRPr lang="en-US" sz="1500" dirty="0"/>
          </a:p>
        </p:txBody>
      </p:sp>
      <p:sp>
        <p:nvSpPr>
          <p:cNvPr id="5" name="Text 2"/>
          <p:cNvSpPr txBox="1"/>
          <p:nvPr/>
        </p:nvSpPr>
        <p:spPr>
          <a:xfrm>
            <a:off x="457200" y="3108960"/>
            <a:ext cx="3291840" cy="1463040"/>
          </a:xfrm>
          <a:prstGeom prst="rect">
            <a:avLst/>
          </a:prstGeom>
          <a:noFill/>
          <a:ln/>
        </p:spPr>
        <p:txBody>
          <a:bodyPr wrap="square" lIns="0" tIns="0" rIns="0" bIns="0" rtlCol="0" anchor="t"/>
          <a:lstStyle/>
          <a:p>
            <a:pPr indent="0" marL="0">
              <a:buNone/>
            </a:pPr>
            <a:r>
              <a:rPr lang="en-US" sz="1200" dirty="0">
                <a:solidFill>
                  <a:srgbClr val="6B5F61"/>
                </a:solidFill>
                <a:latin typeface="Calibri" pitchFamily="34" charset="0"/>
                <a:ea typeface="Calibri" pitchFamily="34" charset="-122"/>
                <a:cs typeface="Calibri" pitchFamily="34" charset="-120"/>
              </a:rPr>
              <a:t>Según un análisis de EWG de más de 31 millones de registros estatales, desde 2013 las pruebas han encontrado contaminantes en el agua del grifo. Consulta tu zona en ewg.org/tapwater.</a:t>
            </a:r>
            <a:endParaRPr lang="en-US" sz="1200" dirty="0"/>
          </a:p>
        </p:txBody>
      </p:sp>
      <p:sp>
        <p:nvSpPr>
          <p:cNvPr id="6" name="Shape 3"/>
          <p:cNvSpPr/>
          <p:nvPr/>
        </p:nvSpPr>
        <p:spPr>
          <a:xfrm>
            <a:off x="4114800" y="1188720"/>
            <a:ext cx="1417320" cy="685800"/>
          </a:xfrm>
          <a:prstGeom prst="roundRect">
            <a:avLst>
              <a:gd name="adj" fmla="val 20000"/>
            </a:avLst>
          </a:prstGeom>
          <a:solidFill>
            <a:srgbClr val="EE7A7A"/>
          </a:solidFill>
          <a:ln w="12700">
            <a:solidFill>
              <a:srgbClr val="EE7A7A"/>
            </a:solidFill>
            <a:prstDash val="solid"/>
          </a:ln>
        </p:spPr>
      </p:sp>
      <p:sp>
        <p:nvSpPr>
          <p:cNvPr id="7" name="Text 4"/>
          <p:cNvSpPr txBox="1"/>
          <p:nvPr/>
        </p:nvSpPr>
        <p:spPr>
          <a:xfrm>
            <a:off x="4114800" y="1188720"/>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Fármacos</a:t>
            </a:r>
            <a:endParaRPr lang="en-US" sz="1300" dirty="0"/>
          </a:p>
        </p:txBody>
      </p:sp>
      <p:sp>
        <p:nvSpPr>
          <p:cNvPr id="8" name="Shape 5"/>
          <p:cNvSpPr/>
          <p:nvPr/>
        </p:nvSpPr>
        <p:spPr>
          <a:xfrm>
            <a:off x="5669280" y="1188720"/>
            <a:ext cx="1417320" cy="685800"/>
          </a:xfrm>
          <a:prstGeom prst="roundRect">
            <a:avLst>
              <a:gd name="adj" fmla="val 20000"/>
            </a:avLst>
          </a:prstGeom>
          <a:solidFill>
            <a:srgbClr val="B9D3B1"/>
          </a:solidFill>
          <a:ln w="12700">
            <a:solidFill>
              <a:srgbClr val="B9D3B1"/>
            </a:solidFill>
            <a:prstDash val="solid"/>
          </a:ln>
        </p:spPr>
      </p:sp>
      <p:sp>
        <p:nvSpPr>
          <p:cNvPr id="9" name="Text 6"/>
          <p:cNvSpPr txBox="1"/>
          <p:nvPr/>
        </p:nvSpPr>
        <p:spPr>
          <a:xfrm>
            <a:off x="5669280" y="1188720"/>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Plomo</a:t>
            </a:r>
            <a:endParaRPr lang="en-US" sz="1300" dirty="0"/>
          </a:p>
        </p:txBody>
      </p:sp>
      <p:sp>
        <p:nvSpPr>
          <p:cNvPr id="10" name="Shape 7"/>
          <p:cNvSpPr/>
          <p:nvPr/>
        </p:nvSpPr>
        <p:spPr>
          <a:xfrm>
            <a:off x="7223760" y="1188720"/>
            <a:ext cx="1417320" cy="685800"/>
          </a:xfrm>
          <a:prstGeom prst="roundRect">
            <a:avLst>
              <a:gd name="adj" fmla="val 20000"/>
            </a:avLst>
          </a:prstGeom>
          <a:solidFill>
            <a:srgbClr val="8B9AB7"/>
          </a:solidFill>
          <a:ln w="12700">
            <a:solidFill>
              <a:srgbClr val="8B9AB7"/>
            </a:solidFill>
            <a:prstDash val="solid"/>
          </a:ln>
        </p:spPr>
      </p:sp>
      <p:sp>
        <p:nvSpPr>
          <p:cNvPr id="11" name="Text 8"/>
          <p:cNvSpPr txBox="1"/>
          <p:nvPr/>
        </p:nvSpPr>
        <p:spPr>
          <a:xfrm>
            <a:off x="7223760" y="1188720"/>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Cloro</a:t>
            </a:r>
            <a:endParaRPr lang="en-US" sz="1300" dirty="0"/>
          </a:p>
        </p:txBody>
      </p:sp>
      <p:sp>
        <p:nvSpPr>
          <p:cNvPr id="12" name="Shape 9"/>
          <p:cNvSpPr/>
          <p:nvPr/>
        </p:nvSpPr>
        <p:spPr>
          <a:xfrm>
            <a:off x="4114800" y="2029968"/>
            <a:ext cx="1417320" cy="685800"/>
          </a:xfrm>
          <a:prstGeom prst="roundRect">
            <a:avLst>
              <a:gd name="adj" fmla="val 20000"/>
            </a:avLst>
          </a:prstGeom>
          <a:solidFill>
            <a:srgbClr val="B9D3B1"/>
          </a:solidFill>
          <a:ln w="12700">
            <a:solidFill>
              <a:srgbClr val="B9D3B1"/>
            </a:solidFill>
            <a:prstDash val="solid"/>
          </a:ln>
        </p:spPr>
      </p:sp>
      <p:sp>
        <p:nvSpPr>
          <p:cNvPr id="13" name="Text 10"/>
          <p:cNvSpPr txBox="1"/>
          <p:nvPr/>
        </p:nvSpPr>
        <p:spPr>
          <a:xfrm>
            <a:off x="4114800" y="2029968"/>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Arsénico</a:t>
            </a:r>
            <a:endParaRPr lang="en-US" sz="1300" dirty="0"/>
          </a:p>
        </p:txBody>
      </p:sp>
      <p:sp>
        <p:nvSpPr>
          <p:cNvPr id="14" name="Shape 11"/>
          <p:cNvSpPr/>
          <p:nvPr/>
        </p:nvSpPr>
        <p:spPr>
          <a:xfrm>
            <a:off x="5669280" y="2029968"/>
            <a:ext cx="1417320" cy="685800"/>
          </a:xfrm>
          <a:prstGeom prst="roundRect">
            <a:avLst>
              <a:gd name="adj" fmla="val 20000"/>
            </a:avLst>
          </a:prstGeom>
          <a:solidFill>
            <a:srgbClr val="8B9AB7"/>
          </a:solidFill>
          <a:ln w="12700">
            <a:solidFill>
              <a:srgbClr val="8B9AB7"/>
            </a:solidFill>
            <a:prstDash val="solid"/>
          </a:ln>
        </p:spPr>
      </p:sp>
      <p:sp>
        <p:nvSpPr>
          <p:cNvPr id="15" name="Text 12"/>
          <p:cNvSpPr txBox="1"/>
          <p:nvPr/>
        </p:nvSpPr>
        <p:spPr>
          <a:xfrm>
            <a:off x="5669280" y="2029968"/>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Pesticidas</a:t>
            </a:r>
            <a:endParaRPr lang="en-US" sz="1300" dirty="0"/>
          </a:p>
        </p:txBody>
      </p:sp>
      <p:sp>
        <p:nvSpPr>
          <p:cNvPr id="16" name="Shape 13"/>
          <p:cNvSpPr/>
          <p:nvPr/>
        </p:nvSpPr>
        <p:spPr>
          <a:xfrm>
            <a:off x="7223760" y="2029968"/>
            <a:ext cx="1417320" cy="685800"/>
          </a:xfrm>
          <a:prstGeom prst="roundRect">
            <a:avLst>
              <a:gd name="adj" fmla="val 20000"/>
            </a:avLst>
          </a:prstGeom>
          <a:solidFill>
            <a:srgbClr val="EE7A7A"/>
          </a:solidFill>
          <a:ln w="12700">
            <a:solidFill>
              <a:srgbClr val="EE7A7A"/>
            </a:solidFill>
            <a:prstDash val="solid"/>
          </a:ln>
        </p:spPr>
      </p:sp>
      <p:sp>
        <p:nvSpPr>
          <p:cNvPr id="17" name="Text 14"/>
          <p:cNvSpPr txBox="1"/>
          <p:nvPr/>
        </p:nvSpPr>
        <p:spPr>
          <a:xfrm>
            <a:off x="7223760" y="2029968"/>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Hormonas</a:t>
            </a:r>
            <a:endParaRPr lang="en-US" sz="1300" dirty="0"/>
          </a:p>
        </p:txBody>
      </p:sp>
      <p:sp>
        <p:nvSpPr>
          <p:cNvPr id="18" name="Shape 15"/>
          <p:cNvSpPr/>
          <p:nvPr/>
        </p:nvSpPr>
        <p:spPr>
          <a:xfrm>
            <a:off x="4114800" y="2871216"/>
            <a:ext cx="1417320" cy="685800"/>
          </a:xfrm>
          <a:prstGeom prst="roundRect">
            <a:avLst>
              <a:gd name="adj" fmla="val 20000"/>
            </a:avLst>
          </a:prstGeom>
          <a:solidFill>
            <a:srgbClr val="8B9AB7"/>
          </a:solidFill>
          <a:ln w="12700">
            <a:solidFill>
              <a:srgbClr val="8B9AB7"/>
            </a:solidFill>
            <a:prstDash val="solid"/>
          </a:ln>
        </p:spPr>
      </p:sp>
      <p:sp>
        <p:nvSpPr>
          <p:cNvPr id="19" name="Text 16"/>
          <p:cNvSpPr txBox="1"/>
          <p:nvPr/>
        </p:nvSpPr>
        <p:spPr>
          <a:xfrm>
            <a:off x="4114800" y="2871216"/>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Flúor</a:t>
            </a:r>
            <a:endParaRPr lang="en-US" sz="1300" dirty="0"/>
          </a:p>
        </p:txBody>
      </p:sp>
      <p:sp>
        <p:nvSpPr>
          <p:cNvPr id="20" name="Shape 17"/>
          <p:cNvSpPr/>
          <p:nvPr/>
        </p:nvSpPr>
        <p:spPr>
          <a:xfrm>
            <a:off x="5669280" y="2871216"/>
            <a:ext cx="1417320" cy="685800"/>
          </a:xfrm>
          <a:prstGeom prst="roundRect">
            <a:avLst>
              <a:gd name="adj" fmla="val 20000"/>
            </a:avLst>
          </a:prstGeom>
          <a:solidFill>
            <a:srgbClr val="EE7A7A"/>
          </a:solidFill>
          <a:ln w="12700">
            <a:solidFill>
              <a:srgbClr val="EE7A7A"/>
            </a:solidFill>
            <a:prstDash val="solid"/>
          </a:ln>
        </p:spPr>
      </p:sp>
      <p:sp>
        <p:nvSpPr>
          <p:cNvPr id="21" name="Text 18"/>
          <p:cNvSpPr txBox="1"/>
          <p:nvPr/>
        </p:nvSpPr>
        <p:spPr>
          <a:xfrm>
            <a:off x="5669280" y="2871216"/>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Bacterias</a:t>
            </a:r>
            <a:endParaRPr lang="en-US" sz="1300" dirty="0"/>
          </a:p>
        </p:txBody>
      </p:sp>
      <p:sp>
        <p:nvSpPr>
          <p:cNvPr id="22" name="Shape 19"/>
          <p:cNvSpPr/>
          <p:nvPr/>
        </p:nvSpPr>
        <p:spPr>
          <a:xfrm>
            <a:off x="7223760" y="2871216"/>
            <a:ext cx="1417320" cy="685800"/>
          </a:xfrm>
          <a:prstGeom prst="roundRect">
            <a:avLst>
              <a:gd name="adj" fmla="val 20000"/>
            </a:avLst>
          </a:prstGeom>
          <a:solidFill>
            <a:srgbClr val="EE7A7A"/>
          </a:solidFill>
          <a:ln w="12700">
            <a:solidFill>
              <a:srgbClr val="EE7A7A"/>
            </a:solidFill>
            <a:prstDash val="solid"/>
          </a:ln>
        </p:spPr>
      </p:sp>
      <p:sp>
        <p:nvSpPr>
          <p:cNvPr id="23" name="Text 20"/>
          <p:cNvSpPr txBox="1"/>
          <p:nvPr/>
        </p:nvSpPr>
        <p:spPr>
          <a:xfrm>
            <a:off x="7223760" y="2871216"/>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Mat. radiactivo</a:t>
            </a:r>
            <a:endParaRPr lang="en-US" sz="1300" dirty="0"/>
          </a:p>
        </p:txBody>
      </p:sp>
      <p:sp>
        <p:nvSpPr>
          <p:cNvPr id="24" name="Shape 21"/>
          <p:cNvSpPr/>
          <p:nvPr/>
        </p:nvSpPr>
        <p:spPr>
          <a:xfrm>
            <a:off x="4114800" y="3712464"/>
            <a:ext cx="1417320" cy="685800"/>
          </a:xfrm>
          <a:prstGeom prst="roundRect">
            <a:avLst>
              <a:gd name="adj" fmla="val 20000"/>
            </a:avLst>
          </a:prstGeom>
          <a:solidFill>
            <a:srgbClr val="EE7A7A"/>
          </a:solidFill>
          <a:ln w="12700">
            <a:solidFill>
              <a:srgbClr val="EE7A7A"/>
            </a:solidFill>
            <a:prstDash val="solid"/>
          </a:ln>
        </p:spPr>
      </p:sp>
      <p:sp>
        <p:nvSpPr>
          <p:cNvPr id="25" name="Text 22"/>
          <p:cNvSpPr txBox="1"/>
          <p:nvPr/>
        </p:nvSpPr>
        <p:spPr>
          <a:xfrm>
            <a:off x="4114800" y="3712464"/>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Patógenos</a:t>
            </a:r>
            <a:endParaRPr lang="en-US" sz="1300" dirty="0"/>
          </a:p>
        </p:txBody>
      </p:sp>
      <p:sp>
        <p:nvSpPr>
          <p:cNvPr id="26" name="Shape 23"/>
          <p:cNvSpPr/>
          <p:nvPr/>
        </p:nvSpPr>
        <p:spPr>
          <a:xfrm>
            <a:off x="5669280" y="3712464"/>
            <a:ext cx="1417320" cy="685800"/>
          </a:xfrm>
          <a:prstGeom prst="roundRect">
            <a:avLst>
              <a:gd name="adj" fmla="val 20000"/>
            </a:avLst>
          </a:prstGeom>
          <a:solidFill>
            <a:srgbClr val="EE7A7A"/>
          </a:solidFill>
          <a:ln w="12700">
            <a:solidFill>
              <a:srgbClr val="EE7A7A"/>
            </a:solidFill>
            <a:prstDash val="solid"/>
          </a:ln>
        </p:spPr>
      </p:sp>
      <p:sp>
        <p:nvSpPr>
          <p:cNvPr id="27" name="Text 24"/>
          <p:cNvSpPr txBox="1"/>
          <p:nvPr/>
        </p:nvSpPr>
        <p:spPr>
          <a:xfrm>
            <a:off x="5669280" y="3712464"/>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Aluminio</a:t>
            </a:r>
            <a:endParaRPr lang="en-US" sz="1300" dirty="0"/>
          </a:p>
        </p:txBody>
      </p:sp>
      <p:sp>
        <p:nvSpPr>
          <p:cNvPr id="28" name="Shape 25"/>
          <p:cNvSpPr/>
          <p:nvPr/>
        </p:nvSpPr>
        <p:spPr>
          <a:xfrm>
            <a:off x="7223760" y="3712464"/>
            <a:ext cx="1417320" cy="685800"/>
          </a:xfrm>
          <a:prstGeom prst="roundRect">
            <a:avLst>
              <a:gd name="adj" fmla="val 20000"/>
            </a:avLst>
          </a:prstGeom>
          <a:solidFill>
            <a:srgbClr val="B9D3B1"/>
          </a:solidFill>
          <a:ln w="12700">
            <a:solidFill>
              <a:srgbClr val="B9D3B1"/>
            </a:solidFill>
            <a:prstDash val="solid"/>
          </a:ln>
        </p:spPr>
      </p:sp>
      <p:sp>
        <p:nvSpPr>
          <p:cNvPr id="29" name="Text 26"/>
          <p:cNvSpPr txBox="1"/>
          <p:nvPr/>
        </p:nvSpPr>
        <p:spPr>
          <a:xfrm>
            <a:off x="7223760" y="3712464"/>
            <a:ext cx="1417320" cy="685800"/>
          </a:xfrm>
          <a:prstGeom prst="rect">
            <a:avLst/>
          </a:prstGeom>
          <a:noFill/>
          <a:ln/>
        </p:spPr>
        <p:txBody>
          <a:bodyPr wrap="square" lIns="0" tIns="0" rIns="0" bIns="0" rtlCol="0" anchor="ctr"/>
          <a:lstStyle/>
          <a:p>
            <a:pPr algn="ctr" indent="0" marL="0">
              <a:buNone/>
            </a:pPr>
            <a:r>
              <a:rPr lang="en-US" sz="1300" b="1" dirty="0">
                <a:solidFill>
                  <a:srgbClr val="2E2224"/>
                </a:solidFill>
                <a:latin typeface="Calibri" pitchFamily="34" charset="0"/>
                <a:ea typeface="Calibri" pitchFamily="34" charset="-122"/>
                <a:cs typeface="Calibri" pitchFamily="34" charset="-120"/>
              </a:rPr>
              <a:t>Microplásticos</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Grifo vs. ósmosis inversa vs. filtros</a:t>
            </a:r>
            <a:endParaRPr lang="en-US" sz="2600" dirty="0"/>
          </a:p>
        </p:txBody>
      </p:sp>
      <p:sp>
        <p:nvSpPr>
          <p:cNvPr id="4" name="Shape 1"/>
          <p:cNvSpPr/>
          <p:nvPr/>
        </p:nvSpPr>
        <p:spPr>
          <a:xfrm>
            <a:off x="457200" y="1097280"/>
            <a:ext cx="2651760" cy="594360"/>
          </a:xfrm>
          <a:prstGeom prst="rect">
            <a:avLst/>
          </a:prstGeom>
          <a:solidFill>
            <a:srgbClr val="EE7A7A"/>
          </a:solidFill>
          <a:ln w="12700">
            <a:solidFill>
              <a:srgbClr val="EE7A7A"/>
            </a:solidFill>
            <a:prstDash val="solid"/>
          </a:ln>
        </p:spPr>
      </p:sp>
      <p:sp>
        <p:nvSpPr>
          <p:cNvPr id="5" name="Text 2"/>
          <p:cNvSpPr txBox="1"/>
          <p:nvPr/>
        </p:nvSpPr>
        <p:spPr>
          <a:xfrm>
            <a:off x="457200" y="1097280"/>
            <a:ext cx="26517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AGUA DEL GRIFO</a:t>
            </a:r>
            <a:endParaRPr lang="en-US" sz="1400" dirty="0"/>
          </a:p>
        </p:txBody>
      </p:sp>
      <p:sp>
        <p:nvSpPr>
          <p:cNvPr id="6" name="Shape 3"/>
          <p:cNvSpPr/>
          <p:nvPr/>
        </p:nvSpPr>
        <p:spPr>
          <a:xfrm>
            <a:off x="457200" y="1691640"/>
            <a:ext cx="2651760" cy="3017520"/>
          </a:xfrm>
          <a:prstGeom prst="rect">
            <a:avLst/>
          </a:prstGeom>
          <a:solidFill>
            <a:srgbClr val="F7F5F5"/>
          </a:solidFill>
          <a:ln w="12700">
            <a:solidFill>
              <a:srgbClr val="F7F5F5"/>
            </a:solidFill>
            <a:prstDash val="solid"/>
          </a:ln>
        </p:spPr>
      </p:sp>
      <p:sp>
        <p:nvSpPr>
          <p:cNvPr id="7" name="Text 4"/>
          <p:cNvSpPr txBox="1"/>
          <p:nvPr/>
        </p:nvSpPr>
        <p:spPr>
          <a:xfrm>
            <a:off x="594360" y="1828800"/>
            <a:ext cx="2377440" cy="28346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Tratada con cloro, cloramina y flúor</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Puede contener restos de fármacos, pesticidas y contaminantes</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A menudo contiene microplásticos y metales pesados</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La calidad varía mucho según la zona y la infraestructura</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Deshidrata a nivel celular</a:t>
            </a:r>
            <a:endParaRPr lang="en-US" sz="1150" dirty="0"/>
          </a:p>
        </p:txBody>
      </p:sp>
      <p:sp>
        <p:nvSpPr>
          <p:cNvPr id="8" name="Shape 5"/>
          <p:cNvSpPr/>
          <p:nvPr/>
        </p:nvSpPr>
        <p:spPr>
          <a:xfrm>
            <a:off x="3246120" y="1097280"/>
            <a:ext cx="2651760" cy="594360"/>
          </a:xfrm>
          <a:prstGeom prst="rect">
            <a:avLst/>
          </a:prstGeom>
          <a:solidFill>
            <a:srgbClr val="8B9AB7"/>
          </a:solidFill>
          <a:ln w="12700">
            <a:solidFill>
              <a:srgbClr val="8B9AB7"/>
            </a:solidFill>
            <a:prstDash val="solid"/>
          </a:ln>
        </p:spPr>
      </p:sp>
      <p:sp>
        <p:nvSpPr>
          <p:cNvPr id="9" name="Text 6"/>
          <p:cNvSpPr txBox="1"/>
          <p:nvPr/>
        </p:nvSpPr>
        <p:spPr>
          <a:xfrm>
            <a:off x="3246120" y="1097280"/>
            <a:ext cx="26517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ÓSMOSIS INVERSA</a:t>
            </a:r>
            <a:endParaRPr lang="en-US" sz="1400" dirty="0"/>
          </a:p>
        </p:txBody>
      </p:sp>
      <p:sp>
        <p:nvSpPr>
          <p:cNvPr id="10" name="Shape 7"/>
          <p:cNvSpPr/>
          <p:nvPr/>
        </p:nvSpPr>
        <p:spPr>
          <a:xfrm>
            <a:off x="3246120" y="1691640"/>
            <a:ext cx="2651760" cy="3017520"/>
          </a:xfrm>
          <a:prstGeom prst="rect">
            <a:avLst/>
          </a:prstGeom>
          <a:solidFill>
            <a:srgbClr val="F7F5F5"/>
          </a:solidFill>
          <a:ln w="12700">
            <a:solidFill>
              <a:srgbClr val="F7F5F5"/>
            </a:solidFill>
            <a:prstDash val="solid"/>
          </a:ln>
        </p:spPr>
      </p:sp>
      <p:sp>
        <p:nvSpPr>
          <p:cNvPr id="11" name="Text 8"/>
          <p:cNvSpPr txBox="1"/>
          <p:nvPr/>
        </p:nvSpPr>
        <p:spPr>
          <a:xfrm>
            <a:off x="3383280" y="1828800"/>
            <a:ext cx="2377440" cy="28346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Elimina contaminantes, pero también minerales beneficiosos</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Agua muy purificada, «muerta» o sin vitalidad</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Suele requerir remineralización</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Puede tener un pH más bajo que el agua natural</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Sabe plana por la falta de minerales</a:t>
            </a:r>
            <a:endParaRPr lang="en-US" sz="1150" dirty="0"/>
          </a:p>
        </p:txBody>
      </p:sp>
      <p:sp>
        <p:nvSpPr>
          <p:cNvPr id="12" name="Shape 9"/>
          <p:cNvSpPr/>
          <p:nvPr/>
        </p:nvSpPr>
        <p:spPr>
          <a:xfrm>
            <a:off x="6035040" y="1097280"/>
            <a:ext cx="2651760" cy="594360"/>
          </a:xfrm>
          <a:prstGeom prst="rect">
            <a:avLst/>
          </a:prstGeom>
          <a:solidFill>
            <a:srgbClr val="B9D3B1"/>
          </a:solidFill>
          <a:ln w="12700">
            <a:solidFill>
              <a:srgbClr val="B9D3B1"/>
            </a:solidFill>
            <a:prstDash val="solid"/>
          </a:ln>
        </p:spPr>
      </p:sp>
      <p:sp>
        <p:nvSpPr>
          <p:cNvPr id="13" name="Text 10"/>
          <p:cNvSpPr txBox="1"/>
          <p:nvPr/>
        </p:nvSpPr>
        <p:spPr>
          <a:xfrm>
            <a:off x="6035040" y="1097280"/>
            <a:ext cx="265176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BERKEY / FILTRO</a:t>
            </a:r>
            <a:endParaRPr lang="en-US" sz="1400" dirty="0"/>
          </a:p>
        </p:txBody>
      </p:sp>
      <p:sp>
        <p:nvSpPr>
          <p:cNvPr id="14" name="Shape 11"/>
          <p:cNvSpPr/>
          <p:nvPr/>
        </p:nvSpPr>
        <p:spPr>
          <a:xfrm>
            <a:off x="6035040" y="1691640"/>
            <a:ext cx="2651760" cy="3017520"/>
          </a:xfrm>
          <a:prstGeom prst="rect">
            <a:avLst/>
          </a:prstGeom>
          <a:solidFill>
            <a:srgbClr val="F7F5F5"/>
          </a:solidFill>
          <a:ln w="12700">
            <a:solidFill>
              <a:srgbClr val="F7F5F5"/>
            </a:solidFill>
            <a:prstDash val="solid"/>
          </a:ln>
        </p:spPr>
      </p:sp>
      <p:sp>
        <p:nvSpPr>
          <p:cNvPr id="15" name="Text 12"/>
          <p:cNvSpPr txBox="1"/>
          <p:nvPr/>
        </p:nvSpPr>
        <p:spPr>
          <a:xfrm>
            <a:off x="6172200" y="1828800"/>
            <a:ext cx="2377440" cy="283464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Filtra contaminantes, pero no transforma el agua</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La calidad depende del estado y mantenimiento del filtro</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No aporta propiedades adicionales de bienestar</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Centrado en filtrar más que en hidratar la célula</a:t>
            </a:r>
            <a:endParaRPr lang="en-US" sz="1150" dirty="0"/>
          </a:p>
          <a:p>
            <a:pPr marL="342900" indent="-342900">
              <a:spcAft>
                <a:spcPts val="400"/>
              </a:spcAft>
              <a:buSzPct val="100000"/>
              <a:buChar char="•"/>
            </a:pPr>
            <a:r>
              <a:rPr lang="en-US" sz="1150" dirty="0">
                <a:solidFill>
                  <a:srgbClr val="2E2224"/>
                </a:solidFill>
                <a:latin typeface="Calibri" pitchFamily="34" charset="0"/>
                <a:ea typeface="Calibri" pitchFamily="34" charset="-122"/>
                <a:cs typeface="Calibri" pitchFamily="34" charset="-120"/>
              </a:rPr>
              <a:t>Deja el agua con sabor plano</a:t>
            </a:r>
            <a:endParaRPr lang="en-US" sz="115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Por qué el agua embotellada no es la solución</a:t>
            </a:r>
            <a:endParaRPr lang="en-US" sz="2600" dirty="0"/>
          </a:p>
        </p:txBody>
      </p:sp>
      <p:sp>
        <p:nvSpPr>
          <p:cNvPr id="4" name="Text 1"/>
          <p:cNvSpPr txBox="1"/>
          <p:nvPr/>
        </p:nvSpPr>
        <p:spPr>
          <a:xfrm>
            <a:off x="457200" y="1188720"/>
            <a:ext cx="4206240" cy="2011680"/>
          </a:xfrm>
          <a:prstGeom prst="rect">
            <a:avLst/>
          </a:prstGeom>
          <a:noFill/>
          <a:ln/>
        </p:spPr>
        <p:txBody>
          <a:bodyPr wrap="square" lIns="0" tIns="0" rIns="0" bIns="0" rtlCol="0" anchor="t"/>
          <a:lstStyle/>
          <a:p>
            <a:pPr indent="0" marL="0">
              <a:buNone/>
            </a:pPr>
            <a:r>
              <a:rPr lang="en-US" sz="1400" b="1" dirty="0">
                <a:solidFill>
                  <a:srgbClr val="2E2224"/>
                </a:solidFill>
                <a:latin typeface="Calibri" pitchFamily="34" charset="0"/>
                <a:ea typeface="Calibri" pitchFamily="34" charset="-122"/>
                <a:cs typeface="Calibri" pitchFamily="34" charset="-120"/>
              </a:rPr>
              <a:t>Microplásticos: </a:t>
            </a:r>
            <a:pPr indent="0" marL="0">
              <a:buNone/>
            </a:pPr>
            <a:r>
              <a:rPr lang="en-US" sz="1400" dirty="0">
                <a:solidFill>
                  <a:srgbClr val="2E2224"/>
                </a:solidFill>
                <a:latin typeface="Calibri" pitchFamily="34" charset="0"/>
                <a:ea typeface="Calibri" pitchFamily="34" charset="-122"/>
                <a:cs typeface="Calibri" pitchFamily="34" charset="-120"/>
              </a:rPr>
              <a:t>fragmentos de plástico milimétricos que son tóxicos para el cuerpo. Contienen sustancias que incluyen </a:t>
            </a:r>
            <a:pPr indent="0" marL="0">
              <a:buNone/>
            </a:pPr>
            <a:r>
              <a:rPr lang="en-US" sz="1400" b="1" dirty="0">
                <a:solidFill>
                  <a:srgbClr val="2E2224"/>
                </a:solidFill>
                <a:latin typeface="Calibri" pitchFamily="34" charset="0"/>
                <a:ea typeface="Calibri" pitchFamily="34" charset="-122"/>
                <a:cs typeface="Calibri" pitchFamily="34" charset="-120"/>
              </a:rPr>
              <a:t>neurotoxinas, carcinógenos y disruptores endocrinos</a:t>
            </a:r>
            <a:pPr indent="0" marL="0">
              <a:buNone/>
            </a:pPr>
            <a:r>
              <a:rPr lang="en-US" sz="1400" dirty="0">
                <a:solidFill>
                  <a:srgbClr val="2E2224"/>
                </a:solidFill>
                <a:latin typeface="Calibri" pitchFamily="34" charset="0"/>
                <a:ea typeface="Calibri" pitchFamily="34" charset="-122"/>
                <a:cs typeface="Calibri" pitchFamily="34" charset="-120"/>
              </a:rPr>
              <a:t>. El sistema endocrino regula nuestro equilibrio hormonal y nuestra energía.</a:t>
            </a:r>
            <a:endParaRPr lang="en-US" sz="1400" dirty="0"/>
          </a:p>
        </p:txBody>
      </p:sp>
      <p:sp>
        <p:nvSpPr>
          <p:cNvPr id="5" name="Shape 2"/>
          <p:cNvSpPr/>
          <p:nvPr/>
        </p:nvSpPr>
        <p:spPr>
          <a:xfrm>
            <a:off x="5029200" y="1188720"/>
            <a:ext cx="3657600" cy="1554480"/>
          </a:xfrm>
          <a:prstGeom prst="roundRect">
            <a:avLst>
              <a:gd name="adj" fmla="val 7059"/>
            </a:avLst>
          </a:prstGeom>
          <a:solidFill>
            <a:srgbClr val="EE7A7A"/>
          </a:solidFill>
          <a:ln w="12700">
            <a:solidFill>
              <a:srgbClr val="EE7A7A"/>
            </a:solidFill>
            <a:prstDash val="solid"/>
          </a:ln>
        </p:spPr>
      </p:sp>
      <p:sp>
        <p:nvSpPr>
          <p:cNvPr id="6" name="Text 3"/>
          <p:cNvSpPr txBox="1"/>
          <p:nvPr/>
        </p:nvSpPr>
        <p:spPr>
          <a:xfrm>
            <a:off x="5212080" y="1188720"/>
            <a:ext cx="1554480" cy="15544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93%</a:t>
            </a:r>
            <a:endParaRPr lang="en-US" sz="4000" dirty="0"/>
          </a:p>
        </p:txBody>
      </p:sp>
      <p:sp>
        <p:nvSpPr>
          <p:cNvPr id="7" name="Text 4"/>
          <p:cNvSpPr txBox="1"/>
          <p:nvPr/>
        </p:nvSpPr>
        <p:spPr>
          <a:xfrm>
            <a:off x="6766560" y="1188720"/>
            <a:ext cx="1783080" cy="1554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del agua embotellada contiene microplásticos (estudio citado por Forbes)</a:t>
            </a:r>
            <a:endParaRPr lang="en-US" sz="1300" dirty="0"/>
          </a:p>
        </p:txBody>
      </p:sp>
      <p:sp>
        <p:nvSpPr>
          <p:cNvPr id="8" name="Shape 5"/>
          <p:cNvSpPr/>
          <p:nvPr/>
        </p:nvSpPr>
        <p:spPr>
          <a:xfrm>
            <a:off x="5029200" y="2926080"/>
            <a:ext cx="3657600" cy="1554480"/>
          </a:xfrm>
          <a:prstGeom prst="roundRect">
            <a:avLst>
              <a:gd name="adj" fmla="val 7059"/>
            </a:avLst>
          </a:prstGeom>
          <a:solidFill>
            <a:srgbClr val="8B9AB7"/>
          </a:solidFill>
          <a:ln w="12700">
            <a:solidFill>
              <a:srgbClr val="8B9AB7"/>
            </a:solidFill>
            <a:prstDash val="solid"/>
          </a:ln>
        </p:spPr>
      </p:sp>
      <p:sp>
        <p:nvSpPr>
          <p:cNvPr id="9" name="Text 6"/>
          <p:cNvSpPr txBox="1"/>
          <p:nvPr/>
        </p:nvSpPr>
        <p:spPr>
          <a:xfrm>
            <a:off x="5212080" y="2926080"/>
            <a:ext cx="1554480" cy="155448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325</a:t>
            </a:r>
            <a:endParaRPr lang="en-US" sz="4000" dirty="0"/>
          </a:p>
        </p:txBody>
      </p:sp>
      <p:sp>
        <p:nvSpPr>
          <p:cNvPr id="10" name="Text 7"/>
          <p:cNvSpPr txBox="1"/>
          <p:nvPr/>
        </p:nvSpPr>
        <p:spPr>
          <a:xfrm>
            <a:off x="6766560" y="2926080"/>
            <a:ext cx="1783080" cy="1554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partículas de plástico de media por cada litro de agua vendida</a:t>
            </a:r>
            <a:endParaRPr lang="en-US" sz="1300" dirty="0"/>
          </a:p>
        </p:txBody>
      </p:sp>
      <p:sp>
        <p:nvSpPr>
          <p:cNvPr id="11" name="Text 8"/>
          <p:cNvSpPr txBox="1"/>
          <p:nvPr/>
        </p:nvSpPr>
        <p:spPr>
          <a:xfrm>
            <a:off x="457200" y="3383280"/>
            <a:ext cx="4206240" cy="822960"/>
          </a:xfrm>
          <a:prstGeom prst="rect">
            <a:avLst/>
          </a:prstGeom>
          <a:noFill/>
          <a:ln/>
        </p:spPr>
        <p:txBody>
          <a:bodyPr wrap="square" lIns="0" tIns="0" rIns="0" bIns="0" rtlCol="0" anchor="t"/>
          <a:lstStyle/>
          <a:p>
            <a:pPr indent="0" marL="0">
              <a:buNone/>
            </a:pPr>
            <a:r>
              <a:rPr lang="en-US" sz="1400" i="1" dirty="0">
                <a:solidFill>
                  <a:srgbClr val="6B5F61"/>
                </a:solidFill>
                <a:latin typeface="Calibri" pitchFamily="34" charset="0"/>
                <a:ea typeface="Calibri" pitchFamily="34" charset="-122"/>
                <a:cs typeface="Calibri" pitchFamily="34" charset="-120"/>
              </a:rPr>
              <a:t>Beber de botellas de plástico día tras día puede afectar gravemente a nuestras hormonas.</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El coste del agua embotellada</a:t>
            </a:r>
            <a:endParaRPr lang="en-US" sz="2600" dirty="0"/>
          </a:p>
        </p:txBody>
      </p:sp>
      <p:graphicFrame>
        <p:nvGraphicFramePr>
          <p:cNvPr id="4" name="Chart 0" descr=""/>
          <p:cNvGraphicFramePr/>
          <p:nvPr/>
        </p:nvGraphicFramePr>
        <p:xfrm>
          <a:off x="365760" y="1051560"/>
          <a:ext cx="5120640" cy="374904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760720" y="1188720"/>
            <a:ext cx="2926080" cy="3474720"/>
          </a:xfrm>
          <a:prstGeom prst="roundRect">
            <a:avLst>
              <a:gd name="adj" fmla="val 3750"/>
            </a:avLst>
          </a:prstGeom>
          <a:solidFill>
            <a:srgbClr val="FBEAEA"/>
          </a:solidFill>
          <a:ln w="12700">
            <a:solidFill>
              <a:srgbClr val="FBEAEA"/>
            </a:solidFill>
            <a:prstDash val="solid"/>
          </a:ln>
        </p:spPr>
      </p:sp>
      <p:sp>
        <p:nvSpPr>
          <p:cNvPr id="6" name="Text 2"/>
          <p:cNvSpPr txBox="1"/>
          <p:nvPr/>
        </p:nvSpPr>
        <p:spPr>
          <a:xfrm>
            <a:off x="5943600" y="1325880"/>
            <a:ext cx="2560320" cy="731520"/>
          </a:xfrm>
          <a:prstGeom prst="rect">
            <a:avLst/>
          </a:prstGeom>
          <a:noFill/>
          <a:ln/>
        </p:spPr>
        <p:txBody>
          <a:bodyPr wrap="square" lIns="0" tIns="0" rIns="0" bIns="0" rtlCol="0" anchor="t"/>
          <a:lstStyle/>
          <a:p>
            <a:pPr indent="0" marL="0">
              <a:buNone/>
            </a:pPr>
            <a:r>
              <a:rPr lang="en-US" sz="1400" b="1" dirty="0">
                <a:solidFill>
                  <a:srgbClr val="2E2224"/>
                </a:solidFill>
                <a:latin typeface="Arial" pitchFamily="34" charset="0"/>
                <a:ea typeface="Arial" pitchFamily="34" charset="-122"/>
                <a:cs typeface="Arial" pitchFamily="34" charset="-120"/>
              </a:rPr>
              <a:t>El agua embotellada es agua del grifo cara</a:t>
            </a:r>
            <a:endParaRPr lang="en-US" sz="1400" dirty="0"/>
          </a:p>
        </p:txBody>
      </p:sp>
      <p:sp>
        <p:nvSpPr>
          <p:cNvPr id="7" name="Text 3"/>
          <p:cNvSpPr txBox="1"/>
          <p:nvPr/>
        </p:nvSpPr>
        <p:spPr>
          <a:xfrm>
            <a:off x="5943600" y="2103120"/>
            <a:ext cx="2606040" cy="21031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Cuesta un 3.000% más por galón que el agua del grifo</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Grifo: $0,02 por galón</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Embotellada: $0,64 por galón</a:t>
            </a:r>
            <a:endParaRPr lang="en-US" sz="1200" dirty="0"/>
          </a:p>
          <a:p>
            <a:pPr marL="342900" indent="-342900">
              <a:spcAft>
                <a:spcPts val="500"/>
              </a:spcAft>
              <a:buSzPct val="100000"/>
              <a:buChar char="•"/>
            </a:pPr>
            <a:r>
              <a:rPr lang="en-US" sz="1200" dirty="0">
                <a:solidFill>
                  <a:srgbClr val="2E2224"/>
                </a:solidFill>
                <a:latin typeface="Calibri" pitchFamily="34" charset="0"/>
                <a:ea typeface="Calibri" pitchFamily="34" charset="-122"/>
                <a:cs typeface="Calibri" pitchFamily="34" charset="-120"/>
              </a:rPr>
              <a:t>Botella diaria de 20 oz: ~$2.178 al año</a:t>
            </a:r>
            <a:endParaRPr lang="en-US" sz="1200" dirty="0"/>
          </a:p>
        </p:txBody>
      </p:sp>
      <p:sp>
        <p:nvSpPr>
          <p:cNvPr id="8" name="Text 4"/>
          <p:cNvSpPr txBox="1"/>
          <p:nvPr/>
        </p:nvSpPr>
        <p:spPr>
          <a:xfrm>
            <a:off x="5943600" y="4251960"/>
            <a:ext cx="2606040" cy="274320"/>
          </a:xfrm>
          <a:prstGeom prst="rect">
            <a:avLst/>
          </a:prstGeom>
          <a:noFill/>
          <a:ln/>
        </p:spPr>
        <p:txBody>
          <a:bodyPr wrap="square" lIns="0" tIns="0" rIns="0" bIns="0" rtlCol="0" anchor="t"/>
          <a:lstStyle/>
          <a:p>
            <a:pPr indent="0" marL="0">
              <a:buNone/>
            </a:pPr>
            <a:r>
              <a:rPr lang="en-US" sz="1000" dirty="0">
                <a:solidFill>
                  <a:srgbClr val="6B5F61"/>
                </a:solidFill>
                <a:latin typeface="Calibri" pitchFamily="34" charset="0"/>
                <a:ea typeface="Calibri" pitchFamily="34" charset="-122"/>
                <a:cs typeface="Calibri" pitchFamily="34" charset="-120"/>
              </a:rPr>
              <a:t>Fuente citada: Harvard Engineering and Utilities</a:t>
            </a:r>
            <a:endParaRPr lang="en-US" sz="10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txBox="1"/>
          <p:nvPr/>
        </p:nvSpPr>
        <p:spPr>
          <a:xfrm>
            <a:off x="640080" y="1463040"/>
            <a:ext cx="7863840" cy="2011680"/>
          </a:xfrm>
          <a:prstGeom prst="rect">
            <a:avLst/>
          </a:prstGeom>
          <a:noFill/>
          <a:ln/>
        </p:spPr>
        <p:txBody>
          <a:bodyPr wrap="square" lIns="0" tIns="0" rIns="0" bIns="0" rtlCol="0" anchor="ctr"/>
          <a:lstStyle/>
          <a:p>
            <a:pPr algn="ctr" indent="0" marL="0">
              <a:buNone/>
            </a:pPr>
            <a:r>
              <a:rPr lang="en-US" sz="4000" b="1" dirty="0">
                <a:solidFill>
                  <a:srgbClr val="EE7A7A"/>
                </a:solidFill>
                <a:latin typeface="Arial" pitchFamily="34" charset="0"/>
                <a:ea typeface="Arial" pitchFamily="34" charset="-122"/>
                <a:cs typeface="Arial" pitchFamily="34" charset="-120"/>
              </a:rPr>
              <a:t>ENTONCES, ¿CUÁL ES LA SOLUCIÓN?</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Ionizador de agua de grado médico</a:t>
            </a:r>
            <a:endParaRPr lang="en-US" sz="2600" dirty="0"/>
          </a:p>
        </p:txBody>
      </p:sp>
      <p:sp>
        <p:nvSpPr>
          <p:cNvPr id="4" name="Shape 1"/>
          <p:cNvSpPr/>
          <p:nvPr/>
        </p:nvSpPr>
        <p:spPr>
          <a:xfrm>
            <a:off x="457200" y="1188720"/>
            <a:ext cx="384048" cy="384048"/>
          </a:xfrm>
          <a:prstGeom prst="ellipse">
            <a:avLst/>
          </a:prstGeom>
          <a:solidFill>
            <a:srgbClr val="EE7A7A"/>
          </a:solidFill>
          <a:ln w="12700">
            <a:solidFill>
              <a:srgbClr val="EE7A7A"/>
            </a:solidFill>
            <a:prstDash val="solid"/>
          </a:ln>
        </p:spPr>
      </p:sp>
      <p:sp>
        <p:nvSpPr>
          <p:cNvPr id="5" name="Text 2"/>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Arial" pitchFamily="34" charset="0"/>
                <a:ea typeface="Arial" pitchFamily="34" charset="-122"/>
                <a:cs typeface="Arial" pitchFamily="34" charset="-120"/>
              </a:rPr>
              <a:t>1</a:t>
            </a:r>
            <a:endParaRPr lang="en-US" sz="924" dirty="0"/>
          </a:p>
        </p:txBody>
      </p:sp>
      <p:sp>
        <p:nvSpPr>
          <p:cNvPr id="6" name="Text 3"/>
          <p:cNvSpPr txBox="1"/>
          <p:nvPr/>
        </p:nvSpPr>
        <p:spPr>
          <a:xfrm>
            <a:off x="1005840" y="1143000"/>
            <a:ext cx="4480560" cy="475488"/>
          </a:xfrm>
          <a:prstGeom prst="rect">
            <a:avLst/>
          </a:prstGeom>
          <a:noFill/>
          <a:ln/>
        </p:spPr>
        <p:txBody>
          <a:bodyPr wrap="square" lIns="0" tIns="0" rIns="0" bIns="0" rtlCol="0" anchor="ctr"/>
          <a:lstStyle/>
          <a:p>
            <a:pPr indent="0" marL="0">
              <a:buNone/>
            </a:pPr>
            <a:r>
              <a:rPr lang="en-US" sz="1400" dirty="0">
                <a:solidFill>
                  <a:srgbClr val="2E2224"/>
                </a:solidFill>
                <a:latin typeface="Calibri" pitchFamily="34" charset="0"/>
                <a:ea typeface="Calibri" pitchFamily="34" charset="-122"/>
                <a:cs typeface="Calibri" pitchFamily="34" charset="-120"/>
              </a:rPr>
              <a:t>Produce </a:t>
            </a:r>
            <a:pPr indent="0" marL="0">
              <a:buNone/>
            </a:pPr>
            <a:r>
              <a:rPr lang="en-US" sz="1400" b="1" dirty="0">
                <a:solidFill>
                  <a:srgbClr val="2E2224"/>
                </a:solidFill>
                <a:latin typeface="Calibri" pitchFamily="34" charset="0"/>
                <a:ea typeface="Calibri" pitchFamily="34" charset="-122"/>
                <a:cs typeface="Calibri" pitchFamily="34" charset="-120"/>
              </a:rPr>
              <a:t>agua con hidrógeno molecular</a:t>
            </a:r>
            <a:pPr indent="0" marL="0">
              <a:buNone/>
            </a:pPr>
            <a:r>
              <a:rPr lang="en-US" sz="1400" dirty="0">
                <a:solidFill>
                  <a:srgbClr val="2E2224"/>
                </a:solidFill>
                <a:latin typeface="Calibri" pitchFamily="34" charset="0"/>
                <a:ea typeface="Calibri" pitchFamily="34" charset="-122"/>
                <a:cs typeface="Calibri" pitchFamily="34" charset="-120"/>
              </a:rPr>
              <a:t> mediante electrólisis</a:t>
            </a:r>
            <a:endParaRPr lang="en-US" sz="1400" dirty="0"/>
          </a:p>
        </p:txBody>
      </p:sp>
      <p:sp>
        <p:nvSpPr>
          <p:cNvPr id="7" name="Shape 4"/>
          <p:cNvSpPr/>
          <p:nvPr/>
        </p:nvSpPr>
        <p:spPr>
          <a:xfrm>
            <a:off x="457200" y="1764792"/>
            <a:ext cx="384048" cy="384048"/>
          </a:xfrm>
          <a:prstGeom prst="ellipse">
            <a:avLst/>
          </a:prstGeom>
          <a:solidFill>
            <a:srgbClr val="F2C14E"/>
          </a:solidFill>
          <a:ln w="12700">
            <a:solidFill>
              <a:srgbClr val="F2C14E"/>
            </a:solidFill>
            <a:prstDash val="solid"/>
          </a:ln>
        </p:spPr>
      </p:sp>
      <p:sp>
        <p:nvSpPr>
          <p:cNvPr id="8" name="Text 5"/>
          <p:cNvSpPr txBox="1"/>
          <p:nvPr/>
        </p:nvSpPr>
        <p:spPr>
          <a:xfrm>
            <a:off x="457200" y="1764792"/>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Arial" pitchFamily="34" charset="0"/>
                <a:ea typeface="Arial" pitchFamily="34" charset="-122"/>
                <a:cs typeface="Arial" pitchFamily="34" charset="-120"/>
              </a:rPr>
              <a:t>2</a:t>
            </a:r>
            <a:endParaRPr lang="en-US" sz="924" dirty="0"/>
          </a:p>
        </p:txBody>
      </p:sp>
      <p:sp>
        <p:nvSpPr>
          <p:cNvPr id="9" name="Text 6"/>
          <p:cNvSpPr txBox="1"/>
          <p:nvPr/>
        </p:nvSpPr>
        <p:spPr>
          <a:xfrm>
            <a:off x="1005840" y="1719072"/>
            <a:ext cx="4480560" cy="475488"/>
          </a:xfrm>
          <a:prstGeom prst="rect">
            <a:avLst/>
          </a:prstGeom>
          <a:noFill/>
          <a:ln/>
        </p:spPr>
        <p:txBody>
          <a:bodyPr wrap="square" lIns="0" tIns="0" rIns="0" bIns="0" rtlCol="0" anchor="ctr"/>
          <a:lstStyle/>
          <a:p>
            <a:pPr indent="0" marL="0">
              <a:buNone/>
            </a:pPr>
            <a:r>
              <a:rPr lang="en-US" sz="1400" dirty="0">
                <a:solidFill>
                  <a:srgbClr val="2E2224"/>
                </a:solidFill>
                <a:latin typeface="Calibri" pitchFamily="34" charset="0"/>
                <a:ea typeface="Calibri" pitchFamily="34" charset="-122"/>
                <a:cs typeface="Calibri" pitchFamily="34" charset="-120"/>
              </a:rPr>
              <a:t>Miles de estudios publicados sobre el hidrógeno molecular en </a:t>
            </a:r>
            <a:pPr indent="0" marL="0">
              <a:buNone/>
            </a:pPr>
            <a:r>
              <a:rPr lang="en-US" sz="1400" b="1" dirty="0">
                <a:solidFill>
                  <a:srgbClr val="2E2224"/>
                </a:solidFill>
                <a:latin typeface="Calibri" pitchFamily="34" charset="0"/>
                <a:ea typeface="Calibri" pitchFamily="34" charset="-122"/>
                <a:cs typeface="Calibri" pitchFamily="34" charset="-120"/>
              </a:rPr>
              <a:t>170+ enfermedades</a:t>
            </a:r>
            <a:pPr indent="0" marL="0">
              <a:buNone/>
            </a:pPr>
            <a:endParaRPr lang="en-US" sz="1400" dirty="0"/>
          </a:p>
        </p:txBody>
      </p:sp>
      <p:sp>
        <p:nvSpPr>
          <p:cNvPr id="10" name="Shape 7"/>
          <p:cNvSpPr/>
          <p:nvPr/>
        </p:nvSpPr>
        <p:spPr>
          <a:xfrm>
            <a:off x="457200" y="2340864"/>
            <a:ext cx="384048" cy="384048"/>
          </a:xfrm>
          <a:prstGeom prst="ellipse">
            <a:avLst/>
          </a:prstGeom>
          <a:solidFill>
            <a:srgbClr val="8B9AB7"/>
          </a:solidFill>
          <a:ln w="12700">
            <a:solidFill>
              <a:srgbClr val="8B9AB7"/>
            </a:solidFill>
            <a:prstDash val="solid"/>
          </a:ln>
        </p:spPr>
      </p:sp>
      <p:sp>
        <p:nvSpPr>
          <p:cNvPr id="11" name="Text 8"/>
          <p:cNvSpPr txBox="1"/>
          <p:nvPr/>
        </p:nvSpPr>
        <p:spPr>
          <a:xfrm>
            <a:off x="457200" y="2340864"/>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Arial" pitchFamily="34" charset="0"/>
                <a:ea typeface="Arial" pitchFamily="34" charset="-122"/>
                <a:cs typeface="Arial" pitchFamily="34" charset="-120"/>
              </a:rPr>
              <a:t>3</a:t>
            </a:r>
            <a:endParaRPr lang="en-US" sz="924" dirty="0"/>
          </a:p>
        </p:txBody>
      </p:sp>
      <p:sp>
        <p:nvSpPr>
          <p:cNvPr id="12" name="Text 9"/>
          <p:cNvSpPr txBox="1"/>
          <p:nvPr/>
        </p:nvSpPr>
        <p:spPr>
          <a:xfrm>
            <a:off x="1005840" y="2295144"/>
            <a:ext cx="4480560" cy="475488"/>
          </a:xfrm>
          <a:prstGeom prst="rect">
            <a:avLst/>
          </a:prstGeom>
          <a:noFill/>
          <a:ln/>
        </p:spPr>
        <p:txBody>
          <a:bodyPr wrap="square" lIns="0" tIns="0" rIns="0" bIns="0" rtlCol="0" anchor="ctr"/>
          <a:lstStyle/>
          <a:p>
            <a:pPr indent="0" marL="0">
              <a:buNone/>
            </a:pPr>
            <a:r>
              <a:rPr lang="en-US" sz="1400" dirty="0">
                <a:solidFill>
                  <a:srgbClr val="2E2224"/>
                </a:solidFill>
                <a:latin typeface="Calibri" pitchFamily="34" charset="0"/>
                <a:ea typeface="Calibri" pitchFamily="34" charset="-122"/>
                <a:cs typeface="Calibri" pitchFamily="34" charset="-120"/>
              </a:rPr>
              <a:t>Fabricado en </a:t>
            </a:r>
            <a:pPr indent="0" marL="0">
              <a:buNone/>
            </a:pPr>
            <a:r>
              <a:rPr lang="en-US" sz="1400" b="1" dirty="0">
                <a:solidFill>
                  <a:srgbClr val="2E2224"/>
                </a:solidFill>
                <a:latin typeface="Calibri" pitchFamily="34" charset="0"/>
                <a:ea typeface="Calibri" pitchFamily="34" charset="-122"/>
                <a:cs typeface="Calibri" pitchFamily="34" charset="-120"/>
              </a:rPr>
              <a:t>Japón</a:t>
            </a:r>
            <a:pPr indent="0" marL="0">
              <a:buNone/>
            </a:pPr>
            <a:endParaRPr lang="en-US" sz="1400" dirty="0"/>
          </a:p>
        </p:txBody>
      </p:sp>
      <p:sp>
        <p:nvSpPr>
          <p:cNvPr id="13" name="Shape 10"/>
          <p:cNvSpPr/>
          <p:nvPr/>
        </p:nvSpPr>
        <p:spPr>
          <a:xfrm>
            <a:off x="457200" y="2916936"/>
            <a:ext cx="384048" cy="384048"/>
          </a:xfrm>
          <a:prstGeom prst="ellipse">
            <a:avLst/>
          </a:prstGeom>
          <a:solidFill>
            <a:srgbClr val="B9D3B1"/>
          </a:solidFill>
          <a:ln w="12700">
            <a:solidFill>
              <a:srgbClr val="B9D3B1"/>
            </a:solidFill>
            <a:prstDash val="solid"/>
          </a:ln>
        </p:spPr>
      </p:sp>
      <p:sp>
        <p:nvSpPr>
          <p:cNvPr id="14" name="Text 11"/>
          <p:cNvSpPr txBox="1"/>
          <p:nvPr/>
        </p:nvSpPr>
        <p:spPr>
          <a:xfrm>
            <a:off x="457200" y="2916936"/>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Arial" pitchFamily="34" charset="0"/>
                <a:ea typeface="Arial" pitchFamily="34" charset="-122"/>
                <a:cs typeface="Arial" pitchFamily="34" charset="-120"/>
              </a:rPr>
              <a:t>4</a:t>
            </a:r>
            <a:endParaRPr lang="en-US" sz="924" dirty="0"/>
          </a:p>
        </p:txBody>
      </p:sp>
      <p:sp>
        <p:nvSpPr>
          <p:cNvPr id="15" name="Text 12"/>
          <p:cNvSpPr txBox="1"/>
          <p:nvPr/>
        </p:nvSpPr>
        <p:spPr>
          <a:xfrm>
            <a:off x="1005840" y="2871216"/>
            <a:ext cx="4480560" cy="475488"/>
          </a:xfrm>
          <a:prstGeom prst="rect">
            <a:avLst/>
          </a:prstGeom>
          <a:noFill/>
          <a:ln/>
        </p:spPr>
        <p:txBody>
          <a:bodyPr wrap="square" lIns="0" tIns="0" rIns="0" bIns="0" rtlCol="0" anchor="ctr"/>
          <a:lstStyle/>
          <a:p>
            <a:pPr indent="0" marL="0">
              <a:buNone/>
            </a:pPr>
            <a:r>
              <a:rPr lang="en-US" sz="1400" dirty="0">
                <a:solidFill>
                  <a:srgbClr val="2E2224"/>
                </a:solidFill>
                <a:latin typeface="Calibri" pitchFamily="34" charset="0"/>
                <a:ea typeface="Calibri" pitchFamily="34" charset="-122"/>
                <a:cs typeface="Calibri" pitchFamily="34" charset="-120"/>
              </a:rPr>
              <a:t>Reduce el uso de </a:t>
            </a:r>
            <a:pPr indent="0" marL="0">
              <a:buNone/>
            </a:pPr>
            <a:r>
              <a:rPr lang="en-US" sz="1400" b="1" dirty="0">
                <a:solidFill>
                  <a:srgbClr val="2E2224"/>
                </a:solidFill>
                <a:latin typeface="Calibri" pitchFamily="34" charset="0"/>
                <a:ea typeface="Calibri" pitchFamily="34" charset="-122"/>
                <a:cs typeface="Calibri" pitchFamily="34" charset="-120"/>
              </a:rPr>
              <a:t>plástico</a:t>
            </a:r>
            <a:pPr indent="0" marL="0">
              <a:buNone/>
            </a:pPr>
            <a:endParaRPr lang="en-US" sz="1400" dirty="0"/>
          </a:p>
        </p:txBody>
      </p:sp>
      <p:sp>
        <p:nvSpPr>
          <p:cNvPr id="16" name="Shape 13"/>
          <p:cNvSpPr/>
          <p:nvPr/>
        </p:nvSpPr>
        <p:spPr>
          <a:xfrm>
            <a:off x="457200" y="3493008"/>
            <a:ext cx="384048" cy="384048"/>
          </a:xfrm>
          <a:prstGeom prst="ellipse">
            <a:avLst/>
          </a:prstGeom>
          <a:solidFill>
            <a:srgbClr val="F4A78A"/>
          </a:solidFill>
          <a:ln w="12700">
            <a:solidFill>
              <a:srgbClr val="F4A78A"/>
            </a:solidFill>
            <a:prstDash val="solid"/>
          </a:ln>
        </p:spPr>
      </p:sp>
      <p:sp>
        <p:nvSpPr>
          <p:cNvPr id="17" name="Text 14"/>
          <p:cNvSpPr txBox="1"/>
          <p:nvPr/>
        </p:nvSpPr>
        <p:spPr>
          <a:xfrm>
            <a:off x="457200" y="3493008"/>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Arial" pitchFamily="34" charset="0"/>
                <a:ea typeface="Arial" pitchFamily="34" charset="-122"/>
                <a:cs typeface="Arial" pitchFamily="34" charset="-120"/>
              </a:rPr>
              <a:t>5</a:t>
            </a:r>
            <a:endParaRPr lang="en-US" sz="924" dirty="0"/>
          </a:p>
        </p:txBody>
      </p:sp>
      <p:sp>
        <p:nvSpPr>
          <p:cNvPr id="18" name="Text 15"/>
          <p:cNvSpPr txBox="1"/>
          <p:nvPr/>
        </p:nvSpPr>
        <p:spPr>
          <a:xfrm>
            <a:off x="1005840" y="3447288"/>
            <a:ext cx="4480560" cy="475488"/>
          </a:xfrm>
          <a:prstGeom prst="rect">
            <a:avLst/>
          </a:prstGeom>
          <a:noFill/>
          <a:ln/>
        </p:spPr>
        <p:txBody>
          <a:bodyPr wrap="square" lIns="0" tIns="0" rIns="0" bIns="0" rtlCol="0" anchor="ctr"/>
          <a:lstStyle/>
          <a:p>
            <a:pPr indent="0" marL="0">
              <a:buNone/>
            </a:pPr>
            <a:r>
              <a:rPr lang="en-US" sz="1400" dirty="0">
                <a:solidFill>
                  <a:srgbClr val="2E2224"/>
                </a:solidFill>
                <a:latin typeface="Calibri" pitchFamily="34" charset="0"/>
                <a:ea typeface="Calibri" pitchFamily="34" charset="-122"/>
                <a:cs typeface="Calibri" pitchFamily="34" charset="-120"/>
              </a:rPr>
              <a:t>7 niveles de pH distintos con </a:t>
            </a:r>
            <a:pPr indent="0" marL="0">
              <a:buNone/>
            </a:pPr>
            <a:r>
              <a:rPr lang="en-US" sz="1400" b="1" dirty="0">
                <a:solidFill>
                  <a:srgbClr val="2E2224"/>
                </a:solidFill>
                <a:latin typeface="Calibri" pitchFamily="34" charset="0"/>
                <a:ea typeface="Calibri" pitchFamily="34" charset="-122"/>
                <a:cs typeface="Calibri" pitchFamily="34" charset="-120"/>
              </a:rPr>
              <a:t>85+ usos</a:t>
            </a:r>
            <a:pPr indent="0" marL="0">
              <a:buNone/>
            </a:pPr>
            <a:endParaRPr lang="en-US" sz="1400" dirty="0"/>
          </a:p>
        </p:txBody>
      </p:sp>
      <p:sp>
        <p:nvSpPr>
          <p:cNvPr id="19" name="Shape 16"/>
          <p:cNvSpPr/>
          <p:nvPr/>
        </p:nvSpPr>
        <p:spPr>
          <a:xfrm>
            <a:off x="457200" y="4069080"/>
            <a:ext cx="384048" cy="384048"/>
          </a:xfrm>
          <a:prstGeom prst="ellipse">
            <a:avLst/>
          </a:prstGeom>
          <a:solidFill>
            <a:srgbClr val="EE7A7A"/>
          </a:solidFill>
          <a:ln w="12700">
            <a:solidFill>
              <a:srgbClr val="EE7A7A"/>
            </a:solidFill>
            <a:prstDash val="solid"/>
          </a:ln>
        </p:spPr>
      </p:sp>
      <p:sp>
        <p:nvSpPr>
          <p:cNvPr id="20" name="Text 17"/>
          <p:cNvSpPr txBox="1"/>
          <p:nvPr/>
        </p:nvSpPr>
        <p:spPr>
          <a:xfrm>
            <a:off x="457200" y="4069080"/>
            <a:ext cx="384048" cy="384048"/>
          </a:xfrm>
          <a:prstGeom prst="rect">
            <a:avLst/>
          </a:prstGeom>
          <a:noFill/>
          <a:ln/>
        </p:spPr>
        <p:txBody>
          <a:bodyPr wrap="square" lIns="0" tIns="0" rIns="0" bIns="0" rtlCol="0" anchor="ctr"/>
          <a:lstStyle/>
          <a:p>
            <a:pPr algn="ctr" indent="0" marL="0">
              <a:buNone/>
            </a:pPr>
            <a:r>
              <a:rPr lang="en-US" sz="924" b="1" dirty="0">
                <a:solidFill>
                  <a:srgbClr val="FFFFFF"/>
                </a:solidFill>
                <a:latin typeface="Arial" pitchFamily="34" charset="0"/>
                <a:ea typeface="Arial" pitchFamily="34" charset="-122"/>
                <a:cs typeface="Arial" pitchFamily="34" charset="-120"/>
              </a:rPr>
              <a:t>6</a:t>
            </a:r>
            <a:endParaRPr lang="en-US" sz="924" dirty="0"/>
          </a:p>
        </p:txBody>
      </p:sp>
      <p:sp>
        <p:nvSpPr>
          <p:cNvPr id="21" name="Text 18"/>
          <p:cNvSpPr txBox="1"/>
          <p:nvPr/>
        </p:nvSpPr>
        <p:spPr>
          <a:xfrm>
            <a:off x="1005840" y="4023360"/>
            <a:ext cx="4480560" cy="475488"/>
          </a:xfrm>
          <a:prstGeom prst="rect">
            <a:avLst/>
          </a:prstGeom>
          <a:noFill/>
          <a:ln/>
        </p:spPr>
        <p:txBody>
          <a:bodyPr wrap="square" lIns="0" tIns="0" rIns="0" bIns="0" rtlCol="0" anchor="ctr"/>
          <a:lstStyle/>
          <a:p>
            <a:pPr indent="0" marL="0">
              <a:buNone/>
            </a:pPr>
            <a:r>
              <a:rPr lang="en-US" sz="1400" dirty="0">
                <a:solidFill>
                  <a:srgbClr val="2E2224"/>
                </a:solidFill>
                <a:latin typeface="Calibri" pitchFamily="34" charset="0"/>
                <a:ea typeface="Calibri" pitchFamily="34" charset="-122"/>
                <a:cs typeface="Calibri" pitchFamily="34" charset="-120"/>
              </a:rPr>
              <a:t>Sustituye </a:t>
            </a:r>
            <a:pPr indent="0" marL="0">
              <a:buNone/>
            </a:pPr>
            <a:r>
              <a:rPr lang="en-US" sz="1400" b="1" dirty="0">
                <a:solidFill>
                  <a:srgbClr val="2E2224"/>
                </a:solidFill>
                <a:latin typeface="Calibri" pitchFamily="34" charset="0"/>
                <a:ea typeface="Calibri" pitchFamily="34" charset="-122"/>
                <a:cs typeface="Calibri" pitchFamily="34" charset="-120"/>
              </a:rPr>
              <a:t>productos de limpieza tóxicos</a:t>
            </a:r>
            <a:pPr indent="0" marL="0">
              <a:buNone/>
            </a:pPr>
            <a:endParaRPr lang="en-US" sz="1400" dirty="0"/>
          </a:p>
        </p:txBody>
      </p:sp>
      <p:sp>
        <p:nvSpPr>
          <p:cNvPr id="22" name="Shape 19"/>
          <p:cNvSpPr/>
          <p:nvPr/>
        </p:nvSpPr>
        <p:spPr>
          <a:xfrm>
            <a:off x="5852160" y="1143000"/>
            <a:ext cx="2834640" cy="3474720"/>
          </a:xfrm>
          <a:prstGeom prst="roundRect">
            <a:avLst>
              <a:gd name="adj" fmla="val 4839"/>
            </a:avLst>
          </a:prstGeom>
          <a:solidFill>
            <a:srgbClr val="FBEAEA"/>
          </a:solidFill>
          <a:ln w="12700">
            <a:solidFill>
              <a:srgbClr val="FBEAEA"/>
            </a:solidFill>
            <a:prstDash val="solid"/>
          </a:ln>
        </p:spPr>
      </p:sp>
      <p:sp>
        <p:nvSpPr>
          <p:cNvPr id="23" name="Text 20"/>
          <p:cNvSpPr txBox="1"/>
          <p:nvPr/>
        </p:nvSpPr>
        <p:spPr>
          <a:xfrm>
            <a:off x="6035040" y="1280160"/>
            <a:ext cx="2468880" cy="365760"/>
          </a:xfrm>
          <a:prstGeom prst="rect">
            <a:avLst/>
          </a:prstGeom>
          <a:noFill/>
          <a:ln/>
        </p:spPr>
        <p:txBody>
          <a:bodyPr wrap="square" lIns="0" tIns="0" rIns="0" bIns="0" rtlCol="0" anchor="t"/>
          <a:lstStyle/>
          <a:p>
            <a:pPr indent="0" marL="0">
              <a:buNone/>
            </a:pPr>
            <a:r>
              <a:rPr lang="en-US" sz="1400" b="1" dirty="0">
                <a:solidFill>
                  <a:srgbClr val="2E2224"/>
                </a:solidFill>
                <a:latin typeface="Arial" pitchFamily="34" charset="0"/>
                <a:ea typeface="Arial" pitchFamily="34" charset="-122"/>
                <a:cs typeface="Arial" pitchFamily="34" charset="-120"/>
              </a:rPr>
              <a:t>Esta máquina sustituye…</a:t>
            </a:r>
            <a:endParaRPr lang="en-US" sz="1400" dirty="0"/>
          </a:p>
        </p:txBody>
      </p:sp>
      <p:sp>
        <p:nvSpPr>
          <p:cNvPr id="24" name="Text 21"/>
          <p:cNvSpPr txBox="1"/>
          <p:nvPr/>
        </p:nvSpPr>
        <p:spPr>
          <a:xfrm>
            <a:off x="6035040" y="1737360"/>
            <a:ext cx="2514600" cy="274320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limpiador multiusos · lejía · detergente · pomada antibiótica · limpiador de frutas y verduras · quitamanchas y adhesivos · desmaquillante · tónico · desodorante · acondicionador · suavizante · desinfectante · enjuague bucal · gel de manos</a:t>
            </a:r>
            <a:endParaRPr lang="en-US" sz="12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¿No tiene ya hidrógeno el agua?</a:t>
            </a:r>
            <a:endParaRPr lang="en-US" sz="2600" dirty="0"/>
          </a:p>
        </p:txBody>
      </p:sp>
      <p:sp>
        <p:nvSpPr>
          <p:cNvPr id="4" name="Text 1"/>
          <p:cNvSpPr txBox="1"/>
          <p:nvPr/>
        </p:nvSpPr>
        <p:spPr>
          <a:xfrm>
            <a:off x="457200" y="1051560"/>
            <a:ext cx="8229600" cy="411480"/>
          </a:xfrm>
          <a:prstGeom prst="rect">
            <a:avLst/>
          </a:prstGeom>
          <a:noFill/>
          <a:ln/>
        </p:spPr>
        <p:txBody>
          <a:bodyPr wrap="square" lIns="0" tIns="0" rIns="0" bIns="0" rtlCol="0" anchor="t"/>
          <a:lstStyle/>
          <a:p>
            <a:pPr indent="0" marL="0">
              <a:buNone/>
            </a:pPr>
            <a:r>
              <a:rPr lang="en-US" sz="1700" b="1" dirty="0">
                <a:solidFill>
                  <a:srgbClr val="C04848"/>
                </a:solidFill>
                <a:latin typeface="Calibri" pitchFamily="34" charset="0"/>
                <a:ea typeface="Calibri" pitchFamily="34" charset="-122"/>
                <a:cs typeface="Calibri" pitchFamily="34" charset="-120"/>
              </a:rPr>
              <a:t>No. El hidrógeno molecular (H₂) es diferente.</a:t>
            </a:r>
            <a:endParaRPr lang="en-US" sz="1700" dirty="0"/>
          </a:p>
        </p:txBody>
      </p:sp>
      <p:sp>
        <p:nvSpPr>
          <p:cNvPr id="5" name="Shape 2"/>
          <p:cNvSpPr/>
          <p:nvPr/>
        </p:nvSpPr>
        <p:spPr>
          <a:xfrm>
            <a:off x="457200" y="1645920"/>
            <a:ext cx="3977640" cy="2926080"/>
          </a:xfrm>
          <a:prstGeom prst="roundRect">
            <a:avLst>
              <a:gd name="adj" fmla="val 4688"/>
            </a:avLst>
          </a:prstGeom>
          <a:solidFill>
            <a:srgbClr val="E8ECF3"/>
          </a:solidFill>
          <a:ln w="12700">
            <a:solidFill>
              <a:srgbClr val="E8ECF3"/>
            </a:solidFill>
            <a:prstDash val="solid"/>
          </a:ln>
        </p:spPr>
      </p:sp>
      <p:sp>
        <p:nvSpPr>
          <p:cNvPr id="6" name="Shape 3"/>
          <p:cNvSpPr/>
          <p:nvPr/>
        </p:nvSpPr>
        <p:spPr>
          <a:xfrm>
            <a:off x="731520" y="1874520"/>
            <a:ext cx="1097280" cy="1097280"/>
          </a:xfrm>
          <a:prstGeom prst="ellipse">
            <a:avLst/>
          </a:prstGeom>
          <a:solidFill>
            <a:srgbClr val="8B9AB7"/>
          </a:solidFill>
          <a:ln w="12700">
            <a:solidFill>
              <a:srgbClr val="8B9AB7"/>
            </a:solidFill>
            <a:prstDash val="solid"/>
          </a:ln>
        </p:spPr>
      </p:sp>
      <p:sp>
        <p:nvSpPr>
          <p:cNvPr id="7" name="Text 4"/>
          <p:cNvSpPr txBox="1"/>
          <p:nvPr/>
        </p:nvSpPr>
        <p:spPr>
          <a:xfrm>
            <a:off x="731520" y="1874520"/>
            <a:ext cx="1097280" cy="1097280"/>
          </a:xfrm>
          <a:prstGeom prst="rect">
            <a:avLst/>
          </a:prstGeom>
          <a:noFill/>
          <a:ln/>
        </p:spPr>
        <p:txBody>
          <a:bodyPr wrap="square" lIns="0" tIns="0" rIns="0" bIns="0" rtlCol="0" anchor="ctr"/>
          <a:lstStyle/>
          <a:p>
            <a:pPr algn="ctr" indent="0" marL="0">
              <a:buNone/>
            </a:pPr>
            <a:r>
              <a:rPr lang="en-US" sz="2640" b="1" dirty="0">
                <a:solidFill>
                  <a:srgbClr val="FFFFFF"/>
                </a:solidFill>
                <a:latin typeface="Arial" pitchFamily="34" charset="0"/>
                <a:ea typeface="Arial" pitchFamily="34" charset="-122"/>
                <a:cs typeface="Arial" pitchFamily="34" charset="-120"/>
              </a:rPr>
              <a:t>H₂O</a:t>
            </a:r>
            <a:endParaRPr lang="en-US" sz="2640" dirty="0"/>
          </a:p>
        </p:txBody>
      </p:sp>
      <p:sp>
        <p:nvSpPr>
          <p:cNvPr id="8" name="Text 5"/>
          <p:cNvSpPr txBox="1"/>
          <p:nvPr/>
        </p:nvSpPr>
        <p:spPr>
          <a:xfrm>
            <a:off x="731520" y="3108960"/>
            <a:ext cx="3474720" cy="1371600"/>
          </a:xfrm>
          <a:prstGeom prst="rect">
            <a:avLst/>
          </a:prstGeom>
          <a:noFill/>
          <a:ln/>
        </p:spPr>
        <p:txBody>
          <a:bodyPr wrap="square" lIns="0" tIns="0" rIns="0" bIns="0" rtlCol="0" anchor="t"/>
          <a:lstStyle/>
          <a:p>
            <a:pPr indent="0" marL="0">
              <a:buNone/>
            </a:pPr>
            <a:r>
              <a:rPr lang="en-US" sz="1400" dirty="0">
                <a:solidFill>
                  <a:srgbClr val="2E2224"/>
                </a:solidFill>
                <a:latin typeface="Calibri" pitchFamily="34" charset="0"/>
                <a:ea typeface="Calibri" pitchFamily="34" charset="-122"/>
                <a:cs typeface="Calibri" pitchFamily="34" charset="-120"/>
              </a:rPr>
              <a:t>Una molécula grande: no tenemos acceso al hidrógeno que contiene.</a:t>
            </a:r>
            <a:endParaRPr lang="en-US" sz="1400" dirty="0"/>
          </a:p>
        </p:txBody>
      </p:sp>
      <p:sp>
        <p:nvSpPr>
          <p:cNvPr id="9" name="Shape 6"/>
          <p:cNvSpPr/>
          <p:nvPr/>
        </p:nvSpPr>
        <p:spPr>
          <a:xfrm>
            <a:off x="4709160" y="1645920"/>
            <a:ext cx="3977640" cy="2926080"/>
          </a:xfrm>
          <a:prstGeom prst="roundRect">
            <a:avLst>
              <a:gd name="adj" fmla="val 4688"/>
            </a:avLst>
          </a:prstGeom>
          <a:solidFill>
            <a:srgbClr val="FBEAEA"/>
          </a:solidFill>
          <a:ln w="12700">
            <a:solidFill>
              <a:srgbClr val="FBEAEA"/>
            </a:solidFill>
            <a:prstDash val="solid"/>
          </a:ln>
        </p:spPr>
      </p:sp>
      <p:sp>
        <p:nvSpPr>
          <p:cNvPr id="10" name="Shape 7"/>
          <p:cNvSpPr/>
          <p:nvPr/>
        </p:nvSpPr>
        <p:spPr>
          <a:xfrm>
            <a:off x="4983480" y="1874520"/>
            <a:ext cx="1097280" cy="1097280"/>
          </a:xfrm>
          <a:prstGeom prst="ellipse">
            <a:avLst/>
          </a:prstGeom>
          <a:solidFill>
            <a:srgbClr val="EE7A7A"/>
          </a:solidFill>
          <a:ln w="12700">
            <a:solidFill>
              <a:srgbClr val="EE7A7A"/>
            </a:solidFill>
            <a:prstDash val="solid"/>
          </a:ln>
        </p:spPr>
      </p:sp>
      <p:sp>
        <p:nvSpPr>
          <p:cNvPr id="11" name="Text 8"/>
          <p:cNvSpPr txBox="1"/>
          <p:nvPr/>
        </p:nvSpPr>
        <p:spPr>
          <a:xfrm>
            <a:off x="4983480" y="1874520"/>
            <a:ext cx="1097280" cy="1097280"/>
          </a:xfrm>
          <a:prstGeom prst="rect">
            <a:avLst/>
          </a:prstGeom>
          <a:noFill/>
          <a:ln/>
        </p:spPr>
        <p:txBody>
          <a:bodyPr wrap="square" lIns="0" tIns="0" rIns="0" bIns="0" rtlCol="0" anchor="ctr"/>
          <a:lstStyle/>
          <a:p>
            <a:pPr algn="ctr" indent="0" marL="0">
              <a:buNone/>
            </a:pPr>
            <a:r>
              <a:rPr lang="en-US" sz="2640" b="1" dirty="0">
                <a:solidFill>
                  <a:srgbClr val="FFFFFF"/>
                </a:solidFill>
                <a:latin typeface="Arial" pitchFamily="34" charset="0"/>
                <a:ea typeface="Arial" pitchFamily="34" charset="-122"/>
                <a:cs typeface="Arial" pitchFamily="34" charset="-120"/>
              </a:rPr>
              <a:t>H₂</a:t>
            </a:r>
            <a:endParaRPr lang="en-US" sz="2640" dirty="0"/>
          </a:p>
        </p:txBody>
      </p:sp>
      <p:sp>
        <p:nvSpPr>
          <p:cNvPr id="12" name="Text 9"/>
          <p:cNvSpPr txBox="1"/>
          <p:nvPr/>
        </p:nvSpPr>
        <p:spPr>
          <a:xfrm>
            <a:off x="4983480" y="3108960"/>
            <a:ext cx="3474720" cy="1371600"/>
          </a:xfrm>
          <a:prstGeom prst="rect">
            <a:avLst/>
          </a:prstGeom>
          <a:noFill/>
          <a:ln/>
        </p:spPr>
        <p:txBody>
          <a:bodyPr wrap="square" lIns="0" tIns="0" rIns="0" bIns="0" rtlCol="0" anchor="t"/>
          <a:lstStyle/>
          <a:p>
            <a:pPr indent="0" marL="0">
              <a:buNone/>
            </a:pPr>
            <a:r>
              <a:rPr lang="en-US" sz="1400" dirty="0">
                <a:solidFill>
                  <a:srgbClr val="2E2224"/>
                </a:solidFill>
                <a:latin typeface="Calibri" pitchFamily="34" charset="0"/>
                <a:ea typeface="Calibri" pitchFamily="34" charset="-122"/>
                <a:cs typeface="Calibri" pitchFamily="34" charset="-120"/>
              </a:rPr>
              <a:t>Dos átomos de hidrógeno unidos. Se obtiene por electrólisis: la electricidad separa el H₂O en hidrógeno (H₂) y oxígeno, y el gas hidrógeno queda disuelto en el agua.</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No toda el agua es igual</a:t>
            </a:r>
            <a:endParaRPr lang="en-US" sz="2600" dirty="0"/>
          </a:p>
        </p:txBody>
      </p:sp>
      <p:sp>
        <p:nvSpPr>
          <p:cNvPr id="4" name="Shape 1"/>
          <p:cNvSpPr/>
          <p:nvPr/>
        </p:nvSpPr>
        <p:spPr>
          <a:xfrm>
            <a:off x="457200" y="1097280"/>
            <a:ext cx="1554480" cy="548640"/>
          </a:xfrm>
          <a:prstGeom prst="roundRect">
            <a:avLst>
              <a:gd name="adj" fmla="val 50000"/>
            </a:avLst>
          </a:prstGeom>
          <a:solidFill>
            <a:srgbClr val="8B9AB7"/>
          </a:solidFill>
          <a:ln w="12700">
            <a:solidFill>
              <a:srgbClr val="8B9AB7"/>
            </a:solidFill>
            <a:prstDash val="solid"/>
          </a:ln>
        </p:spPr>
      </p:sp>
      <p:sp>
        <p:nvSpPr>
          <p:cNvPr id="5" name="Text 2"/>
          <p:cNvSpPr txBox="1"/>
          <p:nvPr/>
        </p:nvSpPr>
        <p:spPr>
          <a:xfrm>
            <a:off x="457200" y="1097280"/>
            <a:ext cx="1554480" cy="54864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Antioxidante</a:t>
            </a:r>
            <a:endParaRPr lang="en-US" sz="1200" dirty="0"/>
          </a:p>
        </p:txBody>
      </p:sp>
      <p:sp>
        <p:nvSpPr>
          <p:cNvPr id="6" name="Shape 3"/>
          <p:cNvSpPr/>
          <p:nvPr/>
        </p:nvSpPr>
        <p:spPr>
          <a:xfrm>
            <a:off x="2121408" y="1097280"/>
            <a:ext cx="1554480" cy="548640"/>
          </a:xfrm>
          <a:prstGeom prst="roundRect">
            <a:avLst>
              <a:gd name="adj" fmla="val 50000"/>
            </a:avLst>
          </a:prstGeom>
          <a:solidFill>
            <a:srgbClr val="B9D3B1"/>
          </a:solidFill>
          <a:ln w="12700">
            <a:solidFill>
              <a:srgbClr val="B9D3B1"/>
            </a:solidFill>
            <a:prstDash val="solid"/>
          </a:ln>
        </p:spPr>
      </p:sp>
      <p:sp>
        <p:nvSpPr>
          <p:cNvPr id="7" name="Text 4"/>
          <p:cNvSpPr txBox="1"/>
          <p:nvPr/>
        </p:nvSpPr>
        <p:spPr>
          <a:xfrm>
            <a:off x="2121408" y="1097280"/>
            <a:ext cx="1554480" cy="54864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Absorción rápida</a:t>
            </a:r>
            <a:endParaRPr lang="en-US" sz="1200" dirty="0"/>
          </a:p>
        </p:txBody>
      </p:sp>
      <p:sp>
        <p:nvSpPr>
          <p:cNvPr id="8" name="Shape 5"/>
          <p:cNvSpPr/>
          <p:nvPr/>
        </p:nvSpPr>
        <p:spPr>
          <a:xfrm>
            <a:off x="3785616" y="1097280"/>
            <a:ext cx="1554480" cy="548640"/>
          </a:xfrm>
          <a:prstGeom prst="roundRect">
            <a:avLst>
              <a:gd name="adj" fmla="val 50000"/>
            </a:avLst>
          </a:prstGeom>
          <a:solidFill>
            <a:srgbClr val="EE7A7A"/>
          </a:solidFill>
          <a:ln w="12700">
            <a:solidFill>
              <a:srgbClr val="EE7A7A"/>
            </a:solidFill>
            <a:prstDash val="solid"/>
          </a:ln>
        </p:spPr>
      </p:sp>
      <p:sp>
        <p:nvSpPr>
          <p:cNvPr id="9" name="Text 6"/>
          <p:cNvSpPr txBox="1"/>
          <p:nvPr/>
        </p:nvSpPr>
        <p:spPr>
          <a:xfrm>
            <a:off x="3785616" y="1097280"/>
            <a:ext cx="1554480" cy="54864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Alcalinidad</a:t>
            </a:r>
            <a:endParaRPr lang="en-US" sz="1200" dirty="0"/>
          </a:p>
        </p:txBody>
      </p:sp>
      <p:sp>
        <p:nvSpPr>
          <p:cNvPr id="10" name="Shape 7"/>
          <p:cNvSpPr/>
          <p:nvPr/>
        </p:nvSpPr>
        <p:spPr>
          <a:xfrm>
            <a:off x="5449824" y="1097280"/>
            <a:ext cx="1554480" cy="548640"/>
          </a:xfrm>
          <a:prstGeom prst="roundRect">
            <a:avLst>
              <a:gd name="adj" fmla="val 50000"/>
            </a:avLst>
          </a:prstGeom>
          <a:solidFill>
            <a:srgbClr val="F2C14E"/>
          </a:solidFill>
          <a:ln w="12700">
            <a:solidFill>
              <a:srgbClr val="F2C14E"/>
            </a:solidFill>
            <a:prstDash val="solid"/>
          </a:ln>
        </p:spPr>
      </p:sp>
      <p:sp>
        <p:nvSpPr>
          <p:cNvPr id="11" name="Text 8"/>
          <p:cNvSpPr txBox="1"/>
          <p:nvPr/>
        </p:nvSpPr>
        <p:spPr>
          <a:xfrm>
            <a:off x="5449824" y="1097280"/>
            <a:ext cx="1554480" cy="54864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ORP negativo</a:t>
            </a:r>
            <a:endParaRPr lang="en-US" sz="1200" dirty="0"/>
          </a:p>
        </p:txBody>
      </p:sp>
      <p:sp>
        <p:nvSpPr>
          <p:cNvPr id="12" name="Shape 9"/>
          <p:cNvSpPr/>
          <p:nvPr/>
        </p:nvSpPr>
        <p:spPr>
          <a:xfrm>
            <a:off x="7114032" y="1097280"/>
            <a:ext cx="1554480" cy="548640"/>
          </a:xfrm>
          <a:prstGeom prst="roundRect">
            <a:avLst>
              <a:gd name="adj" fmla="val 50000"/>
            </a:avLst>
          </a:prstGeom>
          <a:solidFill>
            <a:srgbClr val="F4A78A"/>
          </a:solidFill>
          <a:ln w="12700">
            <a:solidFill>
              <a:srgbClr val="F4A78A"/>
            </a:solidFill>
            <a:prstDash val="solid"/>
          </a:ln>
        </p:spPr>
      </p:sp>
      <p:sp>
        <p:nvSpPr>
          <p:cNvPr id="13" name="Text 10"/>
          <p:cNvSpPr txBox="1"/>
          <p:nvPr/>
        </p:nvSpPr>
        <p:spPr>
          <a:xfrm>
            <a:off x="7114032" y="1097280"/>
            <a:ext cx="1554480" cy="548640"/>
          </a:xfrm>
          <a:prstGeom prst="rect">
            <a:avLst/>
          </a:prstGeom>
          <a:noFill/>
          <a:ln/>
        </p:spPr>
        <p:txBody>
          <a:bodyPr wrap="square" lIns="0" tIns="0" rIns="0" bIns="0" rtlCol="0" anchor="ctr"/>
          <a:lstStyle/>
          <a:p>
            <a:pPr algn="ctr" indent="0" marL="0">
              <a:buNone/>
            </a:pPr>
            <a:r>
              <a:rPr lang="en-US" sz="1200" b="1" dirty="0">
                <a:solidFill>
                  <a:srgbClr val="2E2224"/>
                </a:solidFill>
                <a:latin typeface="Calibri" pitchFamily="34" charset="0"/>
                <a:ea typeface="Calibri" pitchFamily="34" charset="-122"/>
                <a:cs typeface="Calibri" pitchFamily="34" charset="-120"/>
              </a:rPr>
              <a:t>Hidrógeno molecular</a:t>
            </a:r>
            <a:endParaRPr lang="en-US" sz="1200" dirty="0"/>
          </a:p>
        </p:txBody>
      </p:sp>
      <p:sp>
        <p:nvSpPr>
          <p:cNvPr id="14" name="Text 11"/>
          <p:cNvSpPr txBox="1"/>
          <p:nvPr/>
        </p:nvSpPr>
        <p:spPr>
          <a:xfrm>
            <a:off x="457200" y="1874520"/>
            <a:ext cx="8229600" cy="365760"/>
          </a:xfrm>
          <a:prstGeom prst="rect">
            <a:avLst/>
          </a:prstGeom>
          <a:noFill/>
          <a:ln/>
        </p:spPr>
        <p:txBody>
          <a:bodyPr wrap="square" lIns="0" tIns="0" rIns="0" bIns="0" rtlCol="0" anchor="t"/>
          <a:lstStyle/>
          <a:p>
            <a:pPr indent="0" marL="0">
              <a:buNone/>
            </a:pPr>
            <a:r>
              <a:rPr lang="en-US" sz="1600" b="1" dirty="0">
                <a:solidFill>
                  <a:srgbClr val="EE7A7A"/>
                </a:solidFill>
                <a:latin typeface="Arial" pitchFamily="34" charset="0"/>
                <a:ea typeface="Arial" pitchFamily="34" charset="-122"/>
                <a:cs typeface="Arial" pitchFamily="34" charset="-120"/>
              </a:rPr>
              <a:t>¿Qué significa todo esto para ti? (beneficios que se presentan)</a:t>
            </a:r>
            <a:endParaRPr lang="en-US" sz="1600" dirty="0"/>
          </a:p>
        </p:txBody>
      </p:sp>
      <p:sp>
        <p:nvSpPr>
          <p:cNvPr id="15" name="Text 12"/>
          <p:cNvSpPr txBox="1"/>
          <p:nvPr/>
        </p:nvSpPr>
        <p:spPr>
          <a:xfrm>
            <a:off x="457200" y="2331720"/>
            <a:ext cx="4023360" cy="23774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Protección frente al estrés oxidativo y los radicales libres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Envejecimiento más lento y mejor calidad de vida</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Menos estrés celular: células más sanas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Más energía y menos fatiga</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Menos inflamación y dolor</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Más y mejores mitocondrias</a:t>
            </a:r>
            <a:endParaRPr lang="en-US" sz="1300" dirty="0"/>
          </a:p>
        </p:txBody>
      </p:sp>
      <p:sp>
        <p:nvSpPr>
          <p:cNvPr id="16" name="Text 13"/>
          <p:cNvSpPr txBox="1"/>
          <p:nvPr/>
        </p:nvSpPr>
        <p:spPr>
          <a:xfrm>
            <a:off x="4663440" y="2331720"/>
            <a:ext cx="4023360" cy="237744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Mejor regulación del azúcar en sangre</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Un cerebro más feliz y despejado</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Hidratación superior</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Vías de desintoxicación más fuertes</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Mejor rendimiento deportivo y memoria</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Mejor digestión, curación y reparación de heridas</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Hidrógeno molecular: H₂</a:t>
            </a:r>
            <a:endParaRPr lang="en-US" sz="2600" dirty="0"/>
          </a:p>
        </p:txBody>
      </p:sp>
      <p:sp>
        <p:nvSpPr>
          <p:cNvPr id="4" name="Text 1"/>
          <p:cNvSpPr txBox="1"/>
          <p:nvPr/>
        </p:nvSpPr>
        <p:spPr>
          <a:xfrm>
            <a:off x="457200" y="1188720"/>
            <a:ext cx="512064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E2224"/>
                </a:solidFill>
                <a:latin typeface="Calibri" pitchFamily="34" charset="0"/>
                <a:ea typeface="Calibri" pitchFamily="34" charset="-122"/>
                <a:cs typeface="Calibri" pitchFamily="34" charset="-120"/>
              </a:rPr>
              <a:t>El H₂ es la molécula más pequeña que existe</a:t>
            </a:r>
            <a:endParaRPr lang="en-US" sz="1500" dirty="0"/>
          </a:p>
          <a:p>
            <a:pPr marL="342900" indent="-342900">
              <a:spcAft>
                <a:spcPts val="800"/>
              </a:spcAft>
              <a:buSzPct val="100000"/>
              <a:buChar char="•"/>
            </a:pPr>
            <a:r>
              <a:rPr lang="en-US" sz="1500" dirty="0">
                <a:solidFill>
                  <a:srgbClr val="2E2224"/>
                </a:solidFill>
                <a:latin typeface="Calibri" pitchFamily="34" charset="0"/>
                <a:ea typeface="Calibri" pitchFamily="34" charset="-122"/>
                <a:cs typeface="Calibri" pitchFamily="34" charset="-120"/>
              </a:rPr>
              <a:t>Como gas, atraviesa con facilidad las membranas celulares, las mitocondrias e incluso el ADN</a:t>
            </a:r>
            <a:endParaRPr lang="en-US" sz="1500" dirty="0"/>
          </a:p>
          <a:p>
            <a:pPr marL="342900" indent="-342900">
              <a:spcAft>
                <a:spcPts val="800"/>
              </a:spcAft>
              <a:buSzPct val="100000"/>
              <a:buChar char="•"/>
            </a:pPr>
            <a:r>
              <a:rPr lang="en-US" sz="1500" dirty="0">
                <a:solidFill>
                  <a:srgbClr val="2E2224"/>
                </a:solidFill>
                <a:latin typeface="Calibri" pitchFamily="34" charset="0"/>
                <a:ea typeface="Calibri" pitchFamily="34" charset="-122"/>
                <a:cs typeface="Calibri" pitchFamily="34" charset="-120"/>
              </a:rPr>
              <a:t>Se presenta como </a:t>
            </a:r>
            <a:pPr indent="0" marL="0">
              <a:buNone/>
            </a:pPr>
            <a:r>
              <a:rPr lang="en-US" sz="1500" b="1" dirty="0">
                <a:solidFill>
                  <a:srgbClr val="2E2224"/>
                </a:solidFill>
                <a:latin typeface="Calibri" pitchFamily="34" charset="0"/>
                <a:ea typeface="Calibri" pitchFamily="34" charset="-122"/>
                <a:cs typeface="Calibri" pitchFamily="34" charset="-120"/>
              </a:rPr>
              <a:t>antioxidante, antiinflamatorio, antienvejecimiento, antidiabético y antitumoral</a:t>
            </a:r>
            <a:endParaRPr lang="en-US" sz="1500" dirty="0"/>
          </a:p>
        </p:txBody>
      </p:sp>
      <p:sp>
        <p:nvSpPr>
          <p:cNvPr id="5" name="Text 2"/>
          <p:cNvSpPr txBox="1"/>
          <p:nvPr/>
        </p:nvSpPr>
        <p:spPr>
          <a:xfrm>
            <a:off x="457200" y="3200400"/>
            <a:ext cx="5120640" cy="640080"/>
          </a:xfrm>
          <a:prstGeom prst="rect">
            <a:avLst/>
          </a:prstGeom>
          <a:noFill/>
          <a:ln/>
        </p:spPr>
        <p:txBody>
          <a:bodyPr wrap="square" lIns="0" tIns="0" rIns="0" bIns="0" rtlCol="0" anchor="t"/>
          <a:lstStyle/>
          <a:p>
            <a:pPr indent="0" marL="0">
              <a:buNone/>
            </a:pPr>
            <a:r>
              <a:rPr lang="en-US" sz="1400" i="1" dirty="0">
                <a:solidFill>
                  <a:srgbClr val="6B5F61"/>
                </a:solidFill>
                <a:latin typeface="Calibri" pitchFamily="34" charset="0"/>
                <a:ea typeface="Calibri" pitchFamily="34" charset="-122"/>
                <a:cs typeface="Calibri" pitchFamily="34" charset="-120"/>
              </a:rPr>
              <a:t>Beber agua con hidrógeno es la forma más eficaz de aprovechar sus beneficios.</a:t>
            </a:r>
            <a:endParaRPr lang="en-US" sz="1400" dirty="0"/>
          </a:p>
        </p:txBody>
      </p:sp>
      <p:sp>
        <p:nvSpPr>
          <p:cNvPr id="6" name="Shape 3"/>
          <p:cNvSpPr/>
          <p:nvPr/>
        </p:nvSpPr>
        <p:spPr>
          <a:xfrm>
            <a:off x="6309360" y="1188720"/>
            <a:ext cx="2011680" cy="2011680"/>
          </a:xfrm>
          <a:prstGeom prst="ellipse">
            <a:avLst/>
          </a:prstGeom>
          <a:solidFill>
            <a:srgbClr val="8B9AB7"/>
          </a:solidFill>
          <a:ln w="12700">
            <a:solidFill>
              <a:srgbClr val="8B9AB7"/>
            </a:solidFill>
            <a:prstDash val="solid"/>
          </a:ln>
        </p:spPr>
      </p:sp>
      <p:sp>
        <p:nvSpPr>
          <p:cNvPr id="7" name="Text 4"/>
          <p:cNvSpPr txBox="1"/>
          <p:nvPr/>
        </p:nvSpPr>
        <p:spPr>
          <a:xfrm>
            <a:off x="6309360" y="1188720"/>
            <a:ext cx="2011680" cy="2011680"/>
          </a:xfrm>
          <a:prstGeom prst="rect">
            <a:avLst/>
          </a:prstGeom>
          <a:noFill/>
          <a:ln/>
        </p:spPr>
        <p:txBody>
          <a:bodyPr wrap="square" lIns="0" tIns="0" rIns="0" bIns="0" rtlCol="0" anchor="ctr"/>
          <a:lstStyle/>
          <a:p>
            <a:pPr algn="ctr" indent="0" marL="0">
              <a:buNone/>
            </a:pPr>
            <a:r>
              <a:rPr lang="en-US" sz="4840" b="1" dirty="0">
                <a:solidFill>
                  <a:srgbClr val="FFFFFF"/>
                </a:solidFill>
                <a:latin typeface="Arial" pitchFamily="34" charset="0"/>
                <a:ea typeface="Arial" pitchFamily="34" charset="-122"/>
                <a:cs typeface="Arial" pitchFamily="34" charset="-120"/>
              </a:rPr>
              <a:t>H₂</a:t>
            </a:r>
            <a:endParaRPr lang="en-US" sz="4840" dirty="0"/>
          </a:p>
        </p:txBody>
      </p:sp>
      <p:sp>
        <p:nvSpPr>
          <p:cNvPr id="8" name="Shape 5"/>
          <p:cNvSpPr/>
          <p:nvPr/>
        </p:nvSpPr>
        <p:spPr>
          <a:xfrm>
            <a:off x="457200" y="3977640"/>
            <a:ext cx="2651760" cy="594360"/>
          </a:xfrm>
          <a:prstGeom prst="roundRect">
            <a:avLst>
              <a:gd name="adj" fmla="val 15385"/>
            </a:avLst>
          </a:prstGeom>
          <a:solidFill>
            <a:srgbClr val="EDF5EA"/>
          </a:solidFill>
          <a:ln w="12700">
            <a:solidFill>
              <a:srgbClr val="EDF5EA"/>
            </a:solidFill>
            <a:prstDash val="solid"/>
          </a:ln>
        </p:spPr>
      </p:sp>
      <p:sp>
        <p:nvSpPr>
          <p:cNvPr id="9" name="Text 6"/>
          <p:cNvSpPr txBox="1"/>
          <p:nvPr/>
        </p:nvSpPr>
        <p:spPr>
          <a:xfrm>
            <a:off x="594360" y="3977640"/>
            <a:ext cx="2468880" cy="594360"/>
          </a:xfrm>
          <a:prstGeom prst="rect">
            <a:avLst/>
          </a:prstGeom>
          <a:noFill/>
          <a:ln/>
        </p:spPr>
        <p:txBody>
          <a:bodyPr wrap="square" lIns="0" tIns="0" rIns="0" bIns="0" rtlCol="0" anchor="ctr"/>
          <a:lstStyle/>
          <a:p>
            <a:pPr indent="0" marL="0">
              <a:buNone/>
            </a:pPr>
            <a:r>
              <a:rPr lang="en-US" sz="1300" b="1" dirty="0">
                <a:solidFill>
                  <a:srgbClr val="2E2224"/>
                </a:solidFill>
                <a:latin typeface="Calibri" pitchFamily="34" charset="0"/>
                <a:ea typeface="Calibri" pitchFamily="34" charset="-122"/>
                <a:cs typeface="Calibri" pitchFamily="34" charset="-120"/>
              </a:rPr>
              <a:t>✓  Reduce la inflamación</a:t>
            </a:r>
            <a:endParaRPr lang="en-US" sz="1300" dirty="0"/>
          </a:p>
        </p:txBody>
      </p:sp>
      <p:sp>
        <p:nvSpPr>
          <p:cNvPr id="10" name="Shape 7"/>
          <p:cNvSpPr/>
          <p:nvPr/>
        </p:nvSpPr>
        <p:spPr>
          <a:xfrm>
            <a:off x="3246120" y="3977640"/>
            <a:ext cx="2651760" cy="594360"/>
          </a:xfrm>
          <a:prstGeom prst="roundRect">
            <a:avLst>
              <a:gd name="adj" fmla="val 15385"/>
            </a:avLst>
          </a:prstGeom>
          <a:solidFill>
            <a:srgbClr val="EDF5EA"/>
          </a:solidFill>
          <a:ln w="12700">
            <a:solidFill>
              <a:srgbClr val="EDF5EA"/>
            </a:solidFill>
            <a:prstDash val="solid"/>
          </a:ln>
        </p:spPr>
      </p:sp>
      <p:sp>
        <p:nvSpPr>
          <p:cNvPr id="11" name="Text 8"/>
          <p:cNvSpPr txBox="1"/>
          <p:nvPr/>
        </p:nvSpPr>
        <p:spPr>
          <a:xfrm>
            <a:off x="3383280" y="3977640"/>
            <a:ext cx="2468880" cy="594360"/>
          </a:xfrm>
          <a:prstGeom prst="rect">
            <a:avLst/>
          </a:prstGeom>
          <a:noFill/>
          <a:ln/>
        </p:spPr>
        <p:txBody>
          <a:bodyPr wrap="square" lIns="0" tIns="0" rIns="0" bIns="0" rtlCol="0" anchor="ctr"/>
          <a:lstStyle/>
          <a:p>
            <a:pPr indent="0" marL="0">
              <a:buNone/>
            </a:pPr>
            <a:r>
              <a:rPr lang="en-US" sz="1300" b="1" dirty="0">
                <a:solidFill>
                  <a:srgbClr val="2E2224"/>
                </a:solidFill>
                <a:latin typeface="Calibri" pitchFamily="34" charset="0"/>
                <a:ea typeface="Calibri" pitchFamily="34" charset="-122"/>
                <a:cs typeface="Calibri" pitchFamily="34" charset="-120"/>
              </a:rPr>
              <a:t>✓  Reduce el estrés celular</a:t>
            </a:r>
            <a:endParaRPr lang="en-US" sz="1300" dirty="0"/>
          </a:p>
        </p:txBody>
      </p:sp>
      <p:sp>
        <p:nvSpPr>
          <p:cNvPr id="12" name="Shape 9"/>
          <p:cNvSpPr/>
          <p:nvPr/>
        </p:nvSpPr>
        <p:spPr>
          <a:xfrm>
            <a:off x="6035040" y="3977640"/>
            <a:ext cx="2651760" cy="594360"/>
          </a:xfrm>
          <a:prstGeom prst="roundRect">
            <a:avLst>
              <a:gd name="adj" fmla="val 15385"/>
            </a:avLst>
          </a:prstGeom>
          <a:solidFill>
            <a:srgbClr val="EDF5EA"/>
          </a:solidFill>
          <a:ln w="12700">
            <a:solidFill>
              <a:srgbClr val="EDF5EA"/>
            </a:solidFill>
            <a:prstDash val="solid"/>
          </a:ln>
        </p:spPr>
      </p:sp>
      <p:sp>
        <p:nvSpPr>
          <p:cNvPr id="13" name="Text 10"/>
          <p:cNvSpPr txBox="1"/>
          <p:nvPr/>
        </p:nvSpPr>
        <p:spPr>
          <a:xfrm>
            <a:off x="6172200" y="3977640"/>
            <a:ext cx="2468880" cy="594360"/>
          </a:xfrm>
          <a:prstGeom prst="rect">
            <a:avLst/>
          </a:prstGeom>
          <a:noFill/>
          <a:ln/>
        </p:spPr>
        <p:txBody>
          <a:bodyPr wrap="square" lIns="0" tIns="0" rIns="0" bIns="0" rtlCol="0" anchor="ctr"/>
          <a:lstStyle/>
          <a:p>
            <a:pPr indent="0" marL="0">
              <a:buNone/>
            </a:pPr>
            <a:r>
              <a:rPr lang="en-US" sz="1300" b="1" dirty="0">
                <a:solidFill>
                  <a:srgbClr val="2E2224"/>
                </a:solidFill>
                <a:latin typeface="Calibri" pitchFamily="34" charset="0"/>
                <a:ea typeface="Calibri" pitchFamily="34" charset="-122"/>
                <a:cs typeface="Calibri" pitchFamily="34" charset="-120"/>
              </a:rPr>
              <a:t>✓  Reduce el estrés oxidativo</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Estrés oxidativo y radicales libres</a:t>
            </a:r>
            <a:endParaRPr lang="en-US" sz="2600" dirty="0"/>
          </a:p>
        </p:txBody>
      </p:sp>
      <p:sp>
        <p:nvSpPr>
          <p:cNvPr id="4" name="Text 1"/>
          <p:cNvSpPr txBox="1"/>
          <p:nvPr/>
        </p:nvSpPr>
        <p:spPr>
          <a:xfrm>
            <a:off x="457200" y="1051560"/>
            <a:ext cx="822960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El estrés oxidativo es un desequilibrio entre radicales libres y antioxidantes en el cuerpo. Los radicales libres son moléculas inestables (les falta un electrón) que dañan las células y contribuyen al envejecimiento y la enfermedad.</a:t>
            </a:r>
            <a:endParaRPr lang="en-US" sz="1400" dirty="0"/>
          </a:p>
        </p:txBody>
      </p:sp>
      <p:sp>
        <p:nvSpPr>
          <p:cNvPr id="5" name="Shape 2"/>
          <p:cNvSpPr/>
          <p:nvPr/>
        </p:nvSpPr>
        <p:spPr>
          <a:xfrm>
            <a:off x="457200" y="2011680"/>
            <a:ext cx="2560320" cy="2011680"/>
          </a:xfrm>
          <a:prstGeom prst="roundRect">
            <a:avLst>
              <a:gd name="adj" fmla="val 6818"/>
            </a:avLst>
          </a:prstGeom>
          <a:solidFill>
            <a:srgbClr val="EE7A7A"/>
          </a:solidFill>
          <a:ln w="12700">
            <a:solidFill>
              <a:srgbClr val="EE7A7A"/>
            </a:solidFill>
            <a:prstDash val="solid"/>
          </a:ln>
        </p:spPr>
      </p:sp>
      <p:sp>
        <p:nvSpPr>
          <p:cNvPr id="6" name="Text 3"/>
          <p:cNvSpPr txBox="1"/>
          <p:nvPr/>
        </p:nvSpPr>
        <p:spPr>
          <a:xfrm>
            <a:off x="640080" y="2148840"/>
            <a:ext cx="2194560" cy="274320"/>
          </a:xfrm>
          <a:prstGeom prst="rect">
            <a:avLst/>
          </a:prstGeom>
          <a:noFill/>
          <a:ln/>
        </p:spPr>
        <p:txBody>
          <a:bodyPr wrap="square" lIns="0" tIns="0" rIns="0" bIns="0" rtlCol="0" anchor="t"/>
          <a:lstStyle/>
          <a:p>
            <a:pPr indent="0" marL="0">
              <a:buNone/>
            </a:pPr>
            <a:r>
              <a:rPr lang="en-US" sz="1100" b="1" spc="200" kern="0" dirty="0">
                <a:solidFill>
                  <a:srgbClr val="2E2224"/>
                </a:solidFill>
                <a:latin typeface="Calibri" pitchFamily="34" charset="0"/>
                <a:ea typeface="Calibri" pitchFamily="34" charset="-122"/>
                <a:cs typeface="Calibri" pitchFamily="34" charset="-120"/>
              </a:rPr>
              <a:t>RADICAL LIBRE</a:t>
            </a:r>
            <a:endParaRPr lang="en-US" sz="1100" dirty="0"/>
          </a:p>
        </p:txBody>
      </p:sp>
      <p:sp>
        <p:nvSpPr>
          <p:cNvPr id="7" name="Text 4"/>
          <p:cNvSpPr txBox="1"/>
          <p:nvPr/>
        </p:nvSpPr>
        <p:spPr>
          <a:xfrm>
            <a:off x="640080" y="2468880"/>
            <a:ext cx="2194560" cy="457200"/>
          </a:xfrm>
          <a:prstGeom prst="rect">
            <a:avLst/>
          </a:prstGeom>
          <a:noFill/>
          <a:ln/>
        </p:spPr>
        <p:txBody>
          <a:bodyPr wrap="square" lIns="0" tIns="0" rIns="0" bIns="0" rtlCol="0" anchor="t"/>
          <a:lstStyle/>
          <a:p>
            <a:pPr indent="0" marL="0">
              <a:buNone/>
            </a:pPr>
            <a:r>
              <a:rPr lang="en-US" sz="2200" b="1" dirty="0">
                <a:solidFill>
                  <a:srgbClr val="2E2224"/>
                </a:solidFill>
                <a:latin typeface="Arial" pitchFamily="34" charset="0"/>
                <a:ea typeface="Arial" pitchFamily="34" charset="-122"/>
                <a:cs typeface="Arial" pitchFamily="34" charset="-120"/>
              </a:rPr>
              <a:t>El ladrón</a:t>
            </a:r>
            <a:endParaRPr lang="en-US" sz="2200" dirty="0"/>
          </a:p>
        </p:txBody>
      </p:sp>
      <p:sp>
        <p:nvSpPr>
          <p:cNvPr id="8" name="Text 5"/>
          <p:cNvSpPr txBox="1"/>
          <p:nvPr/>
        </p:nvSpPr>
        <p:spPr>
          <a:xfrm>
            <a:off x="640080" y="3017520"/>
            <a:ext cx="2194560" cy="91440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Le falta un electrón: inestable, desesperado y reactivo</a:t>
            </a:r>
            <a:endParaRPr lang="en-US" sz="1200" dirty="0"/>
          </a:p>
        </p:txBody>
      </p:sp>
      <p:sp>
        <p:nvSpPr>
          <p:cNvPr id="9" name="Text 6"/>
          <p:cNvSpPr txBox="1"/>
          <p:nvPr/>
        </p:nvSpPr>
        <p:spPr>
          <a:xfrm>
            <a:off x="3017520" y="2743200"/>
            <a:ext cx="274320"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3291840" y="2011680"/>
            <a:ext cx="2560320" cy="2011680"/>
          </a:xfrm>
          <a:prstGeom prst="roundRect">
            <a:avLst>
              <a:gd name="adj" fmla="val 6818"/>
            </a:avLst>
          </a:prstGeom>
          <a:solidFill>
            <a:srgbClr val="F4A78A"/>
          </a:solidFill>
          <a:ln w="12700">
            <a:solidFill>
              <a:srgbClr val="F4A78A"/>
            </a:solidFill>
            <a:prstDash val="solid"/>
          </a:ln>
        </p:spPr>
      </p:sp>
      <p:sp>
        <p:nvSpPr>
          <p:cNvPr id="11" name="Text 8"/>
          <p:cNvSpPr txBox="1"/>
          <p:nvPr/>
        </p:nvSpPr>
        <p:spPr>
          <a:xfrm>
            <a:off x="3474720" y="2148840"/>
            <a:ext cx="2194560" cy="274320"/>
          </a:xfrm>
          <a:prstGeom prst="rect">
            <a:avLst/>
          </a:prstGeom>
          <a:noFill/>
          <a:ln/>
        </p:spPr>
        <p:txBody>
          <a:bodyPr wrap="square" lIns="0" tIns="0" rIns="0" bIns="0" rtlCol="0" anchor="t"/>
          <a:lstStyle/>
          <a:p>
            <a:pPr indent="0" marL="0">
              <a:buNone/>
            </a:pPr>
            <a:r>
              <a:rPr lang="en-US" sz="1100" b="1" spc="200" kern="0" dirty="0">
                <a:solidFill>
                  <a:srgbClr val="2E2224"/>
                </a:solidFill>
                <a:latin typeface="Calibri" pitchFamily="34" charset="0"/>
                <a:ea typeface="Calibri" pitchFamily="34" charset="-122"/>
                <a:cs typeface="Calibri" pitchFamily="34" charset="-120"/>
              </a:rPr>
              <a:t>CÉLULA SANA</a:t>
            </a:r>
            <a:endParaRPr lang="en-US" sz="1100" dirty="0"/>
          </a:p>
        </p:txBody>
      </p:sp>
      <p:sp>
        <p:nvSpPr>
          <p:cNvPr id="12" name="Text 9"/>
          <p:cNvSpPr txBox="1"/>
          <p:nvPr/>
        </p:nvSpPr>
        <p:spPr>
          <a:xfrm>
            <a:off x="3474720" y="2468880"/>
            <a:ext cx="2194560" cy="457200"/>
          </a:xfrm>
          <a:prstGeom prst="rect">
            <a:avLst/>
          </a:prstGeom>
          <a:noFill/>
          <a:ln/>
        </p:spPr>
        <p:txBody>
          <a:bodyPr wrap="square" lIns="0" tIns="0" rIns="0" bIns="0" rtlCol="0" anchor="t"/>
          <a:lstStyle/>
          <a:p>
            <a:pPr indent="0" marL="0">
              <a:buNone/>
            </a:pPr>
            <a:r>
              <a:rPr lang="en-US" sz="2200" b="1" dirty="0">
                <a:solidFill>
                  <a:srgbClr val="2E2224"/>
                </a:solidFill>
                <a:latin typeface="Arial" pitchFamily="34" charset="0"/>
                <a:ea typeface="Arial" pitchFamily="34" charset="-122"/>
                <a:cs typeface="Arial" pitchFamily="34" charset="-120"/>
              </a:rPr>
              <a:t>La víctima</a:t>
            </a:r>
            <a:endParaRPr lang="en-US" sz="2200" dirty="0"/>
          </a:p>
        </p:txBody>
      </p:sp>
      <p:sp>
        <p:nvSpPr>
          <p:cNvPr id="13" name="Text 10"/>
          <p:cNvSpPr txBox="1"/>
          <p:nvPr/>
        </p:nvSpPr>
        <p:spPr>
          <a:xfrm>
            <a:off x="3474720" y="3017520"/>
            <a:ext cx="2194560" cy="91440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Le roban un electrón y se vuelve inestable también</a:t>
            </a:r>
            <a:endParaRPr lang="en-US" sz="1200" dirty="0"/>
          </a:p>
        </p:txBody>
      </p:sp>
      <p:sp>
        <p:nvSpPr>
          <p:cNvPr id="14" name="Text 11"/>
          <p:cNvSpPr txBox="1"/>
          <p:nvPr/>
        </p:nvSpPr>
        <p:spPr>
          <a:xfrm>
            <a:off x="5852160" y="2743200"/>
            <a:ext cx="274320" cy="457200"/>
          </a:xfrm>
          <a:prstGeom prst="rect">
            <a:avLst/>
          </a:prstGeom>
          <a:noFill/>
          <a:ln/>
        </p:spPr>
        <p:txBody>
          <a:bodyPr wrap="square" lIns="0" tIns="0" rIns="0" bIns="0" rtlCol="0" anchor="t"/>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6126480" y="2011680"/>
            <a:ext cx="2560320" cy="2011680"/>
          </a:xfrm>
          <a:prstGeom prst="roundRect">
            <a:avLst>
              <a:gd name="adj" fmla="val 6818"/>
            </a:avLst>
          </a:prstGeom>
          <a:solidFill>
            <a:srgbClr val="B9D3B1"/>
          </a:solidFill>
          <a:ln w="12700">
            <a:solidFill>
              <a:srgbClr val="B9D3B1"/>
            </a:solidFill>
            <a:prstDash val="solid"/>
          </a:ln>
        </p:spPr>
      </p:sp>
      <p:sp>
        <p:nvSpPr>
          <p:cNvPr id="16" name="Text 13"/>
          <p:cNvSpPr txBox="1"/>
          <p:nvPr/>
        </p:nvSpPr>
        <p:spPr>
          <a:xfrm>
            <a:off x="6309360" y="2148840"/>
            <a:ext cx="2194560" cy="274320"/>
          </a:xfrm>
          <a:prstGeom prst="rect">
            <a:avLst/>
          </a:prstGeom>
          <a:noFill/>
          <a:ln/>
        </p:spPr>
        <p:txBody>
          <a:bodyPr wrap="square" lIns="0" tIns="0" rIns="0" bIns="0" rtlCol="0" anchor="t"/>
          <a:lstStyle/>
          <a:p>
            <a:pPr indent="0" marL="0">
              <a:buNone/>
            </a:pPr>
            <a:r>
              <a:rPr lang="en-US" sz="1100" b="1" spc="200" kern="0" dirty="0">
                <a:solidFill>
                  <a:srgbClr val="2E2224"/>
                </a:solidFill>
                <a:latin typeface="Calibri" pitchFamily="34" charset="0"/>
                <a:ea typeface="Calibri" pitchFamily="34" charset="-122"/>
                <a:cs typeface="Calibri" pitchFamily="34" charset="-120"/>
              </a:rPr>
              <a:t>HIDRÓGENO MOLECULAR</a:t>
            </a:r>
            <a:endParaRPr lang="en-US" sz="1100" dirty="0"/>
          </a:p>
        </p:txBody>
      </p:sp>
      <p:sp>
        <p:nvSpPr>
          <p:cNvPr id="17" name="Text 14"/>
          <p:cNvSpPr txBox="1"/>
          <p:nvPr/>
        </p:nvSpPr>
        <p:spPr>
          <a:xfrm>
            <a:off x="6309360" y="2468880"/>
            <a:ext cx="2194560" cy="457200"/>
          </a:xfrm>
          <a:prstGeom prst="rect">
            <a:avLst/>
          </a:prstGeom>
          <a:noFill/>
          <a:ln/>
        </p:spPr>
        <p:txBody>
          <a:bodyPr wrap="square" lIns="0" tIns="0" rIns="0" bIns="0" rtlCol="0" anchor="t"/>
          <a:lstStyle/>
          <a:p>
            <a:pPr indent="0" marL="0">
              <a:buNone/>
            </a:pPr>
            <a:r>
              <a:rPr lang="en-US" sz="2200" b="1" dirty="0">
                <a:solidFill>
                  <a:srgbClr val="2E2224"/>
                </a:solidFill>
                <a:latin typeface="Arial" pitchFamily="34" charset="0"/>
                <a:ea typeface="Arial" pitchFamily="34" charset="-122"/>
                <a:cs typeface="Arial" pitchFamily="34" charset="-120"/>
              </a:rPr>
              <a:t>El héroe</a:t>
            </a:r>
            <a:endParaRPr lang="en-US" sz="2200" dirty="0"/>
          </a:p>
        </p:txBody>
      </p:sp>
      <p:sp>
        <p:nvSpPr>
          <p:cNvPr id="18" name="Text 15"/>
          <p:cNvSpPr txBox="1"/>
          <p:nvPr/>
        </p:nvSpPr>
        <p:spPr>
          <a:xfrm>
            <a:off x="6309360" y="3017520"/>
            <a:ext cx="2194560" cy="91440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Dona electrones y neutraliza a los radicales sin volverse inestable</a:t>
            </a:r>
            <a:endParaRPr lang="en-US" sz="1200" dirty="0"/>
          </a:p>
        </p:txBody>
      </p:sp>
      <p:sp>
        <p:nvSpPr>
          <p:cNvPr id="19" name="Text 16"/>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400" i="1" dirty="0">
                <a:solidFill>
                  <a:srgbClr val="F2C14E"/>
                </a:solidFill>
                <a:latin typeface="Calibri" pitchFamily="34" charset="0"/>
                <a:ea typeface="Calibri" pitchFamily="34" charset="-122"/>
                <a:cs typeface="Calibri" pitchFamily="34" charset="-120"/>
              </a:rPr>
              <a:t>Los antioxidantes frenan esa reacción en cadena: neutralizan los radicales libres antes de que causen daño.</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¿Qué provoca la producción de radicales libres?</a:t>
            </a:r>
            <a:endParaRPr lang="en-US" sz="2600" dirty="0"/>
          </a:p>
        </p:txBody>
      </p:sp>
      <p:sp>
        <p:nvSpPr>
          <p:cNvPr id="4" name="Text 1"/>
          <p:cNvSpPr txBox="1"/>
          <p:nvPr/>
        </p:nvSpPr>
        <p:spPr>
          <a:xfrm>
            <a:off x="457200" y="1143000"/>
            <a:ext cx="3931920" cy="29260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Alimentos procesados y aditivos</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Exceso de azúcar</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Bebidas carbonatadas y con cafeína</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Contaminación ambiental</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Ciertos medicamentos / uso elevado de antibióticos</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Obesidad</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Humo de coches</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Alcohol y drogas</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Rayos UV</a:t>
            </a:r>
            <a:endParaRPr lang="en-US" sz="1300" dirty="0"/>
          </a:p>
        </p:txBody>
      </p:sp>
      <p:sp>
        <p:nvSpPr>
          <p:cNvPr id="5" name="Text 2"/>
          <p:cNvSpPr txBox="1"/>
          <p:nvPr/>
        </p:nvSpPr>
        <p:spPr>
          <a:xfrm>
            <a:off x="4754880" y="1143000"/>
            <a:ext cx="3931920" cy="29260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Pesticidas y herbicidas</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Agua del grifo / clorada</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Agua embotellada</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Polución y toxinas</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Falta de sueño</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Exposición a radiación</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Cigarrillos</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PFAS en la ropa</a:t>
            </a:r>
            <a:endParaRPr lang="en-US" sz="1300" dirty="0"/>
          </a:p>
          <a:p>
            <a:pPr marL="342900" indent="-342900">
              <a:spcAft>
                <a:spcPts val="300"/>
              </a:spcAft>
              <a:buSzPct val="100000"/>
              <a:buChar char="•"/>
            </a:pPr>
            <a:r>
              <a:rPr lang="en-US" sz="1300" dirty="0">
                <a:solidFill>
                  <a:srgbClr val="2E2224"/>
                </a:solidFill>
                <a:latin typeface="Calibri" pitchFamily="34" charset="0"/>
                <a:ea typeface="Calibri" pitchFamily="34" charset="-122"/>
                <a:cs typeface="Calibri" pitchFamily="34" charset="-120"/>
              </a:rPr>
              <a:t>Pensamientos tóxicos</a:t>
            </a:r>
            <a:endParaRPr lang="en-US" sz="1300" dirty="0"/>
          </a:p>
        </p:txBody>
      </p:sp>
      <p:sp>
        <p:nvSpPr>
          <p:cNvPr id="6" name="Shape 3"/>
          <p:cNvSpPr/>
          <p:nvPr/>
        </p:nvSpPr>
        <p:spPr>
          <a:xfrm>
            <a:off x="457200" y="4114800"/>
            <a:ext cx="8229600" cy="594360"/>
          </a:xfrm>
          <a:prstGeom prst="roundRect">
            <a:avLst>
              <a:gd name="adj" fmla="val 15385"/>
            </a:avLst>
          </a:prstGeom>
          <a:solidFill>
            <a:srgbClr val="E8ECF3"/>
          </a:solidFill>
          <a:ln w="12700">
            <a:solidFill>
              <a:srgbClr val="E8ECF3"/>
            </a:solidFill>
            <a:prstDash val="solid"/>
          </a:ln>
        </p:spPr>
      </p:sp>
      <p:sp>
        <p:nvSpPr>
          <p:cNvPr id="7" name="Text 4"/>
          <p:cNvSpPr txBox="1"/>
          <p:nvPr/>
        </p:nvSpPr>
        <p:spPr>
          <a:xfrm>
            <a:off x="640080" y="4114800"/>
            <a:ext cx="7863840" cy="594360"/>
          </a:xfrm>
          <a:prstGeom prst="rect">
            <a:avLst/>
          </a:prstGeom>
          <a:noFill/>
          <a:ln/>
        </p:spPr>
        <p:txBody>
          <a:bodyPr wrap="square" lIns="0" tIns="0" rIns="0" bIns="0" rtlCol="0" anchor="ctr"/>
          <a:lstStyle/>
          <a:p>
            <a:pPr indent="0" marL="0">
              <a:buNone/>
            </a:pPr>
            <a:r>
              <a:rPr lang="en-US" sz="1250" b="1" dirty="0">
                <a:solidFill>
                  <a:srgbClr val="2E2224"/>
                </a:solidFill>
                <a:latin typeface="Calibri" pitchFamily="34" charset="0"/>
                <a:ea typeface="Calibri" pitchFamily="34" charset="-122"/>
                <a:cs typeface="Calibri" pitchFamily="34" charset="-120"/>
              </a:rPr>
              <a:t>Según la presentación: un radical libre puede dañar 2 millones de células sanas en un minuto, y cada célula recibe unos 15.000 ataques al día.</a:t>
            </a:r>
            <a:endParaRPr lang="en-US" sz="125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El H₂ frente a los radicales libres</a:t>
            </a:r>
            <a:endParaRPr lang="en-US" sz="2600" dirty="0"/>
          </a:p>
        </p:txBody>
      </p:sp>
      <p:sp>
        <p:nvSpPr>
          <p:cNvPr id="4" name="Shape 1"/>
          <p:cNvSpPr/>
          <p:nvPr/>
        </p:nvSpPr>
        <p:spPr>
          <a:xfrm>
            <a:off x="457200" y="1143000"/>
            <a:ext cx="4023360" cy="1645920"/>
          </a:xfrm>
          <a:prstGeom prst="roundRect">
            <a:avLst>
              <a:gd name="adj" fmla="val 6667"/>
            </a:avLst>
          </a:prstGeom>
          <a:solidFill>
            <a:srgbClr val="EDF5EA"/>
          </a:solidFill>
          <a:ln w="12700">
            <a:solidFill>
              <a:srgbClr val="EDF5EA"/>
            </a:solidFill>
            <a:prstDash val="solid"/>
          </a:ln>
        </p:spPr>
      </p:sp>
      <p:sp>
        <p:nvSpPr>
          <p:cNvPr id="5" name="Text 2"/>
          <p:cNvSpPr txBox="1"/>
          <p:nvPr/>
        </p:nvSpPr>
        <p:spPr>
          <a:xfrm>
            <a:off x="640080" y="1307592"/>
            <a:ext cx="365760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Antioxidante selectivo</a:t>
            </a:r>
            <a:endParaRPr lang="en-US" sz="1500" dirty="0"/>
          </a:p>
        </p:txBody>
      </p:sp>
      <p:sp>
        <p:nvSpPr>
          <p:cNvPr id="6" name="Text 3"/>
          <p:cNvSpPr txBox="1"/>
          <p:nvPr/>
        </p:nvSpPr>
        <p:spPr>
          <a:xfrm>
            <a:off x="640080" y="1737360"/>
            <a:ext cx="3657600" cy="914400"/>
          </a:xfrm>
          <a:prstGeom prst="rect">
            <a:avLst/>
          </a:prstGeom>
          <a:noFill/>
          <a:ln/>
        </p:spPr>
        <p:txBody>
          <a:bodyPr wrap="square" lIns="0" tIns="0" rIns="0" bIns="0" rtlCol="0" anchor="t"/>
          <a:lstStyle/>
          <a:p>
            <a:pPr algn="l" indent="0" marL="0">
              <a:buNone/>
            </a:pPr>
            <a:r>
              <a:rPr lang="en-US" sz="1300" dirty="0">
                <a:solidFill>
                  <a:srgbClr val="2E2224"/>
                </a:solidFill>
                <a:latin typeface="Calibri" pitchFamily="34" charset="0"/>
                <a:ea typeface="Calibri" pitchFamily="34" charset="-122"/>
                <a:cs typeface="Calibri" pitchFamily="34" charset="-120"/>
              </a:rPr>
              <a:t>Solo neutraliza los radicales más dañinos y deja intactos los oxidantes beneficiosos para el sistema inmune y la función celular.</a:t>
            </a:r>
            <a:endParaRPr lang="en-US" sz="1300" dirty="0"/>
          </a:p>
        </p:txBody>
      </p:sp>
      <p:sp>
        <p:nvSpPr>
          <p:cNvPr id="7" name="Shape 4"/>
          <p:cNvSpPr/>
          <p:nvPr/>
        </p:nvSpPr>
        <p:spPr>
          <a:xfrm>
            <a:off x="4663440" y="1143000"/>
            <a:ext cx="4023360" cy="1645920"/>
          </a:xfrm>
          <a:prstGeom prst="roundRect">
            <a:avLst>
              <a:gd name="adj" fmla="val 6667"/>
            </a:avLst>
          </a:prstGeom>
          <a:solidFill>
            <a:srgbClr val="FBEAEA"/>
          </a:solidFill>
          <a:ln w="12700">
            <a:solidFill>
              <a:srgbClr val="FBEAEA"/>
            </a:solidFill>
            <a:prstDash val="solid"/>
          </a:ln>
        </p:spPr>
      </p:sp>
      <p:sp>
        <p:nvSpPr>
          <p:cNvPr id="8" name="Text 5"/>
          <p:cNvSpPr txBox="1"/>
          <p:nvPr/>
        </p:nvSpPr>
        <p:spPr>
          <a:xfrm>
            <a:off x="4846320" y="1307592"/>
            <a:ext cx="365760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Activa las defensas del cuerpo</a:t>
            </a:r>
            <a:endParaRPr lang="en-US" sz="1500" dirty="0"/>
          </a:p>
        </p:txBody>
      </p:sp>
      <p:sp>
        <p:nvSpPr>
          <p:cNvPr id="9" name="Text 6"/>
          <p:cNvSpPr txBox="1"/>
          <p:nvPr/>
        </p:nvSpPr>
        <p:spPr>
          <a:xfrm>
            <a:off x="4846320" y="1737360"/>
            <a:ext cx="3657600" cy="914400"/>
          </a:xfrm>
          <a:prstGeom prst="rect">
            <a:avLst/>
          </a:prstGeom>
          <a:noFill/>
          <a:ln/>
        </p:spPr>
        <p:txBody>
          <a:bodyPr wrap="square" lIns="0" tIns="0" rIns="0" bIns="0" rtlCol="0" anchor="t"/>
          <a:lstStyle/>
          <a:p>
            <a:pPr algn="l" indent="0" marL="0">
              <a:buNone/>
            </a:pPr>
            <a:r>
              <a:rPr lang="en-US" sz="1300" dirty="0">
                <a:solidFill>
                  <a:srgbClr val="2E2224"/>
                </a:solidFill>
                <a:latin typeface="Calibri" pitchFamily="34" charset="0"/>
                <a:ea typeface="Calibri" pitchFamily="34" charset="-122"/>
                <a:cs typeface="Calibri" pitchFamily="34" charset="-120"/>
              </a:rPr>
              <a:t>Activa la vía Nrf2, que indica a las células que produzcan más glutatión, el antioxidante maestro del cuerpo.</a:t>
            </a:r>
            <a:endParaRPr lang="en-US" sz="1300" dirty="0"/>
          </a:p>
        </p:txBody>
      </p:sp>
      <p:sp>
        <p:nvSpPr>
          <p:cNvPr id="10" name="Shape 7"/>
          <p:cNvSpPr/>
          <p:nvPr/>
        </p:nvSpPr>
        <p:spPr>
          <a:xfrm>
            <a:off x="457200" y="2926080"/>
            <a:ext cx="4023360" cy="1645920"/>
          </a:xfrm>
          <a:prstGeom prst="roundRect">
            <a:avLst>
              <a:gd name="adj" fmla="val 6667"/>
            </a:avLst>
          </a:prstGeom>
          <a:solidFill>
            <a:srgbClr val="E8ECF3"/>
          </a:solidFill>
          <a:ln w="12700">
            <a:solidFill>
              <a:srgbClr val="E8ECF3"/>
            </a:solidFill>
            <a:prstDash val="solid"/>
          </a:ln>
        </p:spPr>
      </p:sp>
      <p:sp>
        <p:nvSpPr>
          <p:cNvPr id="11" name="Text 8"/>
          <p:cNvSpPr txBox="1"/>
          <p:nvPr/>
        </p:nvSpPr>
        <p:spPr>
          <a:xfrm>
            <a:off x="640080" y="3090672"/>
            <a:ext cx="365760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Frena el exceso de radicales libres</a:t>
            </a:r>
            <a:endParaRPr lang="en-US" sz="1500" dirty="0"/>
          </a:p>
        </p:txBody>
      </p:sp>
      <p:sp>
        <p:nvSpPr>
          <p:cNvPr id="12" name="Text 9"/>
          <p:cNvSpPr txBox="1"/>
          <p:nvPr/>
        </p:nvSpPr>
        <p:spPr>
          <a:xfrm>
            <a:off x="640080" y="3520440"/>
            <a:ext cx="3657600" cy="914400"/>
          </a:xfrm>
          <a:prstGeom prst="rect">
            <a:avLst/>
          </a:prstGeom>
          <a:noFill/>
          <a:ln/>
        </p:spPr>
        <p:txBody>
          <a:bodyPr wrap="square" lIns="0" tIns="0" rIns="0" bIns="0" rtlCol="0" anchor="t"/>
          <a:lstStyle/>
          <a:p>
            <a:pPr algn="l" indent="0" marL="0">
              <a:buNone/>
            </a:pPr>
            <a:r>
              <a:rPr lang="en-US" sz="1300" dirty="0">
                <a:solidFill>
                  <a:srgbClr val="2E2224"/>
                </a:solidFill>
                <a:latin typeface="Calibri" pitchFamily="34" charset="0"/>
                <a:ea typeface="Calibri" pitchFamily="34" charset="-122"/>
                <a:cs typeface="Calibri" pitchFamily="34" charset="-120"/>
              </a:rPr>
              <a:t>Se afirma que el H₂ reduce el estrés oxidativo hasta un 70%.</a:t>
            </a:r>
            <a:endParaRPr lang="en-US" sz="1300" dirty="0"/>
          </a:p>
        </p:txBody>
      </p:sp>
      <p:sp>
        <p:nvSpPr>
          <p:cNvPr id="13" name="Shape 10"/>
          <p:cNvSpPr/>
          <p:nvPr/>
        </p:nvSpPr>
        <p:spPr>
          <a:xfrm>
            <a:off x="4663440" y="2926080"/>
            <a:ext cx="4023360" cy="1645920"/>
          </a:xfrm>
          <a:prstGeom prst="roundRect">
            <a:avLst>
              <a:gd name="adj" fmla="val 6667"/>
            </a:avLst>
          </a:prstGeom>
          <a:solidFill>
            <a:srgbClr val="FDF3DC"/>
          </a:solidFill>
          <a:ln w="12700">
            <a:solidFill>
              <a:srgbClr val="FDF3DC"/>
            </a:solidFill>
            <a:prstDash val="solid"/>
          </a:ln>
        </p:spPr>
      </p:sp>
      <p:sp>
        <p:nvSpPr>
          <p:cNvPr id="14" name="Text 11"/>
          <p:cNvSpPr txBox="1"/>
          <p:nvPr/>
        </p:nvSpPr>
        <p:spPr>
          <a:xfrm>
            <a:off x="4846320" y="3090672"/>
            <a:ext cx="365760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1 vaso de agua con hidrógeno</a:t>
            </a:r>
            <a:endParaRPr lang="en-US" sz="1500" dirty="0"/>
          </a:p>
        </p:txBody>
      </p:sp>
      <p:sp>
        <p:nvSpPr>
          <p:cNvPr id="15" name="Text 12"/>
          <p:cNvSpPr txBox="1"/>
          <p:nvPr/>
        </p:nvSpPr>
        <p:spPr>
          <a:xfrm>
            <a:off x="4846320" y="3520440"/>
            <a:ext cx="3657600" cy="914400"/>
          </a:xfrm>
          <a:prstGeom prst="rect">
            <a:avLst/>
          </a:prstGeom>
          <a:noFill/>
          <a:ln/>
        </p:spPr>
        <p:txBody>
          <a:bodyPr wrap="square" lIns="0" tIns="0" rIns="0" bIns="0" rtlCol="0" anchor="t"/>
          <a:lstStyle/>
          <a:p>
            <a:pPr algn="l" indent="0" marL="0">
              <a:buNone/>
            </a:pPr>
            <a:r>
              <a:rPr lang="en-US" sz="1300" dirty="0">
                <a:solidFill>
                  <a:srgbClr val="2E2224"/>
                </a:solidFill>
                <a:latin typeface="Calibri" pitchFamily="34" charset="0"/>
                <a:ea typeface="Calibri" pitchFamily="34" charset="-122"/>
                <a:cs typeface="Calibri" pitchFamily="34" charset="-120"/>
              </a:rPr>
              <a:t>Se compara en antioxidantes con 1 kg de arándanos, 64 manzanas, 30 tazas de té verde o 5 kg de brócoli.</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Testimonios de salud compartidos</a:t>
            </a:r>
            <a:endParaRPr lang="en-US" sz="2600" dirty="0"/>
          </a:p>
        </p:txBody>
      </p:sp>
      <p:sp>
        <p:nvSpPr>
          <p:cNvPr id="4" name="Shape 1"/>
          <p:cNvSpPr/>
          <p:nvPr/>
        </p:nvSpPr>
        <p:spPr>
          <a:xfrm>
            <a:off x="457200" y="1143000"/>
            <a:ext cx="1920240" cy="2834640"/>
          </a:xfrm>
          <a:prstGeom prst="roundRect">
            <a:avLst>
              <a:gd name="adj" fmla="val 5714"/>
            </a:avLst>
          </a:prstGeom>
          <a:solidFill>
            <a:srgbClr val="EE7A7A"/>
          </a:solidFill>
          <a:ln w="12700">
            <a:solidFill>
              <a:srgbClr val="EE7A7A"/>
            </a:solidFill>
            <a:prstDash val="solid"/>
          </a:ln>
        </p:spPr>
      </p:sp>
      <p:sp>
        <p:nvSpPr>
          <p:cNvPr id="5" name="Text 2"/>
          <p:cNvSpPr txBox="1"/>
          <p:nvPr/>
        </p:nvSpPr>
        <p:spPr>
          <a:xfrm>
            <a:off x="640080" y="1307592"/>
            <a:ext cx="155448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Piel y celiaquía</a:t>
            </a:r>
            <a:endParaRPr lang="en-US" sz="1500" dirty="0"/>
          </a:p>
        </p:txBody>
      </p:sp>
      <p:sp>
        <p:nvSpPr>
          <p:cNvPr id="6" name="Text 3"/>
          <p:cNvSpPr txBox="1"/>
          <p:nvPr/>
        </p:nvSpPr>
        <p:spPr>
          <a:xfrm>
            <a:off x="640080" y="2057400"/>
            <a:ext cx="1554480" cy="1783080"/>
          </a:xfrm>
          <a:prstGeom prst="rect">
            <a:avLst/>
          </a:prstGeom>
          <a:noFill/>
          <a:ln/>
        </p:spPr>
        <p:txBody>
          <a:bodyPr wrap="square" lIns="0" tIns="0" rIns="0" bIns="0" rtlCol="0" anchor="t"/>
          <a:lstStyle/>
          <a:p>
            <a:pPr algn="l" indent="0" marL="0">
              <a:buNone/>
            </a:pPr>
            <a:r>
              <a:rPr lang="en-US" sz="1200" dirty="0">
                <a:solidFill>
                  <a:srgbClr val="2E2224"/>
                </a:solidFill>
                <a:latin typeface="Calibri" pitchFamily="34" charset="0"/>
                <a:ea typeface="Calibri" pitchFamily="34" charset="-122"/>
                <a:cs typeface="Calibri" pitchFamily="34" charset="-120"/>
              </a:rPr>
              <a:t>Erupción facial tras una intoxicación alimentaria que, según cuenta, desapareció a las 2 semanas de beber el agua.</a:t>
            </a:r>
            <a:endParaRPr lang="en-US" sz="1200" dirty="0"/>
          </a:p>
        </p:txBody>
      </p:sp>
      <p:sp>
        <p:nvSpPr>
          <p:cNvPr id="7" name="Shape 4"/>
          <p:cNvSpPr/>
          <p:nvPr/>
        </p:nvSpPr>
        <p:spPr>
          <a:xfrm>
            <a:off x="2560320" y="1143000"/>
            <a:ext cx="1920240" cy="2834640"/>
          </a:xfrm>
          <a:prstGeom prst="roundRect">
            <a:avLst>
              <a:gd name="adj" fmla="val 5714"/>
            </a:avLst>
          </a:prstGeom>
          <a:solidFill>
            <a:srgbClr val="B9D3B1"/>
          </a:solidFill>
          <a:ln w="12700">
            <a:solidFill>
              <a:srgbClr val="B9D3B1"/>
            </a:solidFill>
            <a:prstDash val="solid"/>
          </a:ln>
        </p:spPr>
      </p:sp>
      <p:sp>
        <p:nvSpPr>
          <p:cNvPr id="8" name="Text 5"/>
          <p:cNvSpPr txBox="1"/>
          <p:nvPr/>
        </p:nvSpPr>
        <p:spPr>
          <a:xfrm>
            <a:off x="2743200" y="1307592"/>
            <a:ext cx="155448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Peso, rodilla y migrañas</a:t>
            </a:r>
            <a:endParaRPr lang="en-US" sz="1500" dirty="0"/>
          </a:p>
        </p:txBody>
      </p:sp>
      <p:sp>
        <p:nvSpPr>
          <p:cNvPr id="9" name="Text 6"/>
          <p:cNvSpPr txBox="1"/>
          <p:nvPr/>
        </p:nvSpPr>
        <p:spPr>
          <a:xfrm>
            <a:off x="2743200" y="2057400"/>
            <a:ext cx="1554480" cy="1783080"/>
          </a:xfrm>
          <a:prstGeom prst="rect">
            <a:avLst/>
          </a:prstGeom>
          <a:noFill/>
          <a:ln/>
        </p:spPr>
        <p:txBody>
          <a:bodyPr wrap="square" lIns="0" tIns="0" rIns="0" bIns="0" rtlCol="0" anchor="t"/>
          <a:lstStyle/>
          <a:p>
            <a:pPr algn="l" indent="0" marL="0">
              <a:buNone/>
            </a:pPr>
            <a:r>
              <a:rPr lang="en-US" sz="1200" dirty="0">
                <a:solidFill>
                  <a:srgbClr val="2E2224"/>
                </a:solidFill>
                <a:latin typeface="Calibri" pitchFamily="34" charset="0"/>
                <a:ea typeface="Calibri" pitchFamily="34" charset="-122"/>
                <a:cs typeface="Calibri" pitchFamily="34" charset="-120"/>
              </a:rPr>
              <a:t>Pérdida de peso y menos dolor crónico tras empezar a beber un galón al día.</a:t>
            </a:r>
            <a:endParaRPr lang="en-US" sz="1200" dirty="0"/>
          </a:p>
        </p:txBody>
      </p:sp>
      <p:sp>
        <p:nvSpPr>
          <p:cNvPr id="10" name="Shape 7"/>
          <p:cNvSpPr/>
          <p:nvPr/>
        </p:nvSpPr>
        <p:spPr>
          <a:xfrm>
            <a:off x="4663440" y="1143000"/>
            <a:ext cx="1920240" cy="2834640"/>
          </a:xfrm>
          <a:prstGeom prst="roundRect">
            <a:avLst>
              <a:gd name="adj" fmla="val 5714"/>
            </a:avLst>
          </a:prstGeom>
          <a:solidFill>
            <a:srgbClr val="8B9AB7"/>
          </a:solidFill>
          <a:ln w="12700">
            <a:solidFill>
              <a:srgbClr val="8B9AB7"/>
            </a:solidFill>
            <a:prstDash val="solid"/>
          </a:ln>
        </p:spPr>
      </p:sp>
      <p:sp>
        <p:nvSpPr>
          <p:cNvPr id="11" name="Text 8"/>
          <p:cNvSpPr txBox="1"/>
          <p:nvPr/>
        </p:nvSpPr>
        <p:spPr>
          <a:xfrm>
            <a:off x="4846320" y="1307592"/>
            <a:ext cx="155448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Asma y digestión</a:t>
            </a:r>
            <a:endParaRPr lang="en-US" sz="1500" dirty="0"/>
          </a:p>
        </p:txBody>
      </p:sp>
      <p:sp>
        <p:nvSpPr>
          <p:cNvPr id="12" name="Text 9"/>
          <p:cNvSpPr txBox="1"/>
          <p:nvPr/>
        </p:nvSpPr>
        <p:spPr>
          <a:xfrm>
            <a:off x="4846320" y="2057400"/>
            <a:ext cx="1554480" cy="1783080"/>
          </a:xfrm>
          <a:prstGeom prst="rect">
            <a:avLst/>
          </a:prstGeom>
          <a:noFill/>
          <a:ln/>
        </p:spPr>
        <p:txBody>
          <a:bodyPr wrap="square" lIns="0" tIns="0" rIns="0" bIns="0" rtlCol="0" anchor="t"/>
          <a:lstStyle/>
          <a:p>
            <a:pPr algn="l" indent="0" marL="0">
              <a:buNone/>
            </a:pPr>
            <a:r>
              <a:rPr lang="en-US" sz="1200" dirty="0">
                <a:solidFill>
                  <a:srgbClr val="2E2224"/>
                </a:solidFill>
                <a:latin typeface="Calibri" pitchFamily="34" charset="0"/>
                <a:ea typeface="Calibri" pitchFamily="34" charset="-122"/>
                <a:cs typeface="Calibri" pitchFamily="34" charset="-120"/>
              </a:rPr>
              <a:t>Una atleta cuenta que mejoró su estreñimiento y dejó su inhalador en dos semanas.</a:t>
            </a:r>
            <a:endParaRPr lang="en-US" sz="1200" dirty="0"/>
          </a:p>
        </p:txBody>
      </p:sp>
      <p:sp>
        <p:nvSpPr>
          <p:cNvPr id="13" name="Shape 10"/>
          <p:cNvSpPr/>
          <p:nvPr/>
        </p:nvSpPr>
        <p:spPr>
          <a:xfrm>
            <a:off x="6766560" y="1143000"/>
            <a:ext cx="1920240" cy="2834640"/>
          </a:xfrm>
          <a:prstGeom prst="roundRect">
            <a:avLst>
              <a:gd name="adj" fmla="val 5714"/>
            </a:avLst>
          </a:prstGeom>
          <a:solidFill>
            <a:srgbClr val="F2C14E"/>
          </a:solidFill>
          <a:ln w="12700">
            <a:solidFill>
              <a:srgbClr val="F2C14E"/>
            </a:solidFill>
            <a:prstDash val="solid"/>
          </a:ln>
        </p:spPr>
      </p:sp>
      <p:sp>
        <p:nvSpPr>
          <p:cNvPr id="14" name="Text 11"/>
          <p:cNvSpPr txBox="1"/>
          <p:nvPr/>
        </p:nvSpPr>
        <p:spPr>
          <a:xfrm>
            <a:off x="6949440" y="1307592"/>
            <a:ext cx="1554480" cy="457200"/>
          </a:xfrm>
          <a:prstGeom prst="rect">
            <a:avLst/>
          </a:prstGeom>
          <a:noFill/>
          <a:ln/>
        </p:spPr>
        <p:txBody>
          <a:bodyPr wrap="square" lIns="0" tIns="0" rIns="0" bIns="0" rtlCol="0" anchor="t"/>
          <a:lstStyle/>
          <a:p>
            <a:pPr algn="l" indent="0" marL="0">
              <a:buNone/>
            </a:pPr>
            <a:r>
              <a:rPr lang="en-US" sz="1500" b="1" dirty="0">
                <a:solidFill>
                  <a:srgbClr val="2E2224"/>
                </a:solidFill>
                <a:latin typeface="Arial" pitchFamily="34" charset="0"/>
                <a:ea typeface="Arial" pitchFamily="34" charset="-122"/>
                <a:cs typeface="Arial" pitchFamily="34" charset="-120"/>
              </a:rPr>
              <a:t>Medicación</a:t>
            </a:r>
            <a:endParaRPr lang="en-US" sz="1500" dirty="0"/>
          </a:p>
        </p:txBody>
      </p:sp>
      <p:sp>
        <p:nvSpPr>
          <p:cNvPr id="15" name="Text 12"/>
          <p:cNvSpPr txBox="1"/>
          <p:nvPr/>
        </p:nvSpPr>
        <p:spPr>
          <a:xfrm>
            <a:off x="6949440" y="2057400"/>
            <a:ext cx="1554480" cy="1783080"/>
          </a:xfrm>
          <a:prstGeom prst="rect">
            <a:avLst/>
          </a:prstGeom>
          <a:noFill/>
          <a:ln/>
        </p:spPr>
        <p:txBody>
          <a:bodyPr wrap="square" lIns="0" tIns="0" rIns="0" bIns="0" rtlCol="0" anchor="t"/>
          <a:lstStyle/>
          <a:p>
            <a:pPr algn="l" indent="0" marL="0">
              <a:buNone/>
            </a:pPr>
            <a:r>
              <a:rPr lang="en-US" sz="1200" dirty="0">
                <a:solidFill>
                  <a:srgbClr val="2E2224"/>
                </a:solidFill>
                <a:latin typeface="Calibri" pitchFamily="34" charset="0"/>
                <a:ea typeface="Calibri" pitchFamily="34" charset="-122"/>
                <a:cs typeface="Calibri" pitchFamily="34" charset="-120"/>
              </a:rPr>
              <a:t>Varios testimonios afirman haber reducido medicamentos tras meses bebiendo el agua.</a:t>
            </a:r>
            <a:endParaRPr lang="en-US" sz="1200" dirty="0"/>
          </a:p>
        </p:txBody>
      </p:sp>
      <p:sp>
        <p:nvSpPr>
          <p:cNvPr id="16" name="Text 13"/>
          <p:cNvSpPr txBox="1"/>
          <p:nvPr/>
        </p:nvSpPr>
        <p:spPr>
          <a:xfrm>
            <a:off x="457200" y="4160520"/>
            <a:ext cx="8229600" cy="502920"/>
          </a:xfrm>
          <a:prstGeom prst="rect">
            <a:avLst/>
          </a:prstGeom>
          <a:noFill/>
          <a:ln/>
        </p:spPr>
        <p:txBody>
          <a:bodyPr wrap="square" lIns="0" tIns="0" rIns="0" bIns="0" rtlCol="0" anchor="t"/>
          <a:lstStyle/>
          <a:p>
            <a:pPr indent="0" marL="0">
              <a:buNone/>
            </a:pPr>
            <a:r>
              <a:rPr lang="en-US" sz="1200" i="1" dirty="0">
                <a:solidFill>
                  <a:srgbClr val="CFC5C6"/>
                </a:solidFill>
                <a:latin typeface="Calibri" pitchFamily="34" charset="0"/>
                <a:ea typeface="Calibri" pitchFamily="34" charset="-122"/>
                <a:cs typeface="Calibri" pitchFamily="34" charset="-120"/>
              </a:rPr>
              <a:t>Son experiencias individuales compartidas en el evento, no evidencia médica. Cualquier cambio de medicación debe hacerse con un médico.</a:t>
            </a:r>
            <a:endParaRPr lang="en-US" sz="12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La prevención es la mejor cura</a:t>
            </a:r>
            <a:endParaRPr lang="en-US" sz="2600" dirty="0"/>
          </a:p>
        </p:txBody>
      </p:sp>
      <p:sp>
        <p:nvSpPr>
          <p:cNvPr id="4" name="Shape 1"/>
          <p:cNvSpPr/>
          <p:nvPr/>
        </p:nvSpPr>
        <p:spPr>
          <a:xfrm>
            <a:off x="457200" y="1280160"/>
            <a:ext cx="1920240" cy="2926080"/>
          </a:xfrm>
          <a:prstGeom prst="roundRect">
            <a:avLst>
              <a:gd name="adj" fmla="val 7143"/>
            </a:avLst>
          </a:prstGeom>
          <a:solidFill>
            <a:srgbClr val="FBEAEA"/>
          </a:solidFill>
          <a:ln w="12700">
            <a:solidFill>
              <a:srgbClr val="FBEAEA"/>
            </a:solidFill>
            <a:prstDash val="solid"/>
          </a:ln>
        </p:spPr>
      </p:sp>
      <p:sp>
        <p:nvSpPr>
          <p:cNvPr id="5" name="Shape 2"/>
          <p:cNvSpPr/>
          <p:nvPr/>
        </p:nvSpPr>
        <p:spPr>
          <a:xfrm>
            <a:off x="960120" y="1463040"/>
            <a:ext cx="914400" cy="914400"/>
          </a:xfrm>
          <a:prstGeom prst="ellipse">
            <a:avLst/>
          </a:prstGeom>
          <a:solidFill>
            <a:srgbClr val="EE7A7A"/>
          </a:solidFill>
          <a:ln w="12700">
            <a:solidFill>
              <a:srgbClr val="EE7A7A"/>
            </a:solidFill>
            <a:prstDash val="solid"/>
          </a:ln>
        </p:spPr>
      </p:sp>
      <p:sp>
        <p:nvSpPr>
          <p:cNvPr id="6" name="Text 3"/>
          <p:cNvSpPr txBox="1"/>
          <p:nvPr/>
        </p:nvSpPr>
        <p:spPr>
          <a:xfrm>
            <a:off x="960120" y="1463040"/>
            <a:ext cx="9144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7" name="Text 4"/>
          <p:cNvSpPr txBox="1"/>
          <p:nvPr/>
        </p:nvSpPr>
        <p:spPr>
          <a:xfrm>
            <a:off x="594360" y="2560320"/>
            <a:ext cx="1645920" cy="731520"/>
          </a:xfrm>
          <a:prstGeom prst="rect">
            <a:avLst/>
          </a:prstGeom>
          <a:noFill/>
          <a:ln/>
        </p:spPr>
        <p:txBody>
          <a:bodyPr wrap="square" lIns="0" tIns="0" rIns="0" bIns="0" rtlCol="0" anchor="t"/>
          <a:lstStyle/>
          <a:p>
            <a:pPr algn="ctr" indent="0" marL="0">
              <a:buNone/>
            </a:pPr>
            <a:r>
              <a:rPr lang="en-US" sz="1400" b="1" dirty="0">
                <a:solidFill>
                  <a:srgbClr val="2E2224"/>
                </a:solidFill>
                <a:latin typeface="Arial" pitchFamily="34" charset="0"/>
                <a:ea typeface="Arial" pitchFamily="34" charset="-122"/>
                <a:cs typeface="Arial" pitchFamily="34" charset="-120"/>
              </a:rPr>
              <a:t>El infarto a los 50</a:t>
            </a:r>
            <a:endParaRPr lang="en-US" sz="1400" dirty="0"/>
          </a:p>
        </p:txBody>
      </p:sp>
      <p:sp>
        <p:nvSpPr>
          <p:cNvPr id="8" name="Text 5"/>
          <p:cNvSpPr txBox="1"/>
          <p:nvPr/>
        </p:nvSpPr>
        <p:spPr>
          <a:xfrm>
            <a:off x="594360" y="3291840"/>
            <a:ext cx="1645920" cy="548640"/>
          </a:xfrm>
          <a:prstGeom prst="rect">
            <a:avLst/>
          </a:prstGeom>
          <a:noFill/>
          <a:ln/>
        </p:spPr>
        <p:txBody>
          <a:bodyPr wrap="square" lIns="0" tIns="0" rIns="0" bIns="0" rtlCol="0" anchor="t"/>
          <a:lstStyle/>
          <a:p>
            <a:pPr algn="ctr" indent="0" marL="0">
              <a:buNone/>
            </a:pPr>
            <a:r>
              <a:rPr lang="en-US" sz="1400" i="1" dirty="0">
                <a:solidFill>
                  <a:srgbClr val="6B5F61"/>
                </a:solidFill>
                <a:latin typeface="Calibri" pitchFamily="34" charset="0"/>
                <a:ea typeface="Calibri" pitchFamily="34" charset="-122"/>
                <a:cs typeface="Calibri" pitchFamily="34" charset="-120"/>
              </a:rPr>
              <a:t>empezó a los 20</a:t>
            </a:r>
            <a:endParaRPr lang="en-US" sz="1400" dirty="0"/>
          </a:p>
        </p:txBody>
      </p:sp>
      <p:sp>
        <p:nvSpPr>
          <p:cNvPr id="9" name="Shape 6"/>
          <p:cNvSpPr/>
          <p:nvPr/>
        </p:nvSpPr>
        <p:spPr>
          <a:xfrm>
            <a:off x="2560320" y="1280160"/>
            <a:ext cx="1920240" cy="2926080"/>
          </a:xfrm>
          <a:prstGeom prst="roundRect">
            <a:avLst>
              <a:gd name="adj" fmla="val 7143"/>
            </a:avLst>
          </a:prstGeom>
          <a:solidFill>
            <a:srgbClr val="E8ECF3"/>
          </a:solidFill>
          <a:ln w="12700">
            <a:solidFill>
              <a:srgbClr val="E8ECF3"/>
            </a:solidFill>
            <a:prstDash val="solid"/>
          </a:ln>
        </p:spPr>
      </p:sp>
      <p:sp>
        <p:nvSpPr>
          <p:cNvPr id="10" name="Shape 7"/>
          <p:cNvSpPr/>
          <p:nvPr/>
        </p:nvSpPr>
        <p:spPr>
          <a:xfrm>
            <a:off x="3063240" y="1463040"/>
            <a:ext cx="914400" cy="914400"/>
          </a:xfrm>
          <a:prstGeom prst="ellipse">
            <a:avLst/>
          </a:prstGeom>
          <a:solidFill>
            <a:srgbClr val="8B9AB7"/>
          </a:solidFill>
          <a:ln w="12700">
            <a:solidFill>
              <a:srgbClr val="8B9AB7"/>
            </a:solidFill>
            <a:prstDash val="solid"/>
          </a:ln>
        </p:spPr>
      </p:sp>
      <p:sp>
        <p:nvSpPr>
          <p:cNvPr id="11" name="Text 8"/>
          <p:cNvSpPr txBox="1"/>
          <p:nvPr/>
        </p:nvSpPr>
        <p:spPr>
          <a:xfrm>
            <a:off x="3063240" y="1463040"/>
            <a:ext cx="9144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2" name="Text 9"/>
          <p:cNvSpPr txBox="1"/>
          <p:nvPr/>
        </p:nvSpPr>
        <p:spPr>
          <a:xfrm>
            <a:off x="2697480" y="2560320"/>
            <a:ext cx="1645920" cy="731520"/>
          </a:xfrm>
          <a:prstGeom prst="rect">
            <a:avLst/>
          </a:prstGeom>
          <a:noFill/>
          <a:ln/>
        </p:spPr>
        <p:txBody>
          <a:bodyPr wrap="square" lIns="0" tIns="0" rIns="0" bIns="0" rtlCol="0" anchor="t"/>
          <a:lstStyle/>
          <a:p>
            <a:pPr algn="ctr" indent="0" marL="0">
              <a:buNone/>
            </a:pPr>
            <a:r>
              <a:rPr lang="en-US" sz="1400" b="1" dirty="0">
                <a:solidFill>
                  <a:srgbClr val="2E2224"/>
                </a:solidFill>
                <a:latin typeface="Arial" pitchFamily="34" charset="0"/>
                <a:ea typeface="Arial" pitchFamily="34" charset="-122"/>
                <a:cs typeface="Arial" pitchFamily="34" charset="-120"/>
              </a:rPr>
              <a:t>El alzhéimer a los 70</a:t>
            </a:r>
            <a:endParaRPr lang="en-US" sz="1400" dirty="0"/>
          </a:p>
        </p:txBody>
      </p:sp>
      <p:sp>
        <p:nvSpPr>
          <p:cNvPr id="13" name="Text 10"/>
          <p:cNvSpPr txBox="1"/>
          <p:nvPr/>
        </p:nvSpPr>
        <p:spPr>
          <a:xfrm>
            <a:off x="2697480" y="3291840"/>
            <a:ext cx="1645920" cy="548640"/>
          </a:xfrm>
          <a:prstGeom prst="rect">
            <a:avLst/>
          </a:prstGeom>
          <a:noFill/>
          <a:ln/>
        </p:spPr>
        <p:txBody>
          <a:bodyPr wrap="square" lIns="0" tIns="0" rIns="0" bIns="0" rtlCol="0" anchor="t"/>
          <a:lstStyle/>
          <a:p>
            <a:pPr algn="ctr" indent="0" marL="0">
              <a:buNone/>
            </a:pPr>
            <a:r>
              <a:rPr lang="en-US" sz="1400" i="1" dirty="0">
                <a:solidFill>
                  <a:srgbClr val="6B5F61"/>
                </a:solidFill>
                <a:latin typeface="Calibri" pitchFamily="34" charset="0"/>
                <a:ea typeface="Calibri" pitchFamily="34" charset="-122"/>
                <a:cs typeface="Calibri" pitchFamily="34" charset="-120"/>
              </a:rPr>
              <a:t>empezó a los 40</a:t>
            </a:r>
            <a:endParaRPr lang="en-US" sz="1400" dirty="0"/>
          </a:p>
        </p:txBody>
      </p:sp>
      <p:sp>
        <p:nvSpPr>
          <p:cNvPr id="14" name="Shape 11"/>
          <p:cNvSpPr/>
          <p:nvPr/>
        </p:nvSpPr>
        <p:spPr>
          <a:xfrm>
            <a:off x="4663440" y="1280160"/>
            <a:ext cx="1920240" cy="2926080"/>
          </a:xfrm>
          <a:prstGeom prst="roundRect">
            <a:avLst>
              <a:gd name="adj" fmla="val 7143"/>
            </a:avLst>
          </a:prstGeom>
          <a:solidFill>
            <a:srgbClr val="FBEAEA"/>
          </a:solidFill>
          <a:ln w="12700">
            <a:solidFill>
              <a:srgbClr val="FBEAEA"/>
            </a:solidFill>
            <a:prstDash val="solid"/>
          </a:ln>
        </p:spPr>
      </p:sp>
      <p:sp>
        <p:nvSpPr>
          <p:cNvPr id="15" name="Shape 12"/>
          <p:cNvSpPr/>
          <p:nvPr/>
        </p:nvSpPr>
        <p:spPr>
          <a:xfrm>
            <a:off x="5166360" y="1463040"/>
            <a:ext cx="914400" cy="914400"/>
          </a:xfrm>
          <a:prstGeom prst="ellipse">
            <a:avLst/>
          </a:prstGeom>
          <a:solidFill>
            <a:srgbClr val="EE7A7A"/>
          </a:solidFill>
          <a:ln w="12700">
            <a:solidFill>
              <a:srgbClr val="EE7A7A"/>
            </a:solidFill>
            <a:prstDash val="solid"/>
          </a:ln>
        </p:spPr>
      </p:sp>
      <p:sp>
        <p:nvSpPr>
          <p:cNvPr id="16" name="Text 13"/>
          <p:cNvSpPr txBox="1"/>
          <p:nvPr/>
        </p:nvSpPr>
        <p:spPr>
          <a:xfrm>
            <a:off x="5166360" y="1463040"/>
            <a:ext cx="9144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17" name="Text 14"/>
          <p:cNvSpPr txBox="1"/>
          <p:nvPr/>
        </p:nvSpPr>
        <p:spPr>
          <a:xfrm>
            <a:off x="4800600" y="2560320"/>
            <a:ext cx="1645920" cy="731520"/>
          </a:xfrm>
          <a:prstGeom prst="rect">
            <a:avLst/>
          </a:prstGeom>
          <a:noFill/>
          <a:ln/>
        </p:spPr>
        <p:txBody>
          <a:bodyPr wrap="square" lIns="0" tIns="0" rIns="0" bIns="0" rtlCol="0" anchor="t"/>
          <a:lstStyle/>
          <a:p>
            <a:pPr algn="ctr" indent="0" marL="0">
              <a:buNone/>
            </a:pPr>
            <a:r>
              <a:rPr lang="en-US" sz="1400" b="1" dirty="0">
                <a:solidFill>
                  <a:srgbClr val="2E2224"/>
                </a:solidFill>
                <a:latin typeface="Arial" pitchFamily="34" charset="0"/>
                <a:ea typeface="Arial" pitchFamily="34" charset="-122"/>
                <a:cs typeface="Arial" pitchFamily="34" charset="-120"/>
              </a:rPr>
              <a:t>El cáncer a los 60</a:t>
            </a:r>
            <a:endParaRPr lang="en-US" sz="1400" dirty="0"/>
          </a:p>
        </p:txBody>
      </p:sp>
      <p:sp>
        <p:nvSpPr>
          <p:cNvPr id="18" name="Text 15"/>
          <p:cNvSpPr txBox="1"/>
          <p:nvPr/>
        </p:nvSpPr>
        <p:spPr>
          <a:xfrm>
            <a:off x="4800600" y="3291840"/>
            <a:ext cx="1645920" cy="548640"/>
          </a:xfrm>
          <a:prstGeom prst="rect">
            <a:avLst/>
          </a:prstGeom>
          <a:noFill/>
          <a:ln/>
        </p:spPr>
        <p:txBody>
          <a:bodyPr wrap="square" lIns="0" tIns="0" rIns="0" bIns="0" rtlCol="0" anchor="t"/>
          <a:lstStyle/>
          <a:p>
            <a:pPr algn="ctr" indent="0" marL="0">
              <a:buNone/>
            </a:pPr>
            <a:r>
              <a:rPr lang="en-US" sz="1400" i="1" dirty="0">
                <a:solidFill>
                  <a:srgbClr val="6B5F61"/>
                </a:solidFill>
                <a:latin typeface="Calibri" pitchFamily="34" charset="0"/>
                <a:ea typeface="Calibri" pitchFamily="34" charset="-122"/>
                <a:cs typeface="Calibri" pitchFamily="34" charset="-120"/>
              </a:rPr>
              <a:t>empezó a los 30</a:t>
            </a:r>
            <a:endParaRPr lang="en-US" sz="1400" dirty="0"/>
          </a:p>
        </p:txBody>
      </p:sp>
      <p:sp>
        <p:nvSpPr>
          <p:cNvPr id="19" name="Shape 16"/>
          <p:cNvSpPr/>
          <p:nvPr/>
        </p:nvSpPr>
        <p:spPr>
          <a:xfrm>
            <a:off x="6766560" y="1280160"/>
            <a:ext cx="1920240" cy="2926080"/>
          </a:xfrm>
          <a:prstGeom prst="roundRect">
            <a:avLst>
              <a:gd name="adj" fmla="val 7143"/>
            </a:avLst>
          </a:prstGeom>
          <a:solidFill>
            <a:srgbClr val="E8ECF3"/>
          </a:solidFill>
          <a:ln w="12700">
            <a:solidFill>
              <a:srgbClr val="E8ECF3"/>
            </a:solidFill>
            <a:prstDash val="solid"/>
          </a:ln>
        </p:spPr>
      </p:sp>
      <p:sp>
        <p:nvSpPr>
          <p:cNvPr id="20" name="Shape 17"/>
          <p:cNvSpPr/>
          <p:nvPr/>
        </p:nvSpPr>
        <p:spPr>
          <a:xfrm>
            <a:off x="7269480" y="1463040"/>
            <a:ext cx="914400" cy="914400"/>
          </a:xfrm>
          <a:prstGeom prst="ellipse">
            <a:avLst/>
          </a:prstGeom>
          <a:solidFill>
            <a:srgbClr val="8B9AB7"/>
          </a:solidFill>
          <a:ln w="12700">
            <a:solidFill>
              <a:srgbClr val="8B9AB7"/>
            </a:solidFill>
            <a:prstDash val="solid"/>
          </a:ln>
        </p:spPr>
      </p:sp>
      <p:sp>
        <p:nvSpPr>
          <p:cNvPr id="21" name="Text 18"/>
          <p:cNvSpPr txBox="1"/>
          <p:nvPr/>
        </p:nvSpPr>
        <p:spPr>
          <a:xfrm>
            <a:off x="7269480" y="1463040"/>
            <a:ext cx="91440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a:t>
            </a:r>
            <a:endParaRPr lang="en-US" sz="2200" dirty="0"/>
          </a:p>
        </p:txBody>
      </p:sp>
      <p:sp>
        <p:nvSpPr>
          <p:cNvPr id="22" name="Text 19"/>
          <p:cNvSpPr txBox="1"/>
          <p:nvPr/>
        </p:nvSpPr>
        <p:spPr>
          <a:xfrm>
            <a:off x="6903720" y="2560320"/>
            <a:ext cx="1645920" cy="731520"/>
          </a:xfrm>
          <a:prstGeom prst="rect">
            <a:avLst/>
          </a:prstGeom>
          <a:noFill/>
          <a:ln/>
        </p:spPr>
        <p:txBody>
          <a:bodyPr wrap="square" lIns="0" tIns="0" rIns="0" bIns="0" rtlCol="0" anchor="t"/>
          <a:lstStyle/>
          <a:p>
            <a:pPr algn="ctr" indent="0" marL="0">
              <a:buNone/>
            </a:pPr>
            <a:r>
              <a:rPr lang="en-US" sz="1400" b="1" dirty="0">
                <a:solidFill>
                  <a:srgbClr val="2E2224"/>
                </a:solidFill>
                <a:latin typeface="Arial" pitchFamily="34" charset="0"/>
                <a:ea typeface="Arial" pitchFamily="34" charset="-122"/>
                <a:cs typeface="Arial" pitchFamily="34" charset="-120"/>
              </a:rPr>
              <a:t>La artritis reumatoide a los 50</a:t>
            </a:r>
            <a:endParaRPr lang="en-US" sz="1400" dirty="0"/>
          </a:p>
        </p:txBody>
      </p:sp>
      <p:sp>
        <p:nvSpPr>
          <p:cNvPr id="23" name="Text 20"/>
          <p:cNvSpPr txBox="1"/>
          <p:nvPr/>
        </p:nvSpPr>
        <p:spPr>
          <a:xfrm>
            <a:off x="6903720" y="3291840"/>
            <a:ext cx="1645920" cy="548640"/>
          </a:xfrm>
          <a:prstGeom prst="rect">
            <a:avLst/>
          </a:prstGeom>
          <a:noFill/>
          <a:ln/>
        </p:spPr>
        <p:txBody>
          <a:bodyPr wrap="square" lIns="0" tIns="0" rIns="0" bIns="0" rtlCol="0" anchor="t"/>
          <a:lstStyle/>
          <a:p>
            <a:pPr algn="ctr" indent="0" marL="0">
              <a:buNone/>
            </a:pPr>
            <a:r>
              <a:rPr lang="en-US" sz="1400" i="1" dirty="0">
                <a:solidFill>
                  <a:srgbClr val="6B5F61"/>
                </a:solidFill>
                <a:latin typeface="Calibri" pitchFamily="34" charset="0"/>
                <a:ea typeface="Calibri" pitchFamily="34" charset="-122"/>
                <a:cs typeface="Calibri" pitchFamily="34" charset="-120"/>
              </a:rPr>
              <a:t>empezó a los 25</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Más productos de la línea</a:t>
            </a:r>
            <a:endParaRPr lang="en-US" sz="2600" dirty="0"/>
          </a:p>
        </p:txBody>
      </p:sp>
      <p:sp>
        <p:nvSpPr>
          <p:cNvPr id="4" name="Shape 1"/>
          <p:cNvSpPr/>
          <p:nvPr/>
        </p:nvSpPr>
        <p:spPr>
          <a:xfrm>
            <a:off x="457200" y="1188720"/>
            <a:ext cx="2651760" cy="3291840"/>
          </a:xfrm>
          <a:prstGeom prst="roundRect">
            <a:avLst>
              <a:gd name="adj" fmla="val 4138"/>
            </a:avLst>
          </a:prstGeom>
          <a:solidFill>
            <a:srgbClr val="E8ECF3"/>
          </a:solidFill>
          <a:ln w="12700">
            <a:solidFill>
              <a:srgbClr val="E8ECF3"/>
            </a:solidFill>
            <a:prstDash val="solid"/>
          </a:ln>
        </p:spPr>
      </p:sp>
      <p:sp>
        <p:nvSpPr>
          <p:cNvPr id="5" name="Text 2"/>
          <p:cNvSpPr txBox="1"/>
          <p:nvPr/>
        </p:nvSpPr>
        <p:spPr>
          <a:xfrm>
            <a:off x="640080" y="1353312"/>
            <a:ext cx="2286000" cy="457200"/>
          </a:xfrm>
          <a:prstGeom prst="rect">
            <a:avLst/>
          </a:prstGeom>
          <a:noFill/>
          <a:ln/>
        </p:spPr>
        <p:txBody>
          <a:bodyPr wrap="square" lIns="0" tIns="0" rIns="0" bIns="0" rtlCol="0" anchor="t"/>
          <a:lstStyle/>
          <a:p>
            <a:pPr algn="l" indent="0" marL="0">
              <a:buNone/>
            </a:pPr>
            <a:r>
              <a:rPr lang="en-US" sz="1800" b="1" dirty="0">
                <a:solidFill>
                  <a:srgbClr val="2E2224"/>
                </a:solidFill>
                <a:latin typeface="Arial" pitchFamily="34" charset="0"/>
                <a:ea typeface="Arial" pitchFamily="34" charset="-122"/>
                <a:cs typeface="Arial" pitchFamily="34" charset="-120"/>
              </a:rPr>
              <a:t>Anespa</a:t>
            </a:r>
            <a:endParaRPr lang="en-US" sz="1800" dirty="0"/>
          </a:p>
        </p:txBody>
      </p:sp>
      <p:sp>
        <p:nvSpPr>
          <p:cNvPr id="6" name="Text 3"/>
          <p:cNvSpPr txBox="1"/>
          <p:nvPr/>
        </p:nvSpPr>
        <p:spPr>
          <a:xfrm>
            <a:off x="640080" y="2011680"/>
            <a:ext cx="2286000" cy="2331720"/>
          </a:xfrm>
          <a:prstGeom prst="rect">
            <a:avLst/>
          </a:prstGeom>
          <a:noFill/>
          <a:ln/>
        </p:spPr>
        <p:txBody>
          <a:bodyPr wrap="square" lIns="0" tIns="0" rIns="0" bIns="0" rtlCol="0" anchor="t"/>
          <a:lstStyle/>
          <a:p>
            <a:pPr algn="l" indent="0" marL="0">
              <a:buNone/>
            </a:pPr>
            <a:r>
              <a:rPr lang="en-US" sz="1400" dirty="0">
                <a:solidFill>
                  <a:srgbClr val="2E2224"/>
                </a:solidFill>
                <a:latin typeface="Calibri" pitchFamily="34" charset="0"/>
                <a:ea typeface="Calibri" pitchFamily="34" charset="-122"/>
                <a:cs typeface="Calibri" pitchFamily="34" charset="-120"/>
              </a:rPr>
              <a:t>Sistema de ducha tipo spa en casa que filtra cloro y bacterias, mejorando la salud de la piel.</a:t>
            </a:r>
            <a:endParaRPr lang="en-US" sz="1400" dirty="0"/>
          </a:p>
        </p:txBody>
      </p:sp>
      <p:sp>
        <p:nvSpPr>
          <p:cNvPr id="7" name="Shape 4"/>
          <p:cNvSpPr/>
          <p:nvPr/>
        </p:nvSpPr>
        <p:spPr>
          <a:xfrm>
            <a:off x="3246120" y="1188720"/>
            <a:ext cx="2651760" cy="3291840"/>
          </a:xfrm>
          <a:prstGeom prst="roundRect">
            <a:avLst>
              <a:gd name="adj" fmla="val 4138"/>
            </a:avLst>
          </a:prstGeom>
          <a:solidFill>
            <a:srgbClr val="FDF3DC"/>
          </a:solidFill>
          <a:ln w="12700">
            <a:solidFill>
              <a:srgbClr val="FDF3DC"/>
            </a:solidFill>
            <a:prstDash val="solid"/>
          </a:ln>
        </p:spPr>
      </p:sp>
      <p:sp>
        <p:nvSpPr>
          <p:cNvPr id="8" name="Text 5"/>
          <p:cNvSpPr txBox="1"/>
          <p:nvPr/>
        </p:nvSpPr>
        <p:spPr>
          <a:xfrm>
            <a:off x="3429000" y="1353312"/>
            <a:ext cx="2286000" cy="457200"/>
          </a:xfrm>
          <a:prstGeom prst="rect">
            <a:avLst/>
          </a:prstGeom>
          <a:noFill/>
          <a:ln/>
        </p:spPr>
        <p:txBody>
          <a:bodyPr wrap="square" lIns="0" tIns="0" rIns="0" bIns="0" rtlCol="0" anchor="t"/>
          <a:lstStyle/>
          <a:p>
            <a:pPr algn="l" indent="0" marL="0">
              <a:buNone/>
            </a:pPr>
            <a:r>
              <a:rPr lang="en-US" sz="1800" b="1" dirty="0">
                <a:solidFill>
                  <a:srgbClr val="2E2224"/>
                </a:solidFill>
                <a:latin typeface="Arial" pitchFamily="34" charset="0"/>
                <a:ea typeface="Arial" pitchFamily="34" charset="-122"/>
                <a:cs typeface="Arial" pitchFamily="34" charset="-120"/>
              </a:rPr>
              <a:t>Ukon</a:t>
            </a:r>
            <a:endParaRPr lang="en-US" sz="1800" dirty="0"/>
          </a:p>
        </p:txBody>
      </p:sp>
      <p:sp>
        <p:nvSpPr>
          <p:cNvPr id="9" name="Text 6"/>
          <p:cNvSpPr txBox="1"/>
          <p:nvPr/>
        </p:nvSpPr>
        <p:spPr>
          <a:xfrm>
            <a:off x="3429000" y="2011680"/>
            <a:ext cx="2286000" cy="2331720"/>
          </a:xfrm>
          <a:prstGeom prst="rect">
            <a:avLst/>
          </a:prstGeom>
          <a:noFill/>
          <a:ln/>
        </p:spPr>
        <p:txBody>
          <a:bodyPr wrap="square" lIns="0" tIns="0" rIns="0" bIns="0" rtlCol="0" anchor="t"/>
          <a:lstStyle/>
          <a:p>
            <a:pPr algn="l" indent="0" marL="0">
              <a:buNone/>
            </a:pPr>
            <a:r>
              <a:rPr lang="en-US" sz="1400" dirty="0">
                <a:solidFill>
                  <a:srgbClr val="2E2224"/>
                </a:solidFill>
                <a:latin typeface="Calibri" pitchFamily="34" charset="0"/>
                <a:ea typeface="Calibri" pitchFamily="34" charset="-122"/>
                <a:cs typeface="Calibri" pitchFamily="34" charset="-120"/>
              </a:rPr>
              <a:t>Cápsulas, té y jabón de cúrcuma silvestre con propiedades antioxidantes, antibacterianas y antiinflamatorias.</a:t>
            </a:r>
            <a:endParaRPr lang="en-US" sz="1400" dirty="0"/>
          </a:p>
        </p:txBody>
      </p:sp>
      <p:sp>
        <p:nvSpPr>
          <p:cNvPr id="10" name="Shape 7"/>
          <p:cNvSpPr/>
          <p:nvPr/>
        </p:nvSpPr>
        <p:spPr>
          <a:xfrm>
            <a:off x="6035040" y="1188720"/>
            <a:ext cx="2651760" cy="3291840"/>
          </a:xfrm>
          <a:prstGeom prst="roundRect">
            <a:avLst>
              <a:gd name="adj" fmla="val 4138"/>
            </a:avLst>
          </a:prstGeom>
          <a:solidFill>
            <a:srgbClr val="FBEAEA"/>
          </a:solidFill>
          <a:ln w="12700">
            <a:solidFill>
              <a:srgbClr val="FBEAEA"/>
            </a:solidFill>
            <a:prstDash val="solid"/>
          </a:ln>
        </p:spPr>
      </p:sp>
      <p:sp>
        <p:nvSpPr>
          <p:cNvPr id="11" name="Text 8"/>
          <p:cNvSpPr txBox="1"/>
          <p:nvPr/>
        </p:nvSpPr>
        <p:spPr>
          <a:xfrm>
            <a:off x="6217920" y="1353312"/>
            <a:ext cx="2286000" cy="457200"/>
          </a:xfrm>
          <a:prstGeom prst="rect">
            <a:avLst/>
          </a:prstGeom>
          <a:noFill/>
          <a:ln/>
        </p:spPr>
        <p:txBody>
          <a:bodyPr wrap="square" lIns="0" tIns="0" rIns="0" bIns="0" rtlCol="0" anchor="t"/>
          <a:lstStyle/>
          <a:p>
            <a:pPr algn="l" indent="0" marL="0">
              <a:buNone/>
            </a:pPr>
            <a:r>
              <a:rPr lang="en-US" sz="1800" b="1" dirty="0">
                <a:solidFill>
                  <a:srgbClr val="2E2224"/>
                </a:solidFill>
                <a:latin typeface="Arial" pitchFamily="34" charset="0"/>
                <a:ea typeface="Arial" pitchFamily="34" charset="-122"/>
                <a:cs typeface="Arial" pitchFamily="34" charset="-120"/>
              </a:rPr>
              <a:t>Kangen Beauté (nuevo)</a:t>
            </a:r>
            <a:endParaRPr lang="en-US" sz="1800" dirty="0"/>
          </a:p>
        </p:txBody>
      </p:sp>
      <p:sp>
        <p:nvSpPr>
          <p:cNvPr id="12" name="Text 9"/>
          <p:cNvSpPr txBox="1"/>
          <p:nvPr/>
        </p:nvSpPr>
        <p:spPr>
          <a:xfrm>
            <a:off x="6217920" y="2011680"/>
            <a:ext cx="2286000" cy="2331720"/>
          </a:xfrm>
          <a:prstGeom prst="rect">
            <a:avLst/>
          </a:prstGeom>
          <a:noFill/>
          <a:ln/>
        </p:spPr>
        <p:txBody>
          <a:bodyPr wrap="square" lIns="0" tIns="0" rIns="0" bIns="0" rtlCol="0" anchor="t"/>
          <a:lstStyle/>
          <a:p>
            <a:pPr algn="l" indent="0" marL="0">
              <a:buNone/>
            </a:pPr>
            <a:r>
              <a:rPr lang="en-US" sz="1400" dirty="0">
                <a:solidFill>
                  <a:srgbClr val="2E2224"/>
                </a:solidFill>
                <a:latin typeface="Calibri" pitchFamily="34" charset="0"/>
                <a:ea typeface="Calibri" pitchFamily="34" charset="-122"/>
                <a:cs typeface="Calibri" pitchFamily="34" charset="-120"/>
              </a:rPr>
              <a:t>Línea coreana de cuidado de la piel de lujo creada con Ukon (cúrcuma) y agua de belleza de pH 5,5.</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E2224"/>
        </a:solidFill>
      </p:bgPr>
    </p:bg>
    <p:spTree>
      <p:nvGrpSpPr>
        <p:cNvPr id="1" name=""/>
        <p:cNvGrpSpPr/>
        <p:nvPr/>
      </p:nvGrpSpPr>
      <p:grpSpPr>
        <a:xfrm>
          <a:off x="0" y="0"/>
          <a:ext cx="0" cy="0"/>
          <a:chOff x="0" y="0"/>
          <a:chExt cx="0" cy="0"/>
        </a:xfrm>
      </p:grpSpPr>
      <p:sp>
        <p:nvSpPr>
          <p:cNvPr id="3" name="Text 0"/>
          <p:cNvSpPr txBox="1"/>
          <p:nvPr/>
        </p:nvSpPr>
        <p:spPr>
          <a:xfrm>
            <a:off x="731520" y="1188720"/>
            <a:ext cx="7680960" cy="365760"/>
          </a:xfrm>
          <a:prstGeom prst="rect">
            <a:avLst/>
          </a:prstGeom>
          <a:noFill/>
          <a:ln/>
        </p:spPr>
        <p:txBody>
          <a:bodyPr wrap="square" lIns="0" tIns="0" rIns="0" bIns="0" rtlCol="0" anchor="t"/>
          <a:lstStyle/>
          <a:p>
            <a:pPr indent="0" marL="0">
              <a:buNone/>
            </a:pPr>
            <a:r>
              <a:rPr lang="en-US" sz="1400" b="1" spc="400" kern="0" dirty="0">
                <a:solidFill>
                  <a:srgbClr val="F2C14E"/>
                </a:solidFill>
                <a:latin typeface="Calibri" pitchFamily="34" charset="0"/>
                <a:ea typeface="Calibri" pitchFamily="34" charset="-122"/>
                <a:cs typeface="Calibri" pitchFamily="34" charset="-120"/>
              </a:rPr>
              <a:t>PARTE 2</a:t>
            </a:r>
            <a:endParaRPr lang="en-US" sz="1400" dirty="0"/>
          </a:p>
        </p:txBody>
      </p:sp>
      <p:sp>
        <p:nvSpPr>
          <p:cNvPr id="4" name="Text 1"/>
          <p:cNvSpPr txBox="1"/>
          <p:nvPr/>
        </p:nvSpPr>
        <p:spPr>
          <a:xfrm>
            <a:off x="731520" y="1600200"/>
            <a:ext cx="7680960" cy="12801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La crisis financiera</a:t>
            </a:r>
            <a:endParaRPr lang="en-US" sz="4000" dirty="0"/>
          </a:p>
        </p:txBody>
      </p:sp>
      <p:sp>
        <p:nvSpPr>
          <p:cNvPr id="5" name="Shape 2"/>
          <p:cNvSpPr/>
          <p:nvPr/>
        </p:nvSpPr>
        <p:spPr>
          <a:xfrm>
            <a:off x="731520" y="3063240"/>
            <a:ext cx="5120640" cy="731520"/>
          </a:xfrm>
          <a:prstGeom prst="roundRect">
            <a:avLst>
              <a:gd name="adj" fmla="val 12500"/>
            </a:avLst>
          </a:prstGeom>
          <a:solidFill>
            <a:srgbClr val="EE7A7A"/>
          </a:solidFill>
          <a:ln w="12700">
            <a:solidFill>
              <a:srgbClr val="EE7A7A"/>
            </a:solidFill>
            <a:prstDash val="solid"/>
          </a:ln>
        </p:spPr>
      </p:sp>
      <p:sp>
        <p:nvSpPr>
          <p:cNvPr id="6" name="Text 3"/>
          <p:cNvSpPr txBox="1"/>
          <p:nvPr/>
        </p:nvSpPr>
        <p:spPr>
          <a:xfrm>
            <a:off x="914400" y="3063240"/>
            <a:ext cx="47548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El modelo Wellness Partnership</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La fórmula de la libertad</a:t>
            </a:r>
            <a:endParaRPr lang="en-US" sz="2600" dirty="0"/>
          </a:p>
        </p:txBody>
      </p:sp>
      <p:sp>
        <p:nvSpPr>
          <p:cNvPr id="4" name="Shape 1"/>
          <p:cNvSpPr/>
          <p:nvPr/>
        </p:nvSpPr>
        <p:spPr>
          <a:xfrm>
            <a:off x="457200" y="1188720"/>
            <a:ext cx="4023360" cy="1554480"/>
          </a:xfrm>
          <a:prstGeom prst="roundRect">
            <a:avLst>
              <a:gd name="adj" fmla="val 8824"/>
            </a:avLst>
          </a:prstGeom>
          <a:solidFill>
            <a:srgbClr val="F2C14E"/>
          </a:solidFill>
          <a:ln w="12700">
            <a:solidFill>
              <a:srgbClr val="F2C14E"/>
            </a:solidFill>
            <a:prstDash val="solid"/>
          </a:ln>
        </p:spPr>
      </p:sp>
      <p:sp>
        <p:nvSpPr>
          <p:cNvPr id="5" name="Text 2"/>
          <p:cNvSpPr txBox="1"/>
          <p:nvPr/>
        </p:nvSpPr>
        <p:spPr>
          <a:xfrm>
            <a:off x="731520" y="1188720"/>
            <a:ext cx="3474720" cy="1554480"/>
          </a:xfrm>
          <a:prstGeom prst="rect">
            <a:avLst/>
          </a:prstGeom>
          <a:noFill/>
          <a:ln/>
        </p:spPr>
        <p:txBody>
          <a:bodyPr wrap="square" lIns="0" tIns="0" rIns="0" bIns="0" rtlCol="0" anchor="ctr"/>
          <a:lstStyle/>
          <a:p>
            <a:pPr indent="0" marL="0">
              <a:buNone/>
            </a:pPr>
            <a:r>
              <a:rPr lang="en-US" sz="2400" b="1" dirty="0">
                <a:solidFill>
                  <a:srgbClr val="2E2224"/>
                </a:solidFill>
                <a:latin typeface="Arial" pitchFamily="34" charset="0"/>
                <a:ea typeface="Arial" pitchFamily="34" charset="-122"/>
                <a:cs typeface="Arial" pitchFamily="34" charset="-120"/>
              </a:rPr>
              <a:t>LIBERTAD DE TIEMPO</a:t>
            </a:r>
            <a:endParaRPr lang="en-US" sz="2400" dirty="0"/>
          </a:p>
        </p:txBody>
      </p:sp>
      <p:sp>
        <p:nvSpPr>
          <p:cNvPr id="6" name="Shape 3"/>
          <p:cNvSpPr/>
          <p:nvPr/>
        </p:nvSpPr>
        <p:spPr>
          <a:xfrm>
            <a:off x="4663440" y="1188720"/>
            <a:ext cx="4023360" cy="1554480"/>
          </a:xfrm>
          <a:prstGeom prst="roundRect">
            <a:avLst>
              <a:gd name="adj" fmla="val 8824"/>
            </a:avLst>
          </a:prstGeom>
          <a:solidFill>
            <a:srgbClr val="B9D3B1"/>
          </a:solidFill>
          <a:ln w="12700">
            <a:solidFill>
              <a:srgbClr val="B9D3B1"/>
            </a:solidFill>
            <a:prstDash val="solid"/>
          </a:ln>
        </p:spPr>
      </p:sp>
      <p:sp>
        <p:nvSpPr>
          <p:cNvPr id="7" name="Text 4"/>
          <p:cNvSpPr txBox="1"/>
          <p:nvPr/>
        </p:nvSpPr>
        <p:spPr>
          <a:xfrm>
            <a:off x="4937760" y="1188720"/>
            <a:ext cx="3474720" cy="1554480"/>
          </a:xfrm>
          <a:prstGeom prst="rect">
            <a:avLst/>
          </a:prstGeom>
          <a:noFill/>
          <a:ln/>
        </p:spPr>
        <p:txBody>
          <a:bodyPr wrap="square" lIns="0" tIns="0" rIns="0" bIns="0" rtlCol="0" anchor="ctr"/>
          <a:lstStyle/>
          <a:p>
            <a:pPr indent="0" marL="0">
              <a:buNone/>
            </a:pPr>
            <a:r>
              <a:rPr lang="en-US" sz="2400" b="1" dirty="0">
                <a:solidFill>
                  <a:srgbClr val="2E2224"/>
                </a:solidFill>
                <a:latin typeface="Arial" pitchFamily="34" charset="0"/>
                <a:ea typeface="Arial" pitchFamily="34" charset="-122"/>
                <a:cs typeface="Arial" pitchFamily="34" charset="-120"/>
              </a:rPr>
              <a:t>LIBERTAD FINANCIERA</a:t>
            </a:r>
            <a:endParaRPr lang="en-US" sz="2400" dirty="0"/>
          </a:p>
        </p:txBody>
      </p:sp>
      <p:sp>
        <p:nvSpPr>
          <p:cNvPr id="8" name="Shape 5"/>
          <p:cNvSpPr/>
          <p:nvPr/>
        </p:nvSpPr>
        <p:spPr>
          <a:xfrm>
            <a:off x="457200" y="2926080"/>
            <a:ext cx="4023360" cy="1554480"/>
          </a:xfrm>
          <a:prstGeom prst="roundRect">
            <a:avLst>
              <a:gd name="adj" fmla="val 8824"/>
            </a:avLst>
          </a:prstGeom>
          <a:solidFill>
            <a:srgbClr val="8B9AB7"/>
          </a:solidFill>
          <a:ln w="12700">
            <a:solidFill>
              <a:srgbClr val="8B9AB7"/>
            </a:solidFill>
            <a:prstDash val="solid"/>
          </a:ln>
        </p:spPr>
      </p:sp>
      <p:sp>
        <p:nvSpPr>
          <p:cNvPr id="9" name="Text 6"/>
          <p:cNvSpPr txBox="1"/>
          <p:nvPr/>
        </p:nvSpPr>
        <p:spPr>
          <a:xfrm>
            <a:off x="731520" y="2926080"/>
            <a:ext cx="3474720" cy="1554480"/>
          </a:xfrm>
          <a:prstGeom prst="rect">
            <a:avLst/>
          </a:prstGeom>
          <a:noFill/>
          <a:ln/>
        </p:spPr>
        <p:txBody>
          <a:bodyPr wrap="square" lIns="0" tIns="0" rIns="0" bIns="0" rtlCol="0" anchor="ctr"/>
          <a:lstStyle/>
          <a:p>
            <a:pPr indent="0" marL="0">
              <a:buNone/>
            </a:pPr>
            <a:r>
              <a:rPr lang="en-US" sz="2400" b="1" dirty="0">
                <a:solidFill>
                  <a:srgbClr val="2E2224"/>
                </a:solidFill>
                <a:latin typeface="Arial" pitchFamily="34" charset="0"/>
                <a:ea typeface="Arial" pitchFamily="34" charset="-122"/>
                <a:cs typeface="Arial" pitchFamily="34" charset="-120"/>
              </a:rPr>
              <a:t>LIBERTAD DE UBICACIÓN</a:t>
            </a:r>
            <a:endParaRPr lang="en-US" sz="2400" dirty="0"/>
          </a:p>
        </p:txBody>
      </p:sp>
      <p:sp>
        <p:nvSpPr>
          <p:cNvPr id="10" name="Shape 7"/>
          <p:cNvSpPr/>
          <p:nvPr/>
        </p:nvSpPr>
        <p:spPr>
          <a:xfrm>
            <a:off x="4663440" y="2926080"/>
            <a:ext cx="4023360" cy="1554480"/>
          </a:xfrm>
          <a:prstGeom prst="roundRect">
            <a:avLst>
              <a:gd name="adj" fmla="val 8824"/>
            </a:avLst>
          </a:prstGeom>
          <a:solidFill>
            <a:srgbClr val="EE7A7A"/>
          </a:solidFill>
          <a:ln w="12700">
            <a:solidFill>
              <a:srgbClr val="EE7A7A"/>
            </a:solidFill>
            <a:prstDash val="solid"/>
          </a:ln>
        </p:spPr>
      </p:sp>
      <p:sp>
        <p:nvSpPr>
          <p:cNvPr id="11" name="Text 8"/>
          <p:cNvSpPr txBox="1"/>
          <p:nvPr/>
        </p:nvSpPr>
        <p:spPr>
          <a:xfrm>
            <a:off x="4937760" y="2926080"/>
            <a:ext cx="3474720" cy="1554480"/>
          </a:xfrm>
          <a:prstGeom prst="rect">
            <a:avLst/>
          </a:prstGeom>
          <a:noFill/>
          <a:ln/>
        </p:spPr>
        <p:txBody>
          <a:bodyPr wrap="square" lIns="0" tIns="0" rIns="0" bIns="0" rtlCol="0" anchor="ctr"/>
          <a:lstStyle/>
          <a:p>
            <a:pPr indent="0" marL="0">
              <a:buNone/>
            </a:pPr>
            <a:r>
              <a:rPr lang="en-US" sz="2400" b="1" dirty="0">
                <a:solidFill>
                  <a:srgbClr val="2E2224"/>
                </a:solidFill>
                <a:latin typeface="Arial" pitchFamily="34" charset="0"/>
                <a:ea typeface="Arial" pitchFamily="34" charset="-122"/>
                <a:cs typeface="Arial" pitchFamily="34" charset="-120"/>
              </a:rPr>
              <a:t>LIBERTAD DE SALUD</a:t>
            </a:r>
            <a:endParaRPr lang="en-US" sz="2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Libertad de tiempo: el cuadrante del dinero</a:t>
            </a:r>
            <a:endParaRPr lang="en-US" sz="2600" dirty="0"/>
          </a:p>
        </p:txBody>
      </p:sp>
      <p:sp>
        <p:nvSpPr>
          <p:cNvPr id="4" name="Shape 1"/>
          <p:cNvSpPr/>
          <p:nvPr/>
        </p:nvSpPr>
        <p:spPr>
          <a:xfrm>
            <a:off x="457200" y="1097280"/>
            <a:ext cx="4023360" cy="1691640"/>
          </a:xfrm>
          <a:prstGeom prst="roundRect">
            <a:avLst>
              <a:gd name="adj" fmla="val 6486"/>
            </a:avLst>
          </a:prstGeom>
          <a:solidFill>
            <a:srgbClr val="F2C14E"/>
          </a:solidFill>
          <a:ln w="12700">
            <a:solidFill>
              <a:srgbClr val="F2C14E"/>
            </a:solidFill>
            <a:prstDash val="solid"/>
          </a:ln>
        </p:spPr>
      </p:sp>
      <p:sp>
        <p:nvSpPr>
          <p:cNvPr id="5" name="Text 2"/>
          <p:cNvSpPr txBox="1"/>
          <p:nvPr/>
        </p:nvSpPr>
        <p:spPr>
          <a:xfrm>
            <a:off x="640080" y="1188720"/>
            <a:ext cx="82296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E</a:t>
            </a:r>
            <a:endParaRPr lang="en-US" sz="4800" dirty="0"/>
          </a:p>
        </p:txBody>
      </p:sp>
      <p:sp>
        <p:nvSpPr>
          <p:cNvPr id="6" name="Text 3"/>
          <p:cNvSpPr txBox="1"/>
          <p:nvPr/>
        </p:nvSpPr>
        <p:spPr>
          <a:xfrm>
            <a:off x="1554480" y="1234440"/>
            <a:ext cx="2743200" cy="36576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Empleado</a:t>
            </a:r>
            <a:endParaRPr lang="en-US" sz="1600" dirty="0"/>
          </a:p>
        </p:txBody>
      </p:sp>
      <p:sp>
        <p:nvSpPr>
          <p:cNvPr id="7" name="Text 4"/>
          <p:cNvSpPr txBox="1"/>
          <p:nvPr/>
        </p:nvSpPr>
        <p:spPr>
          <a:xfrm>
            <a:off x="1554480" y="1600200"/>
            <a:ext cx="2743200" cy="274320"/>
          </a:xfrm>
          <a:prstGeom prst="rect">
            <a:avLst/>
          </a:prstGeom>
          <a:noFill/>
          <a:ln/>
        </p:spPr>
        <p:txBody>
          <a:bodyPr wrap="square" lIns="0" tIns="0" rIns="0" bIns="0" rtlCol="0" anchor="t"/>
          <a:lstStyle/>
          <a:p>
            <a:pPr indent="0" marL="0">
              <a:buNone/>
            </a:pPr>
            <a:r>
              <a:rPr lang="en-US" sz="1200" i="1" dirty="0">
                <a:solidFill>
                  <a:srgbClr val="2E2224"/>
                </a:solidFill>
                <a:latin typeface="Calibri" pitchFamily="34" charset="0"/>
                <a:ea typeface="Calibri" pitchFamily="34" charset="-122"/>
                <a:cs typeface="Calibri" pitchFamily="34" charset="-120"/>
              </a:rPr>
              <a:t>Tienes un trabajo</a:t>
            </a:r>
            <a:endParaRPr lang="en-US" sz="1200" dirty="0"/>
          </a:p>
        </p:txBody>
      </p:sp>
      <p:sp>
        <p:nvSpPr>
          <p:cNvPr id="8" name="Text 5"/>
          <p:cNvSpPr txBox="1"/>
          <p:nvPr/>
        </p:nvSpPr>
        <p:spPr>
          <a:xfrm>
            <a:off x="1554480" y="1920240"/>
            <a:ext cx="2743200" cy="82296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Sin apalancamiento: cambias horas por dinero. Si no trabajas, no cobras.</a:t>
            </a:r>
            <a:endParaRPr lang="en-US" sz="1200" dirty="0"/>
          </a:p>
        </p:txBody>
      </p:sp>
      <p:sp>
        <p:nvSpPr>
          <p:cNvPr id="9" name="Shape 6"/>
          <p:cNvSpPr/>
          <p:nvPr/>
        </p:nvSpPr>
        <p:spPr>
          <a:xfrm>
            <a:off x="4663440" y="1097280"/>
            <a:ext cx="4023360" cy="1691640"/>
          </a:xfrm>
          <a:prstGeom prst="roundRect">
            <a:avLst>
              <a:gd name="adj" fmla="val 6486"/>
            </a:avLst>
          </a:prstGeom>
          <a:solidFill>
            <a:srgbClr val="EE7A7A"/>
          </a:solidFill>
          <a:ln w="12700">
            <a:solidFill>
              <a:srgbClr val="EE7A7A"/>
            </a:solidFill>
            <a:prstDash val="solid"/>
          </a:ln>
        </p:spPr>
      </p:sp>
      <p:sp>
        <p:nvSpPr>
          <p:cNvPr id="10" name="Text 7"/>
          <p:cNvSpPr txBox="1"/>
          <p:nvPr/>
        </p:nvSpPr>
        <p:spPr>
          <a:xfrm>
            <a:off x="4846320" y="1188720"/>
            <a:ext cx="82296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B</a:t>
            </a:r>
            <a:endParaRPr lang="en-US" sz="4800" dirty="0"/>
          </a:p>
        </p:txBody>
      </p:sp>
      <p:sp>
        <p:nvSpPr>
          <p:cNvPr id="11" name="Text 8"/>
          <p:cNvSpPr txBox="1"/>
          <p:nvPr/>
        </p:nvSpPr>
        <p:spPr>
          <a:xfrm>
            <a:off x="5760720" y="1234440"/>
            <a:ext cx="2743200" cy="36576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Dueño de negocio</a:t>
            </a:r>
            <a:endParaRPr lang="en-US" sz="1600" dirty="0"/>
          </a:p>
        </p:txBody>
      </p:sp>
      <p:sp>
        <p:nvSpPr>
          <p:cNvPr id="12" name="Text 9"/>
          <p:cNvSpPr txBox="1"/>
          <p:nvPr/>
        </p:nvSpPr>
        <p:spPr>
          <a:xfrm>
            <a:off x="5760720" y="1600200"/>
            <a:ext cx="2743200" cy="274320"/>
          </a:xfrm>
          <a:prstGeom prst="rect">
            <a:avLst/>
          </a:prstGeom>
          <a:noFill/>
          <a:ln/>
        </p:spPr>
        <p:txBody>
          <a:bodyPr wrap="square" lIns="0" tIns="0" rIns="0" bIns="0" rtlCol="0" anchor="t"/>
          <a:lstStyle/>
          <a:p>
            <a:pPr indent="0" marL="0">
              <a:buNone/>
            </a:pPr>
            <a:r>
              <a:rPr lang="en-US" sz="1200" i="1" dirty="0">
                <a:solidFill>
                  <a:srgbClr val="2E2224"/>
                </a:solidFill>
                <a:latin typeface="Calibri" pitchFamily="34" charset="0"/>
                <a:ea typeface="Calibri" pitchFamily="34" charset="-122"/>
                <a:cs typeface="Calibri" pitchFamily="34" charset="-120"/>
              </a:rPr>
              <a:t>Tienes un sistema</a:t>
            </a:r>
            <a:endParaRPr lang="en-US" sz="1200" dirty="0"/>
          </a:p>
        </p:txBody>
      </p:sp>
      <p:sp>
        <p:nvSpPr>
          <p:cNvPr id="13" name="Text 10"/>
          <p:cNvSpPr txBox="1"/>
          <p:nvPr/>
        </p:nvSpPr>
        <p:spPr>
          <a:xfrm>
            <a:off x="5760720" y="1920240"/>
            <a:ext cx="2743200" cy="82296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Hay gente trabajando para ti, haciendo lo que tú no quieres hacer.</a:t>
            </a:r>
            <a:endParaRPr lang="en-US" sz="1200" dirty="0"/>
          </a:p>
        </p:txBody>
      </p:sp>
      <p:sp>
        <p:nvSpPr>
          <p:cNvPr id="14" name="Shape 11"/>
          <p:cNvSpPr/>
          <p:nvPr/>
        </p:nvSpPr>
        <p:spPr>
          <a:xfrm>
            <a:off x="457200" y="2926080"/>
            <a:ext cx="4023360" cy="1691640"/>
          </a:xfrm>
          <a:prstGeom prst="roundRect">
            <a:avLst>
              <a:gd name="adj" fmla="val 6486"/>
            </a:avLst>
          </a:prstGeom>
          <a:solidFill>
            <a:srgbClr val="8B9AB7"/>
          </a:solidFill>
          <a:ln w="12700">
            <a:solidFill>
              <a:srgbClr val="8B9AB7"/>
            </a:solidFill>
            <a:prstDash val="solid"/>
          </a:ln>
        </p:spPr>
      </p:sp>
      <p:sp>
        <p:nvSpPr>
          <p:cNvPr id="15" name="Text 12"/>
          <p:cNvSpPr txBox="1"/>
          <p:nvPr/>
        </p:nvSpPr>
        <p:spPr>
          <a:xfrm>
            <a:off x="640080" y="3017520"/>
            <a:ext cx="82296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S</a:t>
            </a:r>
            <a:endParaRPr lang="en-US" sz="4800" dirty="0"/>
          </a:p>
        </p:txBody>
      </p:sp>
      <p:sp>
        <p:nvSpPr>
          <p:cNvPr id="16" name="Text 13"/>
          <p:cNvSpPr txBox="1"/>
          <p:nvPr/>
        </p:nvSpPr>
        <p:spPr>
          <a:xfrm>
            <a:off x="1554480" y="3063240"/>
            <a:ext cx="2743200" cy="36576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Autoempleado</a:t>
            </a:r>
            <a:endParaRPr lang="en-US" sz="1600" dirty="0"/>
          </a:p>
        </p:txBody>
      </p:sp>
      <p:sp>
        <p:nvSpPr>
          <p:cNvPr id="17" name="Text 14"/>
          <p:cNvSpPr txBox="1"/>
          <p:nvPr/>
        </p:nvSpPr>
        <p:spPr>
          <a:xfrm>
            <a:off x="1554480" y="3429000"/>
            <a:ext cx="2743200" cy="274320"/>
          </a:xfrm>
          <a:prstGeom prst="rect">
            <a:avLst/>
          </a:prstGeom>
          <a:noFill/>
          <a:ln/>
        </p:spPr>
        <p:txBody>
          <a:bodyPr wrap="square" lIns="0" tIns="0" rIns="0" bIns="0" rtlCol="0" anchor="t"/>
          <a:lstStyle/>
          <a:p>
            <a:pPr indent="0" marL="0">
              <a:buNone/>
            </a:pPr>
            <a:r>
              <a:rPr lang="en-US" sz="1200" i="1" dirty="0">
                <a:solidFill>
                  <a:srgbClr val="2E2224"/>
                </a:solidFill>
                <a:latin typeface="Calibri" pitchFamily="34" charset="0"/>
                <a:ea typeface="Calibri" pitchFamily="34" charset="-122"/>
                <a:cs typeface="Calibri" pitchFamily="34" charset="-120"/>
              </a:rPr>
              <a:t>Tienes un trabajo propio</a:t>
            </a:r>
            <a:endParaRPr lang="en-US" sz="1200" dirty="0"/>
          </a:p>
        </p:txBody>
      </p:sp>
      <p:sp>
        <p:nvSpPr>
          <p:cNvPr id="18" name="Text 15"/>
          <p:cNvSpPr txBox="1"/>
          <p:nvPr/>
        </p:nvSpPr>
        <p:spPr>
          <a:xfrm>
            <a:off x="1554480" y="3749040"/>
            <a:ext cx="2743200" cy="82296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Suele ganar algo más, pero gasta más horas. Sigue cambiando tiempo por dinero.</a:t>
            </a:r>
            <a:endParaRPr lang="en-US" sz="1200" dirty="0"/>
          </a:p>
        </p:txBody>
      </p:sp>
      <p:sp>
        <p:nvSpPr>
          <p:cNvPr id="19" name="Shape 16"/>
          <p:cNvSpPr/>
          <p:nvPr/>
        </p:nvSpPr>
        <p:spPr>
          <a:xfrm>
            <a:off x="4663440" y="2926080"/>
            <a:ext cx="4023360" cy="1691640"/>
          </a:xfrm>
          <a:prstGeom prst="roundRect">
            <a:avLst>
              <a:gd name="adj" fmla="val 6486"/>
            </a:avLst>
          </a:prstGeom>
          <a:solidFill>
            <a:srgbClr val="B9D3B1"/>
          </a:solidFill>
          <a:ln w="12700">
            <a:solidFill>
              <a:srgbClr val="B9D3B1"/>
            </a:solidFill>
            <a:prstDash val="solid"/>
          </a:ln>
        </p:spPr>
      </p:sp>
      <p:sp>
        <p:nvSpPr>
          <p:cNvPr id="20" name="Text 17"/>
          <p:cNvSpPr txBox="1"/>
          <p:nvPr/>
        </p:nvSpPr>
        <p:spPr>
          <a:xfrm>
            <a:off x="4846320" y="3017520"/>
            <a:ext cx="822960" cy="91440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I</a:t>
            </a:r>
            <a:endParaRPr lang="en-US" sz="4800" dirty="0"/>
          </a:p>
        </p:txBody>
      </p:sp>
      <p:sp>
        <p:nvSpPr>
          <p:cNvPr id="21" name="Text 18"/>
          <p:cNvSpPr txBox="1"/>
          <p:nvPr/>
        </p:nvSpPr>
        <p:spPr>
          <a:xfrm>
            <a:off x="5760720" y="3063240"/>
            <a:ext cx="2743200" cy="36576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Inversor / emprendedor</a:t>
            </a:r>
            <a:endParaRPr lang="en-US" sz="1600" dirty="0"/>
          </a:p>
        </p:txBody>
      </p:sp>
      <p:sp>
        <p:nvSpPr>
          <p:cNvPr id="22" name="Text 19"/>
          <p:cNvSpPr txBox="1"/>
          <p:nvPr/>
        </p:nvSpPr>
        <p:spPr>
          <a:xfrm>
            <a:off x="5760720" y="3429000"/>
            <a:ext cx="2743200" cy="274320"/>
          </a:xfrm>
          <a:prstGeom prst="rect">
            <a:avLst/>
          </a:prstGeom>
          <a:noFill/>
          <a:ln/>
        </p:spPr>
        <p:txBody>
          <a:bodyPr wrap="square" lIns="0" tIns="0" rIns="0" bIns="0" rtlCol="0" anchor="t"/>
          <a:lstStyle/>
          <a:p>
            <a:pPr indent="0" marL="0">
              <a:buNone/>
            </a:pPr>
            <a:r>
              <a:rPr lang="en-US" sz="1200" i="1" dirty="0">
                <a:solidFill>
                  <a:srgbClr val="2E2224"/>
                </a:solidFill>
                <a:latin typeface="Calibri" pitchFamily="34" charset="0"/>
                <a:ea typeface="Calibri" pitchFamily="34" charset="-122"/>
                <a:cs typeface="Calibri" pitchFamily="34" charset="-120"/>
              </a:rPr>
              <a:t>Tienes inversiones</a:t>
            </a:r>
            <a:endParaRPr lang="en-US" sz="1200" dirty="0"/>
          </a:p>
        </p:txBody>
      </p:sp>
      <p:sp>
        <p:nvSpPr>
          <p:cNvPr id="23" name="Text 20"/>
          <p:cNvSpPr txBox="1"/>
          <p:nvPr/>
        </p:nvSpPr>
        <p:spPr>
          <a:xfrm>
            <a:off x="5760720" y="3749040"/>
            <a:ext cx="2743200" cy="822960"/>
          </a:xfrm>
          <a:prstGeom prst="rect">
            <a:avLst/>
          </a:prstGeom>
          <a:noFill/>
          <a:ln/>
        </p:spPr>
        <p:txBody>
          <a:bodyPr wrap="square" lIns="0" tIns="0" rIns="0" bIns="0" rtlCol="0" anchor="t"/>
          <a:lstStyle/>
          <a:p>
            <a:pPr indent="0" marL="0">
              <a:buNone/>
            </a:pPr>
            <a:r>
              <a:rPr lang="en-US" sz="1200" dirty="0">
                <a:solidFill>
                  <a:srgbClr val="2E2224"/>
                </a:solidFill>
                <a:latin typeface="Calibri" pitchFamily="34" charset="0"/>
                <a:ea typeface="Calibri" pitchFamily="34" charset="-122"/>
                <a:cs typeface="Calibri" pitchFamily="34" charset="-120"/>
              </a:rPr>
              <a:t>El dinero trabaja para ti: apalancamiento, ingresos pasivos, automatización y sistemas.</a:t>
            </a:r>
            <a:endParaRPr lang="en-US" sz="12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Cambiar tiempo por dinero</a:t>
            </a:r>
            <a:endParaRPr lang="en-US" sz="2600" dirty="0"/>
          </a:p>
        </p:txBody>
      </p:sp>
      <p:sp>
        <p:nvSpPr>
          <p:cNvPr id="4" name="Text 1"/>
          <p:cNvSpPr txBox="1"/>
          <p:nvPr/>
        </p:nvSpPr>
        <p:spPr>
          <a:xfrm>
            <a:off x="457200" y="1097280"/>
            <a:ext cx="3931920" cy="365760"/>
          </a:xfrm>
          <a:prstGeom prst="rect">
            <a:avLst/>
          </a:prstGeom>
          <a:noFill/>
          <a:ln/>
        </p:spPr>
        <p:txBody>
          <a:bodyPr wrap="square" lIns="0" tIns="0" rIns="0" bIns="0" rtlCol="0" anchor="t"/>
          <a:lstStyle/>
          <a:p>
            <a:pPr indent="0" marL="0">
              <a:buNone/>
            </a:pPr>
            <a:r>
              <a:rPr lang="en-US" sz="1500" b="1" dirty="0">
                <a:solidFill>
                  <a:srgbClr val="F2C14E"/>
                </a:solidFill>
                <a:latin typeface="Calibri" pitchFamily="34" charset="0"/>
                <a:ea typeface="Calibri" pitchFamily="34" charset="-122"/>
                <a:cs typeface="Calibri" pitchFamily="34" charset="-120"/>
              </a:rPr>
              <a:t>Coaching online, como el coaching de salud:</a:t>
            </a:r>
            <a:endParaRPr lang="en-US" sz="1500" dirty="0"/>
          </a:p>
        </p:txBody>
      </p:sp>
      <p:sp>
        <p:nvSpPr>
          <p:cNvPr id="5" name="Text 2"/>
          <p:cNvSpPr txBox="1"/>
          <p:nvPr/>
        </p:nvSpPr>
        <p:spPr>
          <a:xfrm>
            <a:off x="457200" y="1600200"/>
            <a:ext cx="3931920" cy="22860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Más llamadas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Más clientes</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Más gestión de agenda</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Más energía gastada</a:t>
            </a:r>
            <a:endParaRPr lang="en-US" sz="1600" dirty="0"/>
          </a:p>
          <a:p>
            <a:pPr marL="342900" indent="-3429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Más horas</a:t>
            </a:r>
            <a:endParaRPr lang="en-US" sz="1600" dirty="0"/>
          </a:p>
        </p:txBody>
      </p:sp>
      <p:sp>
        <p:nvSpPr>
          <p:cNvPr id="6" name="Shape 3"/>
          <p:cNvSpPr/>
          <p:nvPr/>
        </p:nvSpPr>
        <p:spPr>
          <a:xfrm>
            <a:off x="4663440" y="1097280"/>
            <a:ext cx="4023360" cy="3474720"/>
          </a:xfrm>
          <a:prstGeom prst="roundRect">
            <a:avLst>
              <a:gd name="adj" fmla="val 3947"/>
            </a:avLst>
          </a:prstGeom>
          <a:solidFill>
            <a:srgbClr val="3E3133"/>
          </a:solidFill>
          <a:ln w="12700">
            <a:solidFill>
              <a:srgbClr val="3E3133"/>
            </a:solidFill>
            <a:prstDash val="solid"/>
          </a:ln>
        </p:spPr>
      </p:sp>
      <p:sp>
        <p:nvSpPr>
          <p:cNvPr id="7" name="Text 4"/>
          <p:cNvSpPr txBox="1"/>
          <p:nvPr/>
        </p:nvSpPr>
        <p:spPr>
          <a:xfrm>
            <a:off x="4892040" y="1280160"/>
            <a:ext cx="3566160" cy="274320"/>
          </a:xfrm>
          <a:prstGeom prst="rect">
            <a:avLst/>
          </a:prstGeom>
          <a:noFill/>
          <a:ln/>
        </p:spPr>
        <p:txBody>
          <a:bodyPr wrap="square" lIns="0" tIns="0" rIns="0" bIns="0" rtlCol="0" anchor="t"/>
          <a:lstStyle/>
          <a:p>
            <a:pPr indent="0" marL="0">
              <a:buNone/>
            </a:pPr>
            <a:r>
              <a:rPr lang="en-US" sz="1200" b="1" spc="300" kern="0" dirty="0">
                <a:solidFill>
                  <a:srgbClr val="EE7A7A"/>
                </a:solidFill>
                <a:latin typeface="Calibri" pitchFamily="34" charset="0"/>
                <a:ea typeface="Calibri" pitchFamily="34" charset="-122"/>
                <a:cs typeface="Calibri" pitchFamily="34" charset="-120"/>
              </a:rPr>
              <a:t>JOYA · COACH DE SALUD</a:t>
            </a:r>
            <a:endParaRPr lang="en-US" sz="1200" dirty="0"/>
          </a:p>
        </p:txBody>
      </p:sp>
      <p:sp>
        <p:nvSpPr>
          <p:cNvPr id="8" name="Text 5"/>
          <p:cNvSpPr txBox="1"/>
          <p:nvPr/>
        </p:nvSpPr>
        <p:spPr>
          <a:xfrm>
            <a:off x="4892040" y="1691640"/>
            <a:ext cx="3566160" cy="2651760"/>
          </a:xfrm>
          <a:prstGeom prst="rect">
            <a:avLst/>
          </a:prstGeom>
          <a:noFill/>
          <a:ln/>
        </p:spPr>
        <p:txBody>
          <a:bodyPr wrap="square" lIns="0" tIns="0" rIns="0" bIns="0" rtlCol="0" anchor="t"/>
          <a:lstStyle/>
          <a:p>
            <a:pPr indent="0" marL="0">
              <a:buNone/>
            </a:pPr>
            <a:r>
              <a:rPr lang="en-US" sz="1600" i="1" dirty="0">
                <a:solidFill>
                  <a:srgbClr val="FFFFFF"/>
                </a:solidFill>
                <a:latin typeface="Calibri" pitchFamily="34" charset="0"/>
                <a:ea typeface="Calibri" pitchFamily="34" charset="-122"/>
                <a:cs typeface="Calibri" pitchFamily="34" charset="-120"/>
              </a:rPr>
              <a:t>«El coaching de salud me daba $500–600 al mes, pero era estresante y me comía el tiempo. Ahora he creado meses de $3K–9K con más flexibilidad y además ingresos pasivos.»</a:t>
            </a:r>
            <a:endParaRPr lang="en-US" sz="1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Libertad de ubicación: el negocio físico</a:t>
            </a:r>
            <a:endParaRPr lang="en-US" sz="2600" dirty="0"/>
          </a:p>
        </p:txBody>
      </p:sp>
      <p:sp>
        <p:nvSpPr>
          <p:cNvPr id="4" name="Text 1"/>
          <p:cNvSpPr txBox="1"/>
          <p:nvPr/>
        </p:nvSpPr>
        <p:spPr>
          <a:xfrm>
            <a:off x="457200" y="1097280"/>
            <a:ext cx="4572000" cy="8229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Naomi tiene una cafetería ecológica de bienestar en Austin. Aunque está agradecida de servir a su comunidad, esta es la realidad:</a:t>
            </a:r>
            <a:endParaRPr lang="en-US" sz="1400" dirty="0"/>
          </a:p>
        </p:txBody>
      </p:sp>
      <p:sp>
        <p:nvSpPr>
          <p:cNvPr id="5" name="Text 2"/>
          <p:cNvSpPr txBox="1"/>
          <p:nvPr/>
        </p:nvSpPr>
        <p:spPr>
          <a:xfrm>
            <a:off x="457200" y="2011680"/>
            <a:ext cx="4572000" cy="2377440"/>
          </a:xfrm>
          <a:prstGeom prst="rect">
            <a:avLst/>
          </a:prstGeom>
          <a:noFill/>
          <a:ln/>
        </p:spPr>
        <p:txBody>
          <a:bodyPr wrap="square" lIns="0" tIns="0" rIns="0" bIns="0" rtlCol="0" anchor="t"/>
          <a:lstStyle/>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Altos costes de arranque</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Alquiler, nóminas e inventario</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Operaciones y gestión diaria</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Beneficio dependiente de gastos fijos y márgenes</a:t>
            </a:r>
            <a:endParaRPr lang="en-US" sz="1500" dirty="0"/>
          </a:p>
          <a:p>
            <a:pPr marL="342900" indent="-342900">
              <a:spcAft>
                <a:spcPts val="500"/>
              </a:spcAft>
              <a:buSzPct val="100000"/>
              <a:buChar char="✕"/>
            </a:pPr>
            <a:r>
              <a:rPr lang="en-US" sz="1500" dirty="0">
                <a:solidFill>
                  <a:srgbClr val="FFFFFF"/>
                </a:solidFill>
                <a:latin typeface="Calibri" pitchFamily="34" charset="0"/>
                <a:ea typeface="Calibri" pitchFamily="34" charset="-122"/>
                <a:cs typeface="Calibri" pitchFamily="34" charset="-120"/>
              </a:rPr>
              <a:t>Flexibilidad limitada</a:t>
            </a:r>
            <a:endParaRPr lang="en-US" sz="1500" dirty="0"/>
          </a:p>
        </p:txBody>
      </p:sp>
      <p:sp>
        <p:nvSpPr>
          <p:cNvPr id="6" name="Shape 3"/>
          <p:cNvSpPr/>
          <p:nvPr/>
        </p:nvSpPr>
        <p:spPr>
          <a:xfrm>
            <a:off x="5303520" y="1097280"/>
            <a:ext cx="3383280" cy="3474720"/>
          </a:xfrm>
          <a:prstGeom prst="roundRect">
            <a:avLst>
              <a:gd name="adj" fmla="val 4054"/>
            </a:avLst>
          </a:prstGeom>
          <a:solidFill>
            <a:srgbClr val="B9D3B1"/>
          </a:solidFill>
          <a:ln w="12700">
            <a:solidFill>
              <a:srgbClr val="B9D3B1"/>
            </a:solidFill>
            <a:prstDash val="solid"/>
          </a:ln>
        </p:spPr>
      </p:sp>
      <p:sp>
        <p:nvSpPr>
          <p:cNvPr id="7" name="Text 4"/>
          <p:cNvSpPr txBox="1"/>
          <p:nvPr/>
        </p:nvSpPr>
        <p:spPr>
          <a:xfrm>
            <a:off x="5486400" y="1280160"/>
            <a:ext cx="3017520" cy="3108960"/>
          </a:xfrm>
          <a:prstGeom prst="rect">
            <a:avLst/>
          </a:prstGeom>
          <a:noFill/>
          <a:ln/>
        </p:spPr>
        <p:txBody>
          <a:bodyPr wrap="square" lIns="0" tIns="0" rIns="0" bIns="0" rtlCol="0" anchor="ctr"/>
          <a:lstStyle/>
          <a:p>
            <a:pPr indent="0" marL="0">
              <a:buNone/>
            </a:pPr>
            <a:r>
              <a:rPr lang="en-US" sz="1400" i="1" dirty="0">
                <a:solidFill>
                  <a:srgbClr val="2E2224"/>
                </a:solidFill>
                <a:latin typeface="Calibri" pitchFamily="34" charset="0"/>
                <a:ea typeface="Calibri" pitchFamily="34" charset="-122"/>
                <a:cs typeface="Calibri" pitchFamily="34" charset="-120"/>
              </a:rPr>
              <a:t>«Tras casi una década en un negocio físico con márgenes del 10–15% y muchos gastos, este modelo puede ofrecer un potencial de beneficio del 70–80%+, con costes de arranque mucho menores y un fuerte valor a largo plazo por cliente.»</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Libertad financiera: el modelo de bajo pago</a:t>
            </a:r>
            <a:endParaRPr lang="en-US" sz="2600" dirty="0"/>
          </a:p>
        </p:txBody>
      </p:sp>
      <p:sp>
        <p:nvSpPr>
          <p:cNvPr id="4" name="Shape 1"/>
          <p:cNvSpPr/>
          <p:nvPr/>
        </p:nvSpPr>
        <p:spPr>
          <a:xfrm>
            <a:off x="457200" y="1097280"/>
            <a:ext cx="3931920" cy="3474720"/>
          </a:xfrm>
          <a:prstGeom prst="roundRect">
            <a:avLst>
              <a:gd name="adj" fmla="val 3947"/>
            </a:avLst>
          </a:prstGeom>
          <a:solidFill>
            <a:srgbClr val="FBEAEA"/>
          </a:solidFill>
          <a:ln w="12700">
            <a:solidFill>
              <a:srgbClr val="FBEAEA"/>
            </a:solidFill>
            <a:prstDash val="solid"/>
          </a:ln>
        </p:spPr>
      </p:sp>
      <p:sp>
        <p:nvSpPr>
          <p:cNvPr id="5" name="Text 2"/>
          <p:cNvSpPr txBox="1"/>
          <p:nvPr/>
        </p:nvSpPr>
        <p:spPr>
          <a:xfrm>
            <a:off x="685800" y="1280160"/>
            <a:ext cx="3474720" cy="457200"/>
          </a:xfrm>
          <a:prstGeom prst="rect">
            <a:avLst/>
          </a:prstGeom>
          <a:noFill/>
          <a:ln/>
        </p:spPr>
        <p:txBody>
          <a:bodyPr wrap="square" lIns="0" tIns="0" rIns="0" bIns="0" rtlCol="0" anchor="t"/>
          <a:lstStyle/>
          <a:p>
            <a:pPr indent="0" marL="0">
              <a:buNone/>
            </a:pPr>
            <a:r>
              <a:rPr lang="en-US" sz="2000" b="1" dirty="0">
                <a:solidFill>
                  <a:srgbClr val="C04848"/>
                </a:solidFill>
                <a:latin typeface="Arial" pitchFamily="34" charset="0"/>
                <a:ea typeface="Arial" pitchFamily="34" charset="-122"/>
                <a:cs typeface="Arial" pitchFamily="34" charset="-120"/>
              </a:rPr>
              <a:t>$10–20 por venta</a:t>
            </a:r>
            <a:endParaRPr lang="en-US" sz="2000" dirty="0"/>
          </a:p>
        </p:txBody>
      </p:sp>
      <p:sp>
        <p:nvSpPr>
          <p:cNvPr id="6" name="Text 3"/>
          <p:cNvSpPr txBox="1"/>
          <p:nvPr/>
        </p:nvSpPr>
        <p:spPr>
          <a:xfrm>
            <a:off x="685800" y="1920240"/>
            <a:ext cx="3474720" cy="23774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E2224"/>
                </a:solidFill>
                <a:latin typeface="Calibri" pitchFamily="34" charset="0"/>
                <a:ea typeface="Calibri" pitchFamily="34" charset="-122"/>
                <a:cs typeface="Calibri" pitchFamily="34" charset="-120"/>
              </a:rPr>
              <a:t>Bajo ticket = volumen</a:t>
            </a:r>
            <a:endParaRPr lang="en-US" sz="1600" dirty="0"/>
          </a:p>
          <a:p>
            <a:pPr marL="342900" indent="-342900">
              <a:spcAft>
                <a:spcPts val="800"/>
              </a:spcAft>
              <a:buSzPct val="100000"/>
              <a:buChar char="✕"/>
            </a:pPr>
            <a:r>
              <a:rPr lang="en-US" sz="1600" dirty="0">
                <a:solidFill>
                  <a:srgbClr val="2E2224"/>
                </a:solidFill>
                <a:latin typeface="Calibri" pitchFamily="34" charset="0"/>
                <a:ea typeface="Calibri" pitchFamily="34" charset="-122"/>
                <a:cs typeface="Calibri" pitchFamily="34" charset="-120"/>
              </a:rPr>
              <a:t>Volumen = presión</a:t>
            </a:r>
            <a:endParaRPr lang="en-US" sz="1600" dirty="0"/>
          </a:p>
          <a:p>
            <a:pPr marL="342900" indent="-342900">
              <a:spcAft>
                <a:spcPts val="800"/>
              </a:spcAft>
              <a:buSzPct val="100000"/>
              <a:buChar char="✕"/>
            </a:pPr>
            <a:r>
              <a:rPr lang="en-US" sz="1600" dirty="0">
                <a:solidFill>
                  <a:srgbClr val="2E2224"/>
                </a:solidFill>
                <a:latin typeface="Calibri" pitchFamily="34" charset="0"/>
                <a:ea typeface="Calibri" pitchFamily="34" charset="-122"/>
                <a:cs typeface="Calibri" pitchFamily="34" charset="-120"/>
              </a:rPr>
              <a:t>Presión = comportamiento de spam</a:t>
            </a:r>
            <a:endParaRPr lang="en-US" sz="1600" dirty="0"/>
          </a:p>
          <a:p>
            <a:pPr marL="342900" indent="-342900">
              <a:spcAft>
                <a:spcPts val="800"/>
              </a:spcAft>
              <a:buSzPct val="100000"/>
              <a:buChar char="✕"/>
            </a:pPr>
            <a:r>
              <a:rPr lang="en-US" sz="1600" dirty="0">
                <a:solidFill>
                  <a:srgbClr val="2E2224"/>
                </a:solidFill>
                <a:latin typeface="Calibri" pitchFamily="34" charset="0"/>
                <a:ea typeface="Calibri" pitchFamily="34" charset="-122"/>
                <a:cs typeface="Calibri" pitchFamily="34" charset="-120"/>
              </a:rPr>
              <a:t>Spam = desalineación</a:t>
            </a:r>
            <a:endParaRPr lang="en-US" sz="1600" dirty="0"/>
          </a:p>
        </p:txBody>
      </p:sp>
      <p:sp>
        <p:nvSpPr>
          <p:cNvPr id="7" name="Text 4"/>
          <p:cNvSpPr txBox="1"/>
          <p:nvPr/>
        </p:nvSpPr>
        <p:spPr>
          <a:xfrm>
            <a:off x="4754880" y="1188720"/>
            <a:ext cx="3931920" cy="274320"/>
          </a:xfrm>
          <a:prstGeom prst="rect">
            <a:avLst/>
          </a:prstGeom>
          <a:noFill/>
          <a:ln/>
        </p:spPr>
        <p:txBody>
          <a:bodyPr wrap="square" lIns="0" tIns="0" rIns="0" bIns="0" rtlCol="0" anchor="t"/>
          <a:lstStyle/>
          <a:p>
            <a:pPr indent="0" marL="0">
              <a:buNone/>
            </a:pPr>
            <a:r>
              <a:rPr lang="en-US" sz="1200" b="1" spc="300" kern="0" dirty="0">
                <a:solidFill>
                  <a:srgbClr val="8B9AB7"/>
                </a:solidFill>
                <a:latin typeface="Calibri" pitchFamily="34" charset="0"/>
                <a:ea typeface="Calibri" pitchFamily="34" charset="-122"/>
                <a:cs typeface="Calibri" pitchFamily="34" charset="-120"/>
              </a:rPr>
              <a:t>SHANNON · VENÍA DEL BAJO PAGO</a:t>
            </a:r>
            <a:endParaRPr lang="en-US" sz="1200" dirty="0"/>
          </a:p>
        </p:txBody>
      </p:sp>
      <p:sp>
        <p:nvSpPr>
          <p:cNvPr id="8" name="Text 5"/>
          <p:cNvSpPr txBox="1"/>
          <p:nvPr/>
        </p:nvSpPr>
        <p:spPr>
          <a:xfrm>
            <a:off x="4754880" y="1645920"/>
            <a:ext cx="3931920" cy="2377440"/>
          </a:xfrm>
          <a:prstGeom prst="rect">
            <a:avLst/>
          </a:prstGeom>
          <a:noFill/>
          <a:ln/>
        </p:spPr>
        <p:txBody>
          <a:bodyPr wrap="square" lIns="0" tIns="0" rIns="0" bIns="0" rtlCol="0" anchor="t"/>
          <a:lstStyle/>
          <a:p>
            <a:pPr indent="0" marL="0">
              <a:buNone/>
            </a:pPr>
            <a:r>
              <a:rPr lang="en-US" sz="1800" i="1" dirty="0">
                <a:solidFill>
                  <a:srgbClr val="2E2224"/>
                </a:solidFill>
                <a:latin typeface="Calibri" pitchFamily="34" charset="0"/>
                <a:ea typeface="Calibri" pitchFamily="34" charset="-122"/>
                <a:cs typeface="Calibri" pitchFamily="34" charset="-120"/>
              </a:rPr>
              <a:t>«Acabo de tener un mes de más de $30K con solo 7 ventas. Mi mejor mes en mi antigua empresa de bajo ticket fue de $13K, y necesité más de 100 ventas durante un Black Friday.»</a:t>
            </a:r>
            <a:endParaRPr lang="en-US" sz="18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Lo que hace falta para ganar $10K al mes</a:t>
            </a:r>
            <a:endParaRPr lang="en-US" sz="2600" dirty="0"/>
          </a:p>
        </p:txBody>
      </p:sp>
      <p:sp>
        <p:nvSpPr>
          <p:cNvPr id="4" name="Shape 1"/>
          <p:cNvSpPr/>
          <p:nvPr/>
        </p:nvSpPr>
        <p:spPr>
          <a:xfrm>
            <a:off x="457200" y="1097280"/>
            <a:ext cx="1572768" cy="3017520"/>
          </a:xfrm>
          <a:prstGeom prst="roundRect">
            <a:avLst>
              <a:gd name="adj" fmla="val 6977"/>
            </a:avLst>
          </a:prstGeom>
          <a:solidFill>
            <a:srgbClr val="3E3133"/>
          </a:solidFill>
          <a:ln w="12700">
            <a:solidFill>
              <a:srgbClr val="3E3133"/>
            </a:solidFill>
            <a:prstDash val="solid"/>
          </a:ln>
        </p:spPr>
      </p:sp>
      <p:sp>
        <p:nvSpPr>
          <p:cNvPr id="5" name="Text 2"/>
          <p:cNvSpPr txBox="1"/>
          <p:nvPr/>
        </p:nvSpPr>
        <p:spPr>
          <a:xfrm>
            <a:off x="548640" y="1234440"/>
            <a:ext cx="1389888" cy="548640"/>
          </a:xfrm>
          <a:prstGeom prst="rect">
            <a:avLst/>
          </a:prstGeom>
          <a:noFill/>
          <a:ln/>
        </p:spPr>
        <p:txBody>
          <a:bodyPr wrap="square" lIns="0" tIns="0" rIns="0" bIns="0" rtlCol="0" anchor="t"/>
          <a:lstStyle/>
          <a:p>
            <a:pPr algn="ctr" indent="0" marL="0">
              <a:buNone/>
            </a:pPr>
            <a:r>
              <a:rPr lang="en-US" sz="1200" b="1" dirty="0">
                <a:solidFill>
                  <a:srgbClr val="EE7A7A"/>
                </a:solidFill>
                <a:latin typeface="Arial" pitchFamily="34" charset="0"/>
                <a:ea typeface="Arial" pitchFamily="34" charset="-122"/>
                <a:cs typeface="Arial" pitchFamily="34" charset="-120"/>
              </a:rPr>
              <a:t>BAJO PAGO</a:t>
            </a:r>
            <a:endParaRPr lang="en-US" sz="1200" dirty="0"/>
          </a:p>
        </p:txBody>
      </p:sp>
      <p:sp>
        <p:nvSpPr>
          <p:cNvPr id="6" name="Text 3"/>
          <p:cNvSpPr txBox="1"/>
          <p:nvPr/>
        </p:nvSpPr>
        <p:spPr>
          <a:xfrm>
            <a:off x="548640" y="1828800"/>
            <a:ext cx="1389888" cy="914400"/>
          </a:xfrm>
          <a:prstGeom prst="rect">
            <a:avLst/>
          </a:prstGeom>
          <a:noFill/>
          <a:ln/>
        </p:spPr>
        <p:txBody>
          <a:bodyPr wrap="square" lIns="0" tIns="0" rIns="0" bIns="0" rtlCol="0" anchor="t"/>
          <a:lstStyle/>
          <a:p>
            <a:pPr algn="ctr" indent="0" marL="0">
              <a:buNone/>
            </a:pPr>
            <a:r>
              <a:rPr lang="en-US" sz="1200" i="1" dirty="0">
                <a:solidFill>
                  <a:srgbClr val="FFFFFF"/>
                </a:solidFill>
                <a:latin typeface="Calibri" pitchFamily="34" charset="0"/>
                <a:ea typeface="Calibri" pitchFamily="34" charset="-122"/>
                <a:cs typeface="Calibri" pitchFamily="34" charset="-120"/>
              </a:rPr>
              <a:t>$10–20 por venta</a:t>
            </a:r>
            <a:endParaRPr lang="en-US" sz="1200" dirty="0"/>
          </a:p>
        </p:txBody>
      </p:sp>
      <p:sp>
        <p:nvSpPr>
          <p:cNvPr id="7" name="Text 4"/>
          <p:cNvSpPr txBox="1"/>
          <p:nvPr/>
        </p:nvSpPr>
        <p:spPr>
          <a:xfrm>
            <a:off x="548640" y="2788920"/>
            <a:ext cx="1389888" cy="123444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500–1.000+ ventas</a:t>
            </a:r>
            <a:endParaRPr lang="en-US" sz="1200" dirty="0"/>
          </a:p>
        </p:txBody>
      </p:sp>
      <p:sp>
        <p:nvSpPr>
          <p:cNvPr id="8" name="Shape 5"/>
          <p:cNvSpPr/>
          <p:nvPr/>
        </p:nvSpPr>
        <p:spPr>
          <a:xfrm>
            <a:off x="2121408" y="1097280"/>
            <a:ext cx="1572768" cy="3017520"/>
          </a:xfrm>
          <a:prstGeom prst="roundRect">
            <a:avLst>
              <a:gd name="adj" fmla="val 6977"/>
            </a:avLst>
          </a:prstGeom>
          <a:solidFill>
            <a:srgbClr val="3E3133"/>
          </a:solidFill>
          <a:ln w="12700">
            <a:solidFill>
              <a:srgbClr val="3E3133"/>
            </a:solidFill>
            <a:prstDash val="solid"/>
          </a:ln>
        </p:spPr>
      </p:sp>
      <p:sp>
        <p:nvSpPr>
          <p:cNvPr id="9" name="Text 6"/>
          <p:cNvSpPr txBox="1"/>
          <p:nvPr/>
        </p:nvSpPr>
        <p:spPr>
          <a:xfrm>
            <a:off x="2212848" y="1234440"/>
            <a:ext cx="1389888" cy="548640"/>
          </a:xfrm>
          <a:prstGeom prst="rect">
            <a:avLst/>
          </a:prstGeom>
          <a:noFill/>
          <a:ln/>
        </p:spPr>
        <p:txBody>
          <a:bodyPr wrap="square" lIns="0" tIns="0" rIns="0" bIns="0" rtlCol="0" anchor="t"/>
          <a:lstStyle/>
          <a:p>
            <a:pPr algn="ctr" indent="0" marL="0">
              <a:buNone/>
            </a:pPr>
            <a:r>
              <a:rPr lang="en-US" sz="1200" b="1" dirty="0">
                <a:solidFill>
                  <a:srgbClr val="EE7A7A"/>
                </a:solidFill>
                <a:latin typeface="Arial" pitchFamily="34" charset="0"/>
                <a:ea typeface="Arial" pitchFamily="34" charset="-122"/>
                <a:cs typeface="Arial" pitchFamily="34" charset="-120"/>
              </a:rPr>
              <a:t>EMPLEADO</a:t>
            </a:r>
            <a:endParaRPr lang="en-US" sz="1200" dirty="0"/>
          </a:p>
        </p:txBody>
      </p:sp>
      <p:sp>
        <p:nvSpPr>
          <p:cNvPr id="10" name="Text 7"/>
          <p:cNvSpPr txBox="1"/>
          <p:nvPr/>
        </p:nvSpPr>
        <p:spPr>
          <a:xfrm>
            <a:off x="2212848" y="1828800"/>
            <a:ext cx="1389888" cy="914400"/>
          </a:xfrm>
          <a:prstGeom prst="rect">
            <a:avLst/>
          </a:prstGeom>
          <a:noFill/>
          <a:ln/>
        </p:spPr>
        <p:txBody>
          <a:bodyPr wrap="square" lIns="0" tIns="0" rIns="0" bIns="0" rtlCol="0" anchor="t"/>
          <a:lstStyle/>
          <a:p>
            <a:pPr algn="ctr" indent="0" marL="0">
              <a:buNone/>
            </a:pPr>
            <a:r>
              <a:rPr lang="en-US" sz="1200" i="1" dirty="0">
                <a:solidFill>
                  <a:srgbClr val="FFFFFF"/>
                </a:solidFill>
                <a:latin typeface="Calibri" pitchFamily="34" charset="0"/>
                <a:ea typeface="Calibri" pitchFamily="34" charset="-122"/>
                <a:cs typeface="Calibri" pitchFamily="34" charset="-120"/>
              </a:rPr>
              <a:t>Sueldo de $120K+</a:t>
            </a:r>
            <a:endParaRPr lang="en-US" sz="1200" dirty="0"/>
          </a:p>
        </p:txBody>
      </p:sp>
      <p:sp>
        <p:nvSpPr>
          <p:cNvPr id="11" name="Text 8"/>
          <p:cNvSpPr txBox="1"/>
          <p:nvPr/>
        </p:nvSpPr>
        <p:spPr>
          <a:xfrm>
            <a:off x="2212848" y="2788920"/>
            <a:ext cx="1389888" cy="123444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Lo gana menos del 20% de empleados · ingreso con techo</a:t>
            </a:r>
            <a:endParaRPr lang="en-US" sz="1200" dirty="0"/>
          </a:p>
        </p:txBody>
      </p:sp>
      <p:sp>
        <p:nvSpPr>
          <p:cNvPr id="12" name="Shape 9"/>
          <p:cNvSpPr/>
          <p:nvPr/>
        </p:nvSpPr>
        <p:spPr>
          <a:xfrm>
            <a:off x="3785616" y="1097280"/>
            <a:ext cx="1572768" cy="3017520"/>
          </a:xfrm>
          <a:prstGeom prst="roundRect">
            <a:avLst>
              <a:gd name="adj" fmla="val 6977"/>
            </a:avLst>
          </a:prstGeom>
          <a:solidFill>
            <a:srgbClr val="3E3133"/>
          </a:solidFill>
          <a:ln w="12700">
            <a:solidFill>
              <a:srgbClr val="3E3133"/>
            </a:solidFill>
            <a:prstDash val="solid"/>
          </a:ln>
        </p:spPr>
      </p:sp>
      <p:sp>
        <p:nvSpPr>
          <p:cNvPr id="13" name="Text 10"/>
          <p:cNvSpPr txBox="1"/>
          <p:nvPr/>
        </p:nvSpPr>
        <p:spPr>
          <a:xfrm>
            <a:off x="3877056" y="1234440"/>
            <a:ext cx="1389888" cy="548640"/>
          </a:xfrm>
          <a:prstGeom prst="rect">
            <a:avLst/>
          </a:prstGeom>
          <a:noFill/>
          <a:ln/>
        </p:spPr>
        <p:txBody>
          <a:bodyPr wrap="square" lIns="0" tIns="0" rIns="0" bIns="0" rtlCol="0" anchor="t"/>
          <a:lstStyle/>
          <a:p>
            <a:pPr algn="ctr" indent="0" marL="0">
              <a:buNone/>
            </a:pPr>
            <a:r>
              <a:rPr lang="en-US" sz="1200" b="1" dirty="0">
                <a:solidFill>
                  <a:srgbClr val="EE7A7A"/>
                </a:solidFill>
                <a:latin typeface="Arial" pitchFamily="34" charset="0"/>
                <a:ea typeface="Arial" pitchFamily="34" charset="-122"/>
                <a:cs typeface="Arial" pitchFamily="34" charset="-120"/>
              </a:rPr>
              <a:t>COACH ONLINE</a:t>
            </a:r>
            <a:endParaRPr lang="en-US" sz="1200" dirty="0"/>
          </a:p>
        </p:txBody>
      </p:sp>
      <p:sp>
        <p:nvSpPr>
          <p:cNvPr id="14" name="Text 11"/>
          <p:cNvSpPr txBox="1"/>
          <p:nvPr/>
        </p:nvSpPr>
        <p:spPr>
          <a:xfrm>
            <a:off x="3877056" y="1828800"/>
            <a:ext cx="1389888" cy="914400"/>
          </a:xfrm>
          <a:prstGeom prst="rect">
            <a:avLst/>
          </a:prstGeom>
          <a:noFill/>
          <a:ln/>
        </p:spPr>
        <p:txBody>
          <a:bodyPr wrap="square" lIns="0" tIns="0" rIns="0" bIns="0" rtlCol="0" anchor="t"/>
          <a:lstStyle/>
          <a:p>
            <a:pPr algn="ctr" indent="0" marL="0">
              <a:buNone/>
            </a:pPr>
            <a:r>
              <a:rPr lang="en-US" sz="1200" i="1" dirty="0">
                <a:solidFill>
                  <a:srgbClr val="FFFFFF"/>
                </a:solidFill>
                <a:latin typeface="Calibri" pitchFamily="34" charset="0"/>
                <a:ea typeface="Calibri" pitchFamily="34" charset="-122"/>
                <a:cs typeface="Calibri" pitchFamily="34" charset="-120"/>
              </a:rPr>
              <a:t>Ofertas de $1K–3K / sesiones de $100–300</a:t>
            </a:r>
            <a:endParaRPr lang="en-US" sz="1200" dirty="0"/>
          </a:p>
        </p:txBody>
      </p:sp>
      <p:sp>
        <p:nvSpPr>
          <p:cNvPr id="15" name="Text 12"/>
          <p:cNvSpPr txBox="1"/>
          <p:nvPr/>
        </p:nvSpPr>
        <p:spPr>
          <a:xfrm>
            <a:off x="3877056" y="2788920"/>
            <a:ext cx="1389888" cy="123444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4–10 clientes; 10–30+ ventas de programa</a:t>
            </a:r>
            <a:endParaRPr lang="en-US" sz="1200" dirty="0"/>
          </a:p>
        </p:txBody>
      </p:sp>
      <p:sp>
        <p:nvSpPr>
          <p:cNvPr id="16" name="Shape 13"/>
          <p:cNvSpPr/>
          <p:nvPr/>
        </p:nvSpPr>
        <p:spPr>
          <a:xfrm>
            <a:off x="5449824" y="1097280"/>
            <a:ext cx="1572768" cy="3017520"/>
          </a:xfrm>
          <a:prstGeom prst="roundRect">
            <a:avLst>
              <a:gd name="adj" fmla="val 6977"/>
            </a:avLst>
          </a:prstGeom>
          <a:solidFill>
            <a:srgbClr val="3E3133"/>
          </a:solidFill>
          <a:ln w="12700">
            <a:solidFill>
              <a:srgbClr val="3E3133"/>
            </a:solidFill>
            <a:prstDash val="solid"/>
          </a:ln>
        </p:spPr>
      </p:sp>
      <p:sp>
        <p:nvSpPr>
          <p:cNvPr id="17" name="Text 14"/>
          <p:cNvSpPr txBox="1"/>
          <p:nvPr/>
        </p:nvSpPr>
        <p:spPr>
          <a:xfrm>
            <a:off x="5541264" y="1234440"/>
            <a:ext cx="1389888" cy="548640"/>
          </a:xfrm>
          <a:prstGeom prst="rect">
            <a:avLst/>
          </a:prstGeom>
          <a:noFill/>
          <a:ln/>
        </p:spPr>
        <p:txBody>
          <a:bodyPr wrap="square" lIns="0" tIns="0" rIns="0" bIns="0" rtlCol="0" anchor="t"/>
          <a:lstStyle/>
          <a:p>
            <a:pPr algn="ctr" indent="0" marL="0">
              <a:buNone/>
            </a:pPr>
            <a:r>
              <a:rPr lang="en-US" sz="1200" b="1" dirty="0">
                <a:solidFill>
                  <a:srgbClr val="EE7A7A"/>
                </a:solidFill>
                <a:latin typeface="Arial" pitchFamily="34" charset="0"/>
                <a:ea typeface="Arial" pitchFamily="34" charset="-122"/>
                <a:cs typeface="Arial" pitchFamily="34" charset="-120"/>
              </a:rPr>
              <a:t>NEGOCIO FÍSICO</a:t>
            </a:r>
            <a:endParaRPr lang="en-US" sz="1200" dirty="0"/>
          </a:p>
        </p:txBody>
      </p:sp>
      <p:sp>
        <p:nvSpPr>
          <p:cNvPr id="18" name="Text 15"/>
          <p:cNvSpPr txBox="1"/>
          <p:nvPr/>
        </p:nvSpPr>
        <p:spPr>
          <a:xfrm>
            <a:off x="5541264" y="1828800"/>
            <a:ext cx="1389888" cy="914400"/>
          </a:xfrm>
          <a:prstGeom prst="rect">
            <a:avLst/>
          </a:prstGeom>
          <a:noFill/>
          <a:ln/>
        </p:spPr>
        <p:txBody>
          <a:bodyPr wrap="square" lIns="0" tIns="0" rIns="0" bIns="0" rtlCol="0" anchor="t"/>
          <a:lstStyle/>
          <a:p>
            <a:pPr algn="ctr" indent="0" marL="0">
              <a:buNone/>
            </a:pPr>
            <a:r>
              <a:rPr lang="en-US" sz="1200" i="1" dirty="0">
                <a:solidFill>
                  <a:srgbClr val="FFFFFF"/>
                </a:solidFill>
                <a:latin typeface="Calibri" pitchFamily="34" charset="0"/>
                <a:ea typeface="Calibri" pitchFamily="34" charset="-122"/>
                <a:cs typeface="Calibri" pitchFamily="34" charset="-120"/>
              </a:rPr>
              <a:t>$10K de ingresos ≠ $10K de beneficio</a:t>
            </a:r>
            <a:endParaRPr lang="en-US" sz="1200" dirty="0"/>
          </a:p>
        </p:txBody>
      </p:sp>
      <p:sp>
        <p:nvSpPr>
          <p:cNvPr id="19" name="Text 16"/>
          <p:cNvSpPr txBox="1"/>
          <p:nvPr/>
        </p:nvSpPr>
        <p:spPr>
          <a:xfrm>
            <a:off x="5541264" y="2788920"/>
            <a:ext cx="1389888" cy="1234440"/>
          </a:xfrm>
          <a:prstGeom prst="rect">
            <a:avLst/>
          </a:prstGeom>
          <a:noFill/>
          <a:ln/>
        </p:spPr>
        <p:txBody>
          <a:bodyPr wrap="square" lIns="0" tIns="0" rIns="0" bIns="0" rtlCol="0" anchor="t"/>
          <a:lstStyle/>
          <a:p>
            <a:pPr algn="ctr" indent="0" marL="0">
              <a:buNone/>
            </a:pPr>
            <a:r>
              <a:rPr lang="en-US" sz="1200" b="1" dirty="0">
                <a:solidFill>
                  <a:srgbClr val="FFFFFF"/>
                </a:solidFill>
                <a:latin typeface="Calibri" pitchFamily="34" charset="0"/>
                <a:ea typeface="Calibri" pitchFamily="34" charset="-122"/>
                <a:cs typeface="Calibri" pitchFamily="34" charset="-120"/>
              </a:rPr>
              <a:t>Gastos importantes reducen lo que te llevas</a:t>
            </a:r>
            <a:endParaRPr lang="en-US" sz="1200" dirty="0"/>
          </a:p>
        </p:txBody>
      </p:sp>
      <p:sp>
        <p:nvSpPr>
          <p:cNvPr id="20" name="Shape 17"/>
          <p:cNvSpPr/>
          <p:nvPr/>
        </p:nvSpPr>
        <p:spPr>
          <a:xfrm>
            <a:off x="7114032" y="1097280"/>
            <a:ext cx="1572768" cy="3017520"/>
          </a:xfrm>
          <a:prstGeom prst="roundRect">
            <a:avLst>
              <a:gd name="adj" fmla="val 6977"/>
            </a:avLst>
          </a:prstGeom>
          <a:solidFill>
            <a:srgbClr val="B9D3B1"/>
          </a:solidFill>
          <a:ln w="12700">
            <a:solidFill>
              <a:srgbClr val="B9D3B1"/>
            </a:solidFill>
            <a:prstDash val="solid"/>
          </a:ln>
        </p:spPr>
      </p:sp>
      <p:sp>
        <p:nvSpPr>
          <p:cNvPr id="21" name="Text 18"/>
          <p:cNvSpPr txBox="1"/>
          <p:nvPr/>
        </p:nvSpPr>
        <p:spPr>
          <a:xfrm>
            <a:off x="7205472" y="1234440"/>
            <a:ext cx="1389888" cy="548640"/>
          </a:xfrm>
          <a:prstGeom prst="rect">
            <a:avLst/>
          </a:prstGeom>
          <a:noFill/>
          <a:ln/>
        </p:spPr>
        <p:txBody>
          <a:bodyPr wrap="square" lIns="0" tIns="0" rIns="0" bIns="0" rtlCol="0" anchor="t"/>
          <a:lstStyle/>
          <a:p>
            <a:pPr algn="ctr" indent="0" marL="0">
              <a:buNone/>
            </a:pPr>
            <a:r>
              <a:rPr lang="en-US" sz="1200" b="1" dirty="0">
                <a:solidFill>
                  <a:srgbClr val="2E2224"/>
                </a:solidFill>
                <a:latin typeface="Arial" pitchFamily="34" charset="0"/>
                <a:ea typeface="Arial" pitchFamily="34" charset="-122"/>
                <a:cs typeface="Arial" pitchFamily="34" charset="-120"/>
              </a:rPr>
              <a:t>WELLNESS PARTNERSHIP</a:t>
            </a:r>
            <a:endParaRPr lang="en-US" sz="1200" dirty="0"/>
          </a:p>
        </p:txBody>
      </p:sp>
      <p:sp>
        <p:nvSpPr>
          <p:cNvPr id="22" name="Text 19"/>
          <p:cNvSpPr txBox="1"/>
          <p:nvPr/>
        </p:nvSpPr>
        <p:spPr>
          <a:xfrm>
            <a:off x="7205472" y="1828800"/>
            <a:ext cx="1389888" cy="914400"/>
          </a:xfrm>
          <a:prstGeom prst="rect">
            <a:avLst/>
          </a:prstGeom>
          <a:noFill/>
          <a:ln/>
        </p:spPr>
        <p:txBody>
          <a:bodyPr wrap="square" lIns="0" tIns="0" rIns="0" bIns="0" rtlCol="0" anchor="t"/>
          <a:lstStyle/>
          <a:p>
            <a:pPr algn="ctr" indent="0" marL="0">
              <a:buNone/>
            </a:pPr>
            <a:r>
              <a:rPr lang="en-US" sz="1200" i="1" dirty="0">
                <a:solidFill>
                  <a:srgbClr val="2E2224"/>
                </a:solidFill>
                <a:latin typeface="Calibri" pitchFamily="34" charset="0"/>
                <a:ea typeface="Calibri" pitchFamily="34" charset="-122"/>
                <a:cs typeface="Calibri" pitchFamily="34" charset="-120"/>
              </a:rPr>
              <a:t>$2.8K–7K por venta</a:t>
            </a:r>
            <a:endParaRPr lang="en-US" sz="1200" dirty="0"/>
          </a:p>
        </p:txBody>
      </p:sp>
      <p:sp>
        <p:nvSpPr>
          <p:cNvPr id="23" name="Text 20"/>
          <p:cNvSpPr txBox="1"/>
          <p:nvPr/>
        </p:nvSpPr>
        <p:spPr>
          <a:xfrm>
            <a:off x="7205472" y="2788920"/>
            <a:ext cx="1389888" cy="1234440"/>
          </a:xfrm>
          <a:prstGeom prst="rect">
            <a:avLst/>
          </a:prstGeom>
          <a:noFill/>
          <a:ln/>
        </p:spPr>
        <p:txBody>
          <a:bodyPr wrap="square" lIns="0" tIns="0" rIns="0" bIns="0" rtlCol="0" anchor="t"/>
          <a:lstStyle/>
          <a:p>
            <a:pPr algn="ctr" indent="0" marL="0">
              <a:buNone/>
            </a:pPr>
            <a:r>
              <a:rPr lang="en-US" sz="1200" b="1" dirty="0">
                <a:solidFill>
                  <a:srgbClr val="2E2224"/>
                </a:solidFill>
                <a:latin typeface="Calibri" pitchFamily="34" charset="0"/>
                <a:ea typeface="Calibri" pitchFamily="34" charset="-122"/>
                <a:cs typeface="Calibri" pitchFamily="34" charset="-120"/>
              </a:rPr>
              <a:t>2–4 socias alineadas</a:t>
            </a:r>
            <a:endParaRPr lang="en-US" sz="1200" dirty="0"/>
          </a:p>
        </p:txBody>
      </p:sp>
      <p:sp>
        <p:nvSpPr>
          <p:cNvPr id="24" name="Text 21"/>
          <p:cNvSpPr txBox="1"/>
          <p:nvPr/>
        </p:nvSpPr>
        <p:spPr>
          <a:xfrm>
            <a:off x="457200" y="4251960"/>
            <a:ext cx="8229600" cy="365760"/>
          </a:xfrm>
          <a:prstGeom prst="rect">
            <a:avLst/>
          </a:prstGeom>
          <a:noFill/>
          <a:ln/>
        </p:spPr>
        <p:txBody>
          <a:bodyPr wrap="square" lIns="0" tIns="0" rIns="0" bIns="0" rtlCol="0" anchor="t"/>
          <a:lstStyle/>
          <a:p>
            <a:pPr algn="ctr" indent="0" marL="0">
              <a:buNone/>
            </a:pPr>
            <a:r>
              <a:rPr lang="en-US" sz="1400" i="1" dirty="0">
                <a:solidFill>
                  <a:srgbClr val="F2C14E"/>
                </a:solidFill>
                <a:latin typeface="Calibri" pitchFamily="34" charset="0"/>
                <a:ea typeface="Calibri" pitchFamily="34" charset="-122"/>
                <a:cs typeface="Calibri" pitchFamily="34" charset="-120"/>
              </a:rPr>
              <a:t>Los cuatro primeros caminos no siempre son consistentes.</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¿Qué es realmente la libertad financiera?</a:t>
            </a:r>
            <a:endParaRPr lang="en-US" sz="2600" dirty="0"/>
          </a:p>
        </p:txBody>
      </p:sp>
      <p:sp>
        <p:nvSpPr>
          <p:cNvPr id="4" name="Shape 1"/>
          <p:cNvSpPr/>
          <p:nvPr/>
        </p:nvSpPr>
        <p:spPr>
          <a:xfrm>
            <a:off x="457200" y="1188720"/>
            <a:ext cx="2651760" cy="3383280"/>
          </a:xfrm>
          <a:prstGeom prst="roundRect">
            <a:avLst>
              <a:gd name="adj" fmla="val 5172"/>
            </a:avLst>
          </a:prstGeom>
          <a:solidFill>
            <a:srgbClr val="FBEAEA"/>
          </a:solidFill>
          <a:ln w="12700">
            <a:solidFill>
              <a:srgbClr val="FBEAEA"/>
            </a:solidFill>
            <a:prstDash val="solid"/>
          </a:ln>
        </p:spPr>
      </p:sp>
      <p:sp>
        <p:nvSpPr>
          <p:cNvPr id="5" name="Text 2"/>
          <p:cNvSpPr txBox="1"/>
          <p:nvPr/>
        </p:nvSpPr>
        <p:spPr>
          <a:xfrm>
            <a:off x="640080" y="1325880"/>
            <a:ext cx="2286000" cy="822960"/>
          </a:xfrm>
          <a:prstGeom prst="rect">
            <a:avLst/>
          </a:prstGeom>
          <a:noFill/>
          <a:ln/>
        </p:spPr>
        <p:txBody>
          <a:bodyPr wrap="square" lIns="0" tIns="0" rIns="0" bIns="0" rtlCol="0" anchor="t"/>
          <a:lstStyle/>
          <a:p>
            <a:pPr indent="0" marL="0">
              <a:buNone/>
            </a:pPr>
            <a:r>
              <a:rPr lang="en-US" sz="4000" b="1" dirty="0">
                <a:solidFill>
                  <a:srgbClr val="EE7A7A"/>
                </a:solidFill>
                <a:latin typeface="Arial" pitchFamily="34" charset="0"/>
                <a:ea typeface="Arial" pitchFamily="34" charset="-122"/>
                <a:cs typeface="Arial" pitchFamily="34" charset="-120"/>
              </a:rPr>
              <a:t>1×</a:t>
            </a:r>
            <a:endParaRPr lang="en-US" sz="4000" dirty="0"/>
          </a:p>
        </p:txBody>
      </p:sp>
      <p:sp>
        <p:nvSpPr>
          <p:cNvPr id="6" name="Text 3"/>
          <p:cNvSpPr txBox="1"/>
          <p:nvPr/>
        </p:nvSpPr>
        <p:spPr>
          <a:xfrm>
            <a:off x="640080" y="2194560"/>
            <a:ext cx="2286000" cy="457200"/>
          </a:xfrm>
          <a:prstGeom prst="rect">
            <a:avLst/>
          </a:prstGeom>
          <a:noFill/>
          <a:ln/>
        </p:spPr>
        <p:txBody>
          <a:bodyPr wrap="square" lIns="0" tIns="0" rIns="0" bIns="0" rtlCol="0" anchor="t"/>
          <a:lstStyle/>
          <a:p>
            <a:pPr indent="0" marL="0">
              <a:buNone/>
            </a:pPr>
            <a:r>
              <a:rPr lang="en-US" sz="1500" b="1" dirty="0">
                <a:solidFill>
                  <a:srgbClr val="2E2224"/>
                </a:solidFill>
                <a:latin typeface="Arial" pitchFamily="34" charset="0"/>
                <a:ea typeface="Arial" pitchFamily="34" charset="-122"/>
                <a:cs typeface="Arial" pitchFamily="34" charset="-120"/>
              </a:rPr>
              <a:t>Estabilidad financiera</a:t>
            </a:r>
            <a:endParaRPr lang="en-US" sz="1500" dirty="0"/>
          </a:p>
        </p:txBody>
      </p:sp>
      <p:sp>
        <p:nvSpPr>
          <p:cNvPr id="7" name="Text 4"/>
          <p:cNvSpPr txBox="1"/>
          <p:nvPr/>
        </p:nvSpPr>
        <p:spPr>
          <a:xfrm>
            <a:off x="640080" y="2697480"/>
            <a:ext cx="2286000" cy="178308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Tener suficiente para cubrir lo básico y quizá cenar fuera alguna vez por semana (entre $2K y $5K al mes).</a:t>
            </a:r>
            <a:endParaRPr lang="en-US" sz="1300" dirty="0"/>
          </a:p>
        </p:txBody>
      </p:sp>
      <p:sp>
        <p:nvSpPr>
          <p:cNvPr id="8" name="Shape 5"/>
          <p:cNvSpPr/>
          <p:nvPr/>
        </p:nvSpPr>
        <p:spPr>
          <a:xfrm>
            <a:off x="3246120" y="1188720"/>
            <a:ext cx="2651760" cy="3383280"/>
          </a:xfrm>
          <a:prstGeom prst="roundRect">
            <a:avLst>
              <a:gd name="adj" fmla="val 5172"/>
            </a:avLst>
          </a:prstGeom>
          <a:solidFill>
            <a:srgbClr val="E8ECF3"/>
          </a:solidFill>
          <a:ln w="12700">
            <a:solidFill>
              <a:srgbClr val="E8ECF3"/>
            </a:solidFill>
            <a:prstDash val="solid"/>
          </a:ln>
        </p:spPr>
      </p:sp>
      <p:sp>
        <p:nvSpPr>
          <p:cNvPr id="9" name="Text 6"/>
          <p:cNvSpPr txBox="1"/>
          <p:nvPr/>
        </p:nvSpPr>
        <p:spPr>
          <a:xfrm>
            <a:off x="3429000" y="1325880"/>
            <a:ext cx="2286000" cy="822960"/>
          </a:xfrm>
          <a:prstGeom prst="rect">
            <a:avLst/>
          </a:prstGeom>
          <a:noFill/>
          <a:ln/>
        </p:spPr>
        <p:txBody>
          <a:bodyPr wrap="square" lIns="0" tIns="0" rIns="0" bIns="0" rtlCol="0" anchor="t"/>
          <a:lstStyle/>
          <a:p>
            <a:pPr indent="0" marL="0">
              <a:buNone/>
            </a:pPr>
            <a:r>
              <a:rPr lang="en-US" sz="4000" b="1" dirty="0">
                <a:solidFill>
                  <a:srgbClr val="8B9AB7"/>
                </a:solidFill>
                <a:latin typeface="Arial" pitchFamily="34" charset="0"/>
                <a:ea typeface="Arial" pitchFamily="34" charset="-122"/>
                <a:cs typeface="Arial" pitchFamily="34" charset="-120"/>
              </a:rPr>
              <a:t>2×</a:t>
            </a:r>
            <a:endParaRPr lang="en-US" sz="4000" dirty="0"/>
          </a:p>
        </p:txBody>
      </p:sp>
      <p:sp>
        <p:nvSpPr>
          <p:cNvPr id="10" name="Text 7"/>
          <p:cNvSpPr txBox="1"/>
          <p:nvPr/>
        </p:nvSpPr>
        <p:spPr>
          <a:xfrm>
            <a:off x="3429000" y="2194560"/>
            <a:ext cx="2286000" cy="457200"/>
          </a:xfrm>
          <a:prstGeom prst="rect">
            <a:avLst/>
          </a:prstGeom>
          <a:noFill/>
          <a:ln/>
        </p:spPr>
        <p:txBody>
          <a:bodyPr wrap="square" lIns="0" tIns="0" rIns="0" bIns="0" rtlCol="0" anchor="t"/>
          <a:lstStyle/>
          <a:p>
            <a:pPr indent="0" marL="0">
              <a:buNone/>
            </a:pPr>
            <a:r>
              <a:rPr lang="en-US" sz="1500" b="1" dirty="0">
                <a:solidFill>
                  <a:srgbClr val="2E2224"/>
                </a:solidFill>
                <a:latin typeface="Arial" pitchFamily="34" charset="0"/>
                <a:ea typeface="Arial" pitchFamily="34" charset="-122"/>
                <a:cs typeface="Arial" pitchFamily="34" charset="-120"/>
              </a:rPr>
              <a:t>Independencia financiera</a:t>
            </a:r>
            <a:endParaRPr lang="en-US" sz="1500" dirty="0"/>
          </a:p>
        </p:txBody>
      </p:sp>
      <p:sp>
        <p:nvSpPr>
          <p:cNvPr id="11" name="Text 8"/>
          <p:cNvSpPr txBox="1"/>
          <p:nvPr/>
        </p:nvSpPr>
        <p:spPr>
          <a:xfrm>
            <a:off x="3429000" y="2697480"/>
            <a:ext cx="2286000" cy="178308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Ganar el doble de tu estabilidad: cubres tus necesidades y tu estilo de vida y te sobra dinero para empezar a invertir.</a:t>
            </a:r>
            <a:endParaRPr lang="en-US" sz="1300" dirty="0"/>
          </a:p>
        </p:txBody>
      </p:sp>
      <p:sp>
        <p:nvSpPr>
          <p:cNvPr id="12" name="Shape 9"/>
          <p:cNvSpPr/>
          <p:nvPr/>
        </p:nvSpPr>
        <p:spPr>
          <a:xfrm>
            <a:off x="6035040" y="1188720"/>
            <a:ext cx="2651760" cy="3383280"/>
          </a:xfrm>
          <a:prstGeom prst="roundRect">
            <a:avLst>
              <a:gd name="adj" fmla="val 5172"/>
            </a:avLst>
          </a:prstGeom>
          <a:solidFill>
            <a:srgbClr val="EDF5EA"/>
          </a:solidFill>
          <a:ln w="12700">
            <a:solidFill>
              <a:srgbClr val="EDF5EA"/>
            </a:solidFill>
            <a:prstDash val="solid"/>
          </a:ln>
        </p:spPr>
      </p:sp>
      <p:sp>
        <p:nvSpPr>
          <p:cNvPr id="13" name="Text 10"/>
          <p:cNvSpPr txBox="1"/>
          <p:nvPr/>
        </p:nvSpPr>
        <p:spPr>
          <a:xfrm>
            <a:off x="6217920" y="1325880"/>
            <a:ext cx="2286000" cy="822960"/>
          </a:xfrm>
          <a:prstGeom prst="rect">
            <a:avLst/>
          </a:prstGeom>
          <a:noFill/>
          <a:ln/>
        </p:spPr>
        <p:txBody>
          <a:bodyPr wrap="square" lIns="0" tIns="0" rIns="0" bIns="0" rtlCol="0" anchor="t"/>
          <a:lstStyle/>
          <a:p>
            <a:pPr indent="0" marL="0">
              <a:buNone/>
            </a:pPr>
            <a:r>
              <a:rPr lang="en-US" sz="4000" b="1" dirty="0">
                <a:solidFill>
                  <a:srgbClr val="6E9C64"/>
                </a:solidFill>
                <a:latin typeface="Arial" pitchFamily="34" charset="0"/>
                <a:ea typeface="Arial" pitchFamily="34" charset="-122"/>
                <a:cs typeface="Arial" pitchFamily="34" charset="-120"/>
              </a:rPr>
              <a:t>10×</a:t>
            </a:r>
            <a:endParaRPr lang="en-US" sz="4000" dirty="0"/>
          </a:p>
        </p:txBody>
      </p:sp>
      <p:sp>
        <p:nvSpPr>
          <p:cNvPr id="14" name="Text 11"/>
          <p:cNvSpPr txBox="1"/>
          <p:nvPr/>
        </p:nvSpPr>
        <p:spPr>
          <a:xfrm>
            <a:off x="6217920" y="2194560"/>
            <a:ext cx="2286000" cy="457200"/>
          </a:xfrm>
          <a:prstGeom prst="rect">
            <a:avLst/>
          </a:prstGeom>
          <a:noFill/>
          <a:ln/>
        </p:spPr>
        <p:txBody>
          <a:bodyPr wrap="square" lIns="0" tIns="0" rIns="0" bIns="0" rtlCol="0" anchor="t"/>
          <a:lstStyle/>
          <a:p>
            <a:pPr indent="0" marL="0">
              <a:buNone/>
            </a:pPr>
            <a:r>
              <a:rPr lang="en-US" sz="1500" b="1" dirty="0">
                <a:solidFill>
                  <a:srgbClr val="2E2224"/>
                </a:solidFill>
                <a:latin typeface="Arial" pitchFamily="34" charset="0"/>
                <a:ea typeface="Arial" pitchFamily="34" charset="-122"/>
                <a:cs typeface="Arial" pitchFamily="34" charset="-120"/>
              </a:rPr>
              <a:t>Libertad financiera</a:t>
            </a:r>
            <a:endParaRPr lang="en-US" sz="1500" dirty="0"/>
          </a:p>
        </p:txBody>
      </p:sp>
      <p:sp>
        <p:nvSpPr>
          <p:cNvPr id="15" name="Text 12"/>
          <p:cNvSpPr txBox="1"/>
          <p:nvPr/>
        </p:nvSpPr>
        <p:spPr>
          <a:xfrm>
            <a:off x="6217920" y="2697480"/>
            <a:ext cx="2286000" cy="178308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Ganar 10 veces tu estabilidad: más dinero del que puedes gastar. Inviertes y además puedes cuidar de otras personas en tu vida.</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0"/>
          <p:cNvSpPr txBox="1"/>
          <p:nvPr/>
        </p:nvSpPr>
        <p:spPr>
          <a:xfrm>
            <a:off x="640080" y="1188720"/>
            <a:ext cx="7863840" cy="2011680"/>
          </a:xfrm>
          <a:prstGeom prst="rect">
            <a:avLst/>
          </a:prstGeom>
          <a:noFill/>
          <a:ln/>
        </p:spPr>
        <p:txBody>
          <a:bodyPr wrap="square" lIns="0" tIns="0" rIns="0" bIns="0" rtlCol="0" anchor="ctr"/>
          <a:lstStyle/>
          <a:p>
            <a:pPr algn="ctr" indent="0" marL="0">
              <a:buNone/>
            </a:pPr>
            <a:r>
              <a:rPr lang="en-US" sz="4000" b="1" dirty="0">
                <a:solidFill>
                  <a:srgbClr val="EE7A7A"/>
                </a:solidFill>
                <a:latin typeface="Arial" pitchFamily="34" charset="0"/>
                <a:ea typeface="Arial" pitchFamily="34" charset="-122"/>
                <a:cs typeface="Arial" pitchFamily="34" charset="-120"/>
              </a:rPr>
              <a:t>Si dejaras de trabajar hoy, ¿tu negocio seguiría generando ingresos?</a:t>
            </a:r>
            <a:endParaRPr lang="en-US" sz="4000" dirty="0"/>
          </a:p>
        </p:txBody>
      </p:sp>
      <p:sp>
        <p:nvSpPr>
          <p:cNvPr id="4" name="Text 1"/>
          <p:cNvSpPr txBox="1"/>
          <p:nvPr/>
        </p:nvSpPr>
        <p:spPr>
          <a:xfrm>
            <a:off x="1097280" y="3291840"/>
            <a:ext cx="6949440" cy="914400"/>
          </a:xfrm>
          <a:prstGeom prst="rect">
            <a:avLst/>
          </a:prstGeom>
          <a:noFill/>
          <a:ln/>
        </p:spPr>
        <p:txBody>
          <a:bodyPr wrap="square" lIns="0" tIns="0" rIns="0" bIns="0" rtlCol="0" anchor="t"/>
          <a:lstStyle/>
          <a:p>
            <a:pPr algn="ctr" indent="0" marL="0">
              <a:buNone/>
            </a:pPr>
            <a:r>
              <a:rPr lang="en-US" sz="1800" dirty="0">
                <a:solidFill>
                  <a:srgbClr val="FFFFFF"/>
                </a:solidFill>
                <a:latin typeface="Calibri" pitchFamily="34" charset="0"/>
                <a:ea typeface="Calibri" pitchFamily="34" charset="-122"/>
                <a:cs typeface="Calibri" pitchFamily="34" charset="-120"/>
              </a:rPr>
              <a:t>Y si murieras hoy, ¿tendrías un ingreso que puedas dejar en herencia a tus hijos?</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Por qué trabajamos con Enagic</a:t>
            </a:r>
            <a:endParaRPr lang="en-US" sz="2600" dirty="0"/>
          </a:p>
        </p:txBody>
      </p:sp>
      <p:sp>
        <p:nvSpPr>
          <p:cNvPr id="4" name="Shape 1"/>
          <p:cNvSpPr/>
          <p:nvPr/>
        </p:nvSpPr>
        <p:spPr>
          <a:xfrm>
            <a:off x="457200" y="1161288"/>
            <a:ext cx="365760" cy="365760"/>
          </a:xfrm>
          <a:prstGeom prst="ellipse">
            <a:avLst/>
          </a:prstGeom>
          <a:solidFill>
            <a:srgbClr val="EE7A7A"/>
          </a:solidFill>
          <a:ln w="12700">
            <a:solidFill>
              <a:srgbClr val="EE7A7A"/>
            </a:solidFill>
            <a:prstDash val="solid"/>
          </a:ln>
        </p:spPr>
      </p:sp>
      <p:sp>
        <p:nvSpPr>
          <p:cNvPr id="5" name="Text 2"/>
          <p:cNvSpPr txBox="1"/>
          <p:nvPr/>
        </p:nvSpPr>
        <p:spPr>
          <a:xfrm>
            <a:off x="457200" y="1161288"/>
            <a:ext cx="365760" cy="365760"/>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a:t>
            </a:r>
            <a:endParaRPr lang="en-US" sz="880" dirty="0"/>
          </a:p>
        </p:txBody>
      </p:sp>
      <p:sp>
        <p:nvSpPr>
          <p:cNvPr id="6" name="Text 3"/>
          <p:cNvSpPr txBox="1"/>
          <p:nvPr/>
        </p:nvSpPr>
        <p:spPr>
          <a:xfrm>
            <a:off x="1005840" y="1097280"/>
            <a:ext cx="7680960" cy="50292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Empresa japonesa internacional de tecnología del agua con 52 años, </a:t>
            </a:r>
            <a:pPr indent="0" marL="0">
              <a:buNone/>
            </a:pPr>
            <a:r>
              <a:rPr lang="en-US" sz="1500" b="1" dirty="0">
                <a:solidFill>
                  <a:srgbClr val="2E2224"/>
                </a:solidFill>
                <a:latin typeface="Calibri" pitchFamily="34" charset="0"/>
                <a:ea typeface="Calibri" pitchFamily="34" charset="-122"/>
                <a:cs typeface="Calibri" pitchFamily="34" charset="-120"/>
              </a:rPr>
              <a:t>$1.000M+ en ventas</a:t>
            </a:r>
            <a:pPr indent="0" marL="0">
              <a:buNone/>
            </a:pPr>
            <a:r>
              <a:rPr lang="en-US" sz="1500" dirty="0">
                <a:solidFill>
                  <a:srgbClr val="2E2224"/>
                </a:solidFill>
                <a:latin typeface="Calibri" pitchFamily="34" charset="0"/>
                <a:ea typeface="Calibri" pitchFamily="34" charset="-122"/>
                <a:cs typeface="Calibri" pitchFamily="34" charset="-120"/>
              </a:rPr>
              <a:t> y un potencial de crecimiento enorme frente a la competencia</a:t>
            </a:r>
            <a:endParaRPr lang="en-US" sz="1500" dirty="0"/>
          </a:p>
        </p:txBody>
      </p:sp>
      <p:sp>
        <p:nvSpPr>
          <p:cNvPr id="7" name="Shape 4"/>
          <p:cNvSpPr/>
          <p:nvPr/>
        </p:nvSpPr>
        <p:spPr>
          <a:xfrm>
            <a:off x="457200" y="1764792"/>
            <a:ext cx="365760" cy="365760"/>
          </a:xfrm>
          <a:prstGeom prst="ellipse">
            <a:avLst/>
          </a:prstGeom>
          <a:solidFill>
            <a:srgbClr val="8B9AB7"/>
          </a:solidFill>
          <a:ln w="12700">
            <a:solidFill>
              <a:srgbClr val="8B9AB7"/>
            </a:solidFill>
            <a:prstDash val="solid"/>
          </a:ln>
        </p:spPr>
      </p:sp>
      <p:sp>
        <p:nvSpPr>
          <p:cNvPr id="8" name="Text 5"/>
          <p:cNvSpPr txBox="1"/>
          <p:nvPr/>
        </p:nvSpPr>
        <p:spPr>
          <a:xfrm>
            <a:off x="457200" y="1764792"/>
            <a:ext cx="365760" cy="365760"/>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a:t>
            </a:r>
            <a:endParaRPr lang="en-US" sz="880" dirty="0"/>
          </a:p>
        </p:txBody>
      </p:sp>
      <p:sp>
        <p:nvSpPr>
          <p:cNvPr id="9" name="Text 6"/>
          <p:cNvSpPr txBox="1"/>
          <p:nvPr/>
        </p:nvSpPr>
        <p:spPr>
          <a:xfrm>
            <a:off x="1005840" y="1700784"/>
            <a:ext cx="7680960" cy="50292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El agua es un </a:t>
            </a:r>
            <a:pPr indent="0" marL="0">
              <a:buNone/>
            </a:pPr>
            <a:r>
              <a:rPr lang="en-US" sz="1500" b="1" dirty="0">
                <a:solidFill>
                  <a:srgbClr val="2E2224"/>
                </a:solidFill>
                <a:latin typeface="Calibri" pitchFamily="34" charset="0"/>
                <a:ea typeface="Calibri" pitchFamily="34" charset="-122"/>
                <a:cs typeface="Calibri" pitchFamily="34" charset="-120"/>
              </a:rPr>
              <a:t>producto que la gente quiere y necesita a diario</a:t>
            </a:r>
            <a:endParaRPr lang="en-US" sz="1500" dirty="0"/>
          </a:p>
        </p:txBody>
      </p:sp>
      <p:sp>
        <p:nvSpPr>
          <p:cNvPr id="10" name="Shape 7"/>
          <p:cNvSpPr/>
          <p:nvPr/>
        </p:nvSpPr>
        <p:spPr>
          <a:xfrm>
            <a:off x="457200" y="2368296"/>
            <a:ext cx="365760" cy="365760"/>
          </a:xfrm>
          <a:prstGeom prst="ellipse">
            <a:avLst/>
          </a:prstGeom>
          <a:solidFill>
            <a:srgbClr val="B9D3B1"/>
          </a:solidFill>
          <a:ln w="12700">
            <a:solidFill>
              <a:srgbClr val="B9D3B1"/>
            </a:solidFill>
            <a:prstDash val="solid"/>
          </a:ln>
        </p:spPr>
      </p:sp>
      <p:sp>
        <p:nvSpPr>
          <p:cNvPr id="11" name="Text 8"/>
          <p:cNvSpPr txBox="1"/>
          <p:nvPr/>
        </p:nvSpPr>
        <p:spPr>
          <a:xfrm>
            <a:off x="457200" y="2368296"/>
            <a:ext cx="365760" cy="365760"/>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a:t>
            </a:r>
            <a:endParaRPr lang="en-US" sz="880" dirty="0"/>
          </a:p>
        </p:txBody>
      </p:sp>
      <p:sp>
        <p:nvSpPr>
          <p:cNvPr id="12" name="Text 9"/>
          <p:cNvSpPr txBox="1"/>
          <p:nvPr/>
        </p:nvSpPr>
        <p:spPr>
          <a:xfrm>
            <a:off x="1005840" y="2304288"/>
            <a:ext cx="7680960" cy="50292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Producto de salud </a:t>
            </a:r>
            <a:pPr indent="0" marL="0">
              <a:buNone/>
            </a:pPr>
            <a:r>
              <a:rPr lang="en-US" sz="1500" b="1" dirty="0">
                <a:solidFill>
                  <a:srgbClr val="2E2224"/>
                </a:solidFill>
                <a:latin typeface="Calibri" pitchFamily="34" charset="0"/>
                <a:ea typeface="Calibri" pitchFamily="34" charset="-122"/>
                <a:cs typeface="Calibri" pitchFamily="34" charset="-120"/>
              </a:rPr>
              <a:t>sostenible, sin residuos y no consumible</a:t>
            </a:r>
            <a:pPr indent="0" marL="0">
              <a:buNone/>
            </a:pPr>
            <a:r>
              <a:rPr lang="en-US" sz="1500" dirty="0">
                <a:solidFill>
                  <a:srgbClr val="2E2224"/>
                </a:solidFill>
                <a:latin typeface="Calibri" pitchFamily="34" charset="0"/>
                <a:ea typeface="Calibri" pitchFamily="34" charset="-122"/>
                <a:cs typeface="Calibri" pitchFamily="34" charset="-120"/>
              </a:rPr>
              <a:t> que dura más de 20 años</a:t>
            </a:r>
            <a:endParaRPr lang="en-US" sz="1500" dirty="0"/>
          </a:p>
        </p:txBody>
      </p:sp>
      <p:sp>
        <p:nvSpPr>
          <p:cNvPr id="13" name="Shape 10"/>
          <p:cNvSpPr/>
          <p:nvPr/>
        </p:nvSpPr>
        <p:spPr>
          <a:xfrm>
            <a:off x="457200" y="2971800"/>
            <a:ext cx="365760" cy="365760"/>
          </a:xfrm>
          <a:prstGeom prst="ellipse">
            <a:avLst/>
          </a:prstGeom>
          <a:solidFill>
            <a:srgbClr val="F2C14E"/>
          </a:solidFill>
          <a:ln w="12700">
            <a:solidFill>
              <a:srgbClr val="F2C14E"/>
            </a:solidFill>
            <a:prstDash val="solid"/>
          </a:ln>
        </p:spPr>
      </p:sp>
      <p:sp>
        <p:nvSpPr>
          <p:cNvPr id="14" name="Text 11"/>
          <p:cNvSpPr txBox="1"/>
          <p:nvPr/>
        </p:nvSpPr>
        <p:spPr>
          <a:xfrm>
            <a:off x="457200" y="2971800"/>
            <a:ext cx="365760" cy="365760"/>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a:t>
            </a:r>
            <a:endParaRPr lang="en-US" sz="880" dirty="0"/>
          </a:p>
        </p:txBody>
      </p:sp>
      <p:sp>
        <p:nvSpPr>
          <p:cNvPr id="15" name="Text 12"/>
          <p:cNvSpPr txBox="1"/>
          <p:nvPr/>
        </p:nvSpPr>
        <p:spPr>
          <a:xfrm>
            <a:off x="1005840" y="2907792"/>
            <a:ext cx="7680960" cy="502920"/>
          </a:xfrm>
          <a:prstGeom prst="rect">
            <a:avLst/>
          </a:prstGeom>
          <a:noFill/>
          <a:ln/>
        </p:spPr>
        <p:txBody>
          <a:bodyPr wrap="square" lIns="0" tIns="0" rIns="0" bIns="0" rtlCol="0" anchor="ctr"/>
          <a:lstStyle/>
          <a:p>
            <a:pPr indent="0" marL="0">
              <a:buNone/>
            </a:pPr>
            <a:r>
              <a:rPr lang="en-US" sz="1500" dirty="0">
                <a:solidFill>
                  <a:srgbClr val="2E2224"/>
                </a:solidFill>
                <a:latin typeface="Calibri" pitchFamily="34" charset="0"/>
                <a:ea typeface="Calibri" pitchFamily="34" charset="-122"/>
                <a:cs typeface="Calibri" pitchFamily="34" charset="-120"/>
              </a:rPr>
              <a:t>Ingreso de jubilación y </a:t>
            </a:r>
            <a:pPr indent="0" marL="0">
              <a:buNone/>
            </a:pPr>
            <a:r>
              <a:rPr lang="en-US" sz="1500" b="1" dirty="0">
                <a:solidFill>
                  <a:srgbClr val="2E2224"/>
                </a:solidFill>
                <a:latin typeface="Calibri" pitchFamily="34" charset="0"/>
                <a:ea typeface="Calibri" pitchFamily="34" charset="-122"/>
                <a:cs typeface="Calibri" pitchFamily="34" charset="-120"/>
              </a:rPr>
              <a:t>riqueza generacional</a:t>
            </a:r>
            <a:endParaRPr lang="en-US" sz="1500" dirty="0"/>
          </a:p>
        </p:txBody>
      </p:sp>
      <p:sp>
        <p:nvSpPr>
          <p:cNvPr id="16" name="Shape 13"/>
          <p:cNvSpPr/>
          <p:nvPr/>
        </p:nvSpPr>
        <p:spPr>
          <a:xfrm>
            <a:off x="457200" y="3575304"/>
            <a:ext cx="365760" cy="365760"/>
          </a:xfrm>
          <a:prstGeom prst="ellipse">
            <a:avLst/>
          </a:prstGeom>
          <a:solidFill>
            <a:srgbClr val="F4A78A"/>
          </a:solidFill>
          <a:ln w="12700">
            <a:solidFill>
              <a:srgbClr val="F4A78A"/>
            </a:solidFill>
            <a:prstDash val="solid"/>
          </a:ln>
        </p:spPr>
      </p:sp>
      <p:sp>
        <p:nvSpPr>
          <p:cNvPr id="17" name="Text 14"/>
          <p:cNvSpPr txBox="1"/>
          <p:nvPr/>
        </p:nvSpPr>
        <p:spPr>
          <a:xfrm>
            <a:off x="457200" y="3575304"/>
            <a:ext cx="365760" cy="365760"/>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a:t>
            </a:r>
            <a:endParaRPr lang="en-US" sz="880" dirty="0"/>
          </a:p>
        </p:txBody>
      </p:sp>
      <p:sp>
        <p:nvSpPr>
          <p:cNvPr id="18" name="Text 15"/>
          <p:cNvSpPr txBox="1"/>
          <p:nvPr/>
        </p:nvSpPr>
        <p:spPr>
          <a:xfrm>
            <a:off x="1005840" y="3511296"/>
            <a:ext cx="7680960" cy="502920"/>
          </a:xfrm>
          <a:prstGeom prst="rect">
            <a:avLst/>
          </a:prstGeom>
          <a:noFill/>
          <a:ln/>
        </p:spPr>
        <p:txBody>
          <a:bodyPr wrap="square" lIns="0" tIns="0" rIns="0" bIns="0" rtlCol="0" anchor="ctr"/>
          <a:lstStyle/>
          <a:p>
            <a:pPr indent="0" marL="0">
              <a:buNone/>
            </a:pPr>
            <a:r>
              <a:rPr lang="en-US" sz="1500" b="1" dirty="0">
                <a:solidFill>
                  <a:srgbClr val="2E2224"/>
                </a:solidFill>
                <a:latin typeface="Calibri" pitchFamily="34" charset="0"/>
                <a:ea typeface="Calibri" pitchFamily="34" charset="-122"/>
                <a:cs typeface="Calibri" pitchFamily="34" charset="-120"/>
              </a:rPr>
              <a:t>Sin inventario, sin cuotas, sin MLM</a:t>
            </a:r>
            <a:pPr indent="0" marL="0">
              <a:buNone/>
            </a:pPr>
            <a:r>
              <a:rPr lang="en-US" sz="1500" dirty="0">
                <a:solidFill>
                  <a:srgbClr val="2E2224"/>
                </a:solidFill>
                <a:latin typeface="Calibri" pitchFamily="34" charset="0"/>
                <a:ea typeface="Calibri" pitchFamily="34" charset="-122"/>
                <a:cs typeface="Calibri" pitchFamily="34" charset="-120"/>
              </a:rPr>
              <a:t> (según la presentación)</a:t>
            </a:r>
            <a:endParaRPr lang="en-US" sz="1500" dirty="0"/>
          </a:p>
        </p:txBody>
      </p:sp>
      <p:sp>
        <p:nvSpPr>
          <p:cNvPr id="19" name="Shape 16"/>
          <p:cNvSpPr/>
          <p:nvPr/>
        </p:nvSpPr>
        <p:spPr>
          <a:xfrm>
            <a:off x="457200" y="4178808"/>
            <a:ext cx="365760" cy="365760"/>
          </a:xfrm>
          <a:prstGeom prst="ellipse">
            <a:avLst/>
          </a:prstGeom>
          <a:solidFill>
            <a:srgbClr val="EE7A7A"/>
          </a:solidFill>
          <a:ln w="12700">
            <a:solidFill>
              <a:srgbClr val="EE7A7A"/>
            </a:solidFill>
            <a:prstDash val="solid"/>
          </a:ln>
        </p:spPr>
      </p:sp>
      <p:sp>
        <p:nvSpPr>
          <p:cNvPr id="20" name="Text 17"/>
          <p:cNvSpPr txBox="1"/>
          <p:nvPr/>
        </p:nvSpPr>
        <p:spPr>
          <a:xfrm>
            <a:off x="457200" y="4178808"/>
            <a:ext cx="365760" cy="365760"/>
          </a:xfrm>
          <a:prstGeom prst="rect">
            <a:avLst/>
          </a:prstGeom>
          <a:noFill/>
          <a:ln/>
        </p:spPr>
        <p:txBody>
          <a:bodyPr wrap="square" lIns="0" tIns="0" rIns="0" bIns="0" rtlCol="0" anchor="ctr"/>
          <a:lstStyle/>
          <a:p>
            <a:pPr algn="ctr" indent="0" marL="0">
              <a:buNone/>
            </a:pPr>
            <a:r>
              <a:rPr lang="en-US" sz="880" b="1" dirty="0">
                <a:solidFill>
                  <a:srgbClr val="FFFFFF"/>
                </a:solidFill>
                <a:latin typeface="Arial" pitchFamily="34" charset="0"/>
                <a:ea typeface="Arial" pitchFamily="34" charset="-122"/>
                <a:cs typeface="Arial" pitchFamily="34" charset="-120"/>
              </a:rPr>
              <a:t>✓</a:t>
            </a:r>
            <a:endParaRPr lang="en-US" sz="880" dirty="0"/>
          </a:p>
        </p:txBody>
      </p:sp>
      <p:sp>
        <p:nvSpPr>
          <p:cNvPr id="21" name="Text 18"/>
          <p:cNvSpPr txBox="1"/>
          <p:nvPr/>
        </p:nvSpPr>
        <p:spPr>
          <a:xfrm>
            <a:off x="1005840" y="4114800"/>
            <a:ext cx="7680960" cy="502920"/>
          </a:xfrm>
          <a:prstGeom prst="rect">
            <a:avLst/>
          </a:prstGeom>
          <a:noFill/>
          <a:ln/>
        </p:spPr>
        <p:txBody>
          <a:bodyPr wrap="square" lIns="0" tIns="0" rIns="0" bIns="0" rtlCol="0" anchor="ctr"/>
          <a:lstStyle/>
          <a:p>
            <a:pPr indent="0" marL="0">
              <a:buNone/>
            </a:pPr>
            <a:r>
              <a:rPr lang="en-US" sz="1500" b="1" dirty="0">
                <a:solidFill>
                  <a:srgbClr val="2E2224"/>
                </a:solidFill>
                <a:latin typeface="Calibri" pitchFamily="34" charset="0"/>
                <a:ea typeface="Calibri" pitchFamily="34" charset="-122"/>
                <a:cs typeface="Calibri" pitchFamily="34" charset="-120"/>
              </a:rPr>
              <a:t>51% de comisión</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Recompensas por rango (Enagic)</a:t>
            </a:r>
            <a:endParaRPr lang="en-US" sz="2600" dirty="0"/>
          </a:p>
        </p:txBody>
      </p:sp>
      <p:sp>
        <p:nvSpPr>
          <p:cNvPr id="4" name="Shape 1"/>
          <p:cNvSpPr/>
          <p:nvPr/>
        </p:nvSpPr>
        <p:spPr>
          <a:xfrm>
            <a:off x="457200" y="3886200"/>
            <a:ext cx="1097280" cy="320040"/>
          </a:xfrm>
          <a:prstGeom prst="rect">
            <a:avLst/>
          </a:prstGeom>
          <a:solidFill>
            <a:srgbClr val="8B9AB7"/>
          </a:solidFill>
          <a:ln w="12700">
            <a:solidFill>
              <a:srgbClr val="8B9AB7"/>
            </a:solidFill>
            <a:prstDash val="solid"/>
          </a:ln>
        </p:spPr>
      </p:sp>
      <p:sp>
        <p:nvSpPr>
          <p:cNvPr id="5" name="Text 2"/>
          <p:cNvSpPr txBox="1"/>
          <p:nvPr/>
        </p:nvSpPr>
        <p:spPr>
          <a:xfrm>
            <a:off x="457200" y="3063240"/>
            <a:ext cx="10972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6A</a:t>
            </a:r>
            <a:endParaRPr lang="en-US" sz="1400" dirty="0"/>
          </a:p>
        </p:txBody>
      </p:sp>
      <p:sp>
        <p:nvSpPr>
          <p:cNvPr id="6" name="Text 3"/>
          <p:cNvSpPr txBox="1"/>
          <p:nvPr/>
        </p:nvSpPr>
        <p:spPr>
          <a:xfrm>
            <a:off x="457200" y="3383280"/>
            <a:ext cx="1097280" cy="274320"/>
          </a:xfrm>
          <a:prstGeom prst="rect">
            <a:avLst/>
          </a:prstGeom>
          <a:noFill/>
          <a:ln/>
        </p:spPr>
        <p:txBody>
          <a:bodyPr wrap="square" lIns="0" tIns="0" rIns="0" bIns="0" rtlCol="0" anchor="t"/>
          <a:lstStyle/>
          <a:p>
            <a:pPr algn="ctr" indent="0" marL="0">
              <a:buNone/>
            </a:pPr>
            <a:r>
              <a:rPr lang="en-US" sz="1300" b="1" dirty="0">
                <a:solidFill>
                  <a:srgbClr val="F2C14E"/>
                </a:solidFill>
                <a:latin typeface="Calibri" pitchFamily="34" charset="0"/>
                <a:ea typeface="Calibri" pitchFamily="34" charset="-122"/>
                <a:cs typeface="Calibri" pitchFamily="34" charset="-120"/>
              </a:rPr>
              <a:t>$3.000</a:t>
            </a:r>
            <a:endParaRPr lang="en-US" sz="1300" dirty="0"/>
          </a:p>
        </p:txBody>
      </p:sp>
      <p:sp>
        <p:nvSpPr>
          <p:cNvPr id="7" name="Shape 4"/>
          <p:cNvSpPr/>
          <p:nvPr/>
        </p:nvSpPr>
        <p:spPr>
          <a:xfrm>
            <a:off x="1645920" y="3584448"/>
            <a:ext cx="1097280" cy="621792"/>
          </a:xfrm>
          <a:prstGeom prst="rect">
            <a:avLst/>
          </a:prstGeom>
          <a:solidFill>
            <a:srgbClr val="8B9AB7"/>
          </a:solidFill>
          <a:ln w="12700">
            <a:solidFill>
              <a:srgbClr val="8B9AB7"/>
            </a:solidFill>
            <a:prstDash val="solid"/>
          </a:ln>
        </p:spPr>
      </p:sp>
      <p:sp>
        <p:nvSpPr>
          <p:cNvPr id="8" name="Text 5"/>
          <p:cNvSpPr txBox="1"/>
          <p:nvPr/>
        </p:nvSpPr>
        <p:spPr>
          <a:xfrm>
            <a:off x="1645920" y="2761488"/>
            <a:ext cx="10972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6A2</a:t>
            </a:r>
            <a:endParaRPr lang="en-US" sz="1400" dirty="0"/>
          </a:p>
        </p:txBody>
      </p:sp>
      <p:sp>
        <p:nvSpPr>
          <p:cNvPr id="9" name="Text 6"/>
          <p:cNvSpPr txBox="1"/>
          <p:nvPr/>
        </p:nvSpPr>
        <p:spPr>
          <a:xfrm>
            <a:off x="1645920" y="3081528"/>
            <a:ext cx="1097280" cy="274320"/>
          </a:xfrm>
          <a:prstGeom prst="rect">
            <a:avLst/>
          </a:prstGeom>
          <a:noFill/>
          <a:ln/>
        </p:spPr>
        <p:txBody>
          <a:bodyPr wrap="square" lIns="0" tIns="0" rIns="0" bIns="0" rtlCol="0" anchor="t"/>
          <a:lstStyle/>
          <a:p>
            <a:pPr algn="ctr" indent="0" marL="0">
              <a:buNone/>
            </a:pPr>
            <a:r>
              <a:rPr lang="en-US" sz="1300" b="1" dirty="0">
                <a:solidFill>
                  <a:srgbClr val="F2C14E"/>
                </a:solidFill>
                <a:latin typeface="Calibri" pitchFamily="34" charset="0"/>
                <a:ea typeface="Calibri" pitchFamily="34" charset="-122"/>
                <a:cs typeface="Calibri" pitchFamily="34" charset="-120"/>
              </a:rPr>
              <a:t>$6.000</a:t>
            </a:r>
            <a:endParaRPr lang="en-US" sz="1300" dirty="0"/>
          </a:p>
        </p:txBody>
      </p:sp>
      <p:sp>
        <p:nvSpPr>
          <p:cNvPr id="10" name="Shape 7"/>
          <p:cNvSpPr/>
          <p:nvPr/>
        </p:nvSpPr>
        <p:spPr>
          <a:xfrm>
            <a:off x="2834640" y="3282696"/>
            <a:ext cx="1097280" cy="923544"/>
          </a:xfrm>
          <a:prstGeom prst="rect">
            <a:avLst/>
          </a:prstGeom>
          <a:solidFill>
            <a:srgbClr val="B9D3B1"/>
          </a:solidFill>
          <a:ln w="12700">
            <a:solidFill>
              <a:srgbClr val="B9D3B1"/>
            </a:solidFill>
            <a:prstDash val="solid"/>
          </a:ln>
        </p:spPr>
      </p:sp>
      <p:sp>
        <p:nvSpPr>
          <p:cNvPr id="11" name="Text 8"/>
          <p:cNvSpPr txBox="1"/>
          <p:nvPr/>
        </p:nvSpPr>
        <p:spPr>
          <a:xfrm>
            <a:off x="2834640" y="2459736"/>
            <a:ext cx="10972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6A2-2</a:t>
            </a:r>
            <a:endParaRPr lang="en-US" sz="1400" dirty="0"/>
          </a:p>
        </p:txBody>
      </p:sp>
      <p:sp>
        <p:nvSpPr>
          <p:cNvPr id="12" name="Text 9"/>
          <p:cNvSpPr txBox="1"/>
          <p:nvPr/>
        </p:nvSpPr>
        <p:spPr>
          <a:xfrm>
            <a:off x="2834640" y="2779776"/>
            <a:ext cx="1097280" cy="274320"/>
          </a:xfrm>
          <a:prstGeom prst="rect">
            <a:avLst/>
          </a:prstGeom>
          <a:noFill/>
          <a:ln/>
        </p:spPr>
        <p:txBody>
          <a:bodyPr wrap="square" lIns="0" tIns="0" rIns="0" bIns="0" rtlCol="0" anchor="t"/>
          <a:lstStyle/>
          <a:p>
            <a:pPr algn="ctr" indent="0" marL="0">
              <a:buNone/>
            </a:pPr>
            <a:r>
              <a:rPr lang="en-US" sz="1300" b="1" dirty="0">
                <a:solidFill>
                  <a:srgbClr val="F2C14E"/>
                </a:solidFill>
                <a:latin typeface="Calibri" pitchFamily="34" charset="0"/>
                <a:ea typeface="Calibri" pitchFamily="34" charset="-122"/>
                <a:cs typeface="Calibri" pitchFamily="34" charset="-120"/>
              </a:rPr>
              <a:t>$12.000</a:t>
            </a:r>
            <a:endParaRPr lang="en-US" sz="1300" dirty="0"/>
          </a:p>
        </p:txBody>
      </p:sp>
      <p:sp>
        <p:nvSpPr>
          <p:cNvPr id="13" name="Shape 10"/>
          <p:cNvSpPr/>
          <p:nvPr/>
        </p:nvSpPr>
        <p:spPr>
          <a:xfrm>
            <a:off x="4023360" y="2980944"/>
            <a:ext cx="1097280" cy="1225296"/>
          </a:xfrm>
          <a:prstGeom prst="rect">
            <a:avLst/>
          </a:prstGeom>
          <a:solidFill>
            <a:srgbClr val="B9D3B1"/>
          </a:solidFill>
          <a:ln w="12700">
            <a:solidFill>
              <a:srgbClr val="B9D3B1"/>
            </a:solidFill>
            <a:prstDash val="solid"/>
          </a:ln>
        </p:spPr>
      </p:sp>
      <p:sp>
        <p:nvSpPr>
          <p:cNvPr id="14" name="Text 11"/>
          <p:cNvSpPr txBox="1"/>
          <p:nvPr/>
        </p:nvSpPr>
        <p:spPr>
          <a:xfrm>
            <a:off x="4023360" y="2157984"/>
            <a:ext cx="10972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6A2-3</a:t>
            </a:r>
            <a:endParaRPr lang="en-US" sz="1400" dirty="0"/>
          </a:p>
        </p:txBody>
      </p:sp>
      <p:sp>
        <p:nvSpPr>
          <p:cNvPr id="15" name="Text 12"/>
          <p:cNvSpPr txBox="1"/>
          <p:nvPr/>
        </p:nvSpPr>
        <p:spPr>
          <a:xfrm>
            <a:off x="4023360" y="2478024"/>
            <a:ext cx="1097280" cy="274320"/>
          </a:xfrm>
          <a:prstGeom prst="rect">
            <a:avLst/>
          </a:prstGeom>
          <a:noFill/>
          <a:ln/>
        </p:spPr>
        <p:txBody>
          <a:bodyPr wrap="square" lIns="0" tIns="0" rIns="0" bIns="0" rtlCol="0" anchor="t"/>
          <a:lstStyle/>
          <a:p>
            <a:pPr algn="ctr" indent="0" marL="0">
              <a:buNone/>
            </a:pPr>
            <a:r>
              <a:rPr lang="en-US" sz="1300" b="1" dirty="0">
                <a:solidFill>
                  <a:srgbClr val="F2C14E"/>
                </a:solidFill>
                <a:latin typeface="Calibri" pitchFamily="34" charset="0"/>
                <a:ea typeface="Calibri" pitchFamily="34" charset="-122"/>
                <a:cs typeface="Calibri" pitchFamily="34" charset="-120"/>
              </a:rPr>
              <a:t>$25.000</a:t>
            </a:r>
            <a:endParaRPr lang="en-US" sz="1300" dirty="0"/>
          </a:p>
        </p:txBody>
      </p:sp>
      <p:sp>
        <p:nvSpPr>
          <p:cNvPr id="16" name="Shape 13"/>
          <p:cNvSpPr/>
          <p:nvPr/>
        </p:nvSpPr>
        <p:spPr>
          <a:xfrm>
            <a:off x="5212080" y="2679192"/>
            <a:ext cx="1097280" cy="1527048"/>
          </a:xfrm>
          <a:prstGeom prst="rect">
            <a:avLst/>
          </a:prstGeom>
          <a:solidFill>
            <a:srgbClr val="F2C14E"/>
          </a:solidFill>
          <a:ln w="12700">
            <a:solidFill>
              <a:srgbClr val="F2C14E"/>
            </a:solidFill>
            <a:prstDash val="solid"/>
          </a:ln>
        </p:spPr>
      </p:sp>
      <p:sp>
        <p:nvSpPr>
          <p:cNvPr id="17" name="Text 14"/>
          <p:cNvSpPr txBox="1"/>
          <p:nvPr/>
        </p:nvSpPr>
        <p:spPr>
          <a:xfrm>
            <a:off x="5212080" y="1856232"/>
            <a:ext cx="10972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6A2-4</a:t>
            </a:r>
            <a:endParaRPr lang="en-US" sz="1400" dirty="0"/>
          </a:p>
        </p:txBody>
      </p:sp>
      <p:sp>
        <p:nvSpPr>
          <p:cNvPr id="18" name="Text 15"/>
          <p:cNvSpPr txBox="1"/>
          <p:nvPr/>
        </p:nvSpPr>
        <p:spPr>
          <a:xfrm>
            <a:off x="5212080" y="2176272"/>
            <a:ext cx="1097280" cy="274320"/>
          </a:xfrm>
          <a:prstGeom prst="rect">
            <a:avLst/>
          </a:prstGeom>
          <a:noFill/>
          <a:ln/>
        </p:spPr>
        <p:txBody>
          <a:bodyPr wrap="square" lIns="0" tIns="0" rIns="0" bIns="0" rtlCol="0" anchor="t"/>
          <a:lstStyle/>
          <a:p>
            <a:pPr algn="ctr" indent="0" marL="0">
              <a:buNone/>
            </a:pPr>
            <a:r>
              <a:rPr lang="en-US" sz="1300" b="1" dirty="0">
                <a:solidFill>
                  <a:srgbClr val="F2C14E"/>
                </a:solidFill>
                <a:latin typeface="Calibri" pitchFamily="34" charset="0"/>
                <a:ea typeface="Calibri" pitchFamily="34" charset="-122"/>
                <a:cs typeface="Calibri" pitchFamily="34" charset="-120"/>
              </a:rPr>
              <a:t>$50.000</a:t>
            </a:r>
            <a:endParaRPr lang="en-US" sz="1300" dirty="0"/>
          </a:p>
        </p:txBody>
      </p:sp>
      <p:sp>
        <p:nvSpPr>
          <p:cNvPr id="19" name="Shape 16"/>
          <p:cNvSpPr/>
          <p:nvPr/>
        </p:nvSpPr>
        <p:spPr>
          <a:xfrm>
            <a:off x="6400800" y="2377440"/>
            <a:ext cx="1097280" cy="1828800"/>
          </a:xfrm>
          <a:prstGeom prst="rect">
            <a:avLst/>
          </a:prstGeom>
          <a:solidFill>
            <a:srgbClr val="F4A78A"/>
          </a:solidFill>
          <a:ln w="12700">
            <a:solidFill>
              <a:srgbClr val="F4A78A"/>
            </a:solidFill>
            <a:prstDash val="solid"/>
          </a:ln>
        </p:spPr>
      </p:sp>
      <p:sp>
        <p:nvSpPr>
          <p:cNvPr id="20" name="Text 17"/>
          <p:cNvSpPr txBox="1"/>
          <p:nvPr/>
        </p:nvSpPr>
        <p:spPr>
          <a:xfrm>
            <a:off x="6400800" y="1554480"/>
            <a:ext cx="10972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6A2-5</a:t>
            </a:r>
            <a:endParaRPr lang="en-US" sz="1400" dirty="0"/>
          </a:p>
        </p:txBody>
      </p:sp>
      <p:sp>
        <p:nvSpPr>
          <p:cNvPr id="21" name="Text 18"/>
          <p:cNvSpPr txBox="1"/>
          <p:nvPr/>
        </p:nvSpPr>
        <p:spPr>
          <a:xfrm>
            <a:off x="6400800" y="1874520"/>
            <a:ext cx="1097280" cy="274320"/>
          </a:xfrm>
          <a:prstGeom prst="rect">
            <a:avLst/>
          </a:prstGeom>
          <a:noFill/>
          <a:ln/>
        </p:spPr>
        <p:txBody>
          <a:bodyPr wrap="square" lIns="0" tIns="0" rIns="0" bIns="0" rtlCol="0" anchor="t"/>
          <a:lstStyle/>
          <a:p>
            <a:pPr algn="ctr" indent="0" marL="0">
              <a:buNone/>
            </a:pPr>
            <a:r>
              <a:rPr lang="en-US" sz="1300" b="1" dirty="0">
                <a:solidFill>
                  <a:srgbClr val="F2C14E"/>
                </a:solidFill>
                <a:latin typeface="Calibri" pitchFamily="34" charset="0"/>
                <a:ea typeface="Calibri" pitchFamily="34" charset="-122"/>
                <a:cs typeface="Calibri" pitchFamily="34" charset="-120"/>
              </a:rPr>
              <a:t>$100.000</a:t>
            </a:r>
            <a:endParaRPr lang="en-US" sz="1300" dirty="0"/>
          </a:p>
        </p:txBody>
      </p:sp>
      <p:sp>
        <p:nvSpPr>
          <p:cNvPr id="22" name="Shape 19"/>
          <p:cNvSpPr/>
          <p:nvPr/>
        </p:nvSpPr>
        <p:spPr>
          <a:xfrm>
            <a:off x="7589520" y="2075688"/>
            <a:ext cx="1097280" cy="2130552"/>
          </a:xfrm>
          <a:prstGeom prst="rect">
            <a:avLst/>
          </a:prstGeom>
          <a:solidFill>
            <a:srgbClr val="EE7A7A"/>
          </a:solidFill>
          <a:ln w="12700">
            <a:solidFill>
              <a:srgbClr val="EE7A7A"/>
            </a:solidFill>
            <a:prstDash val="solid"/>
          </a:ln>
        </p:spPr>
      </p:sp>
      <p:sp>
        <p:nvSpPr>
          <p:cNvPr id="23" name="Text 20"/>
          <p:cNvSpPr txBox="1"/>
          <p:nvPr/>
        </p:nvSpPr>
        <p:spPr>
          <a:xfrm>
            <a:off x="7589520" y="1252728"/>
            <a:ext cx="109728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6A2-6</a:t>
            </a:r>
            <a:endParaRPr lang="en-US" sz="1400" dirty="0"/>
          </a:p>
        </p:txBody>
      </p:sp>
      <p:sp>
        <p:nvSpPr>
          <p:cNvPr id="24" name="Text 21"/>
          <p:cNvSpPr txBox="1"/>
          <p:nvPr/>
        </p:nvSpPr>
        <p:spPr>
          <a:xfrm>
            <a:off x="7589520" y="1572768"/>
            <a:ext cx="1097280" cy="274320"/>
          </a:xfrm>
          <a:prstGeom prst="rect">
            <a:avLst/>
          </a:prstGeom>
          <a:noFill/>
          <a:ln/>
        </p:spPr>
        <p:txBody>
          <a:bodyPr wrap="square" lIns="0" tIns="0" rIns="0" bIns="0" rtlCol="0" anchor="t"/>
          <a:lstStyle/>
          <a:p>
            <a:pPr algn="ctr" indent="0" marL="0">
              <a:buNone/>
            </a:pPr>
            <a:r>
              <a:rPr lang="en-US" sz="1300" b="1" dirty="0">
                <a:solidFill>
                  <a:srgbClr val="F2C14E"/>
                </a:solidFill>
                <a:latin typeface="Calibri" pitchFamily="34" charset="0"/>
                <a:ea typeface="Calibri" pitchFamily="34" charset="-122"/>
                <a:cs typeface="Calibri" pitchFamily="34" charset="-120"/>
              </a:rPr>
              <a:t>$200.000</a:t>
            </a:r>
            <a:endParaRPr lang="en-US" sz="1300" dirty="0"/>
          </a:p>
        </p:txBody>
      </p:sp>
      <p:sp>
        <p:nvSpPr>
          <p:cNvPr id="25" name="Text 22"/>
          <p:cNvSpPr txBox="1"/>
          <p:nvPr/>
        </p:nvSpPr>
        <p:spPr>
          <a:xfrm>
            <a:off x="457200" y="4297680"/>
            <a:ext cx="8229600" cy="502920"/>
          </a:xfrm>
          <a:prstGeom prst="rect">
            <a:avLst/>
          </a:prstGeom>
          <a:noFill/>
          <a:ln/>
        </p:spPr>
        <p:txBody>
          <a:bodyPr wrap="square" lIns="0" tIns="0" rIns="0" bIns="0" rtlCol="0" anchor="t"/>
          <a:lstStyle/>
          <a:p>
            <a:pPr indent="0" marL="0">
              <a:buNone/>
            </a:pPr>
            <a:r>
              <a:rPr lang="en-US" sz="1100" dirty="0">
                <a:solidFill>
                  <a:srgbClr val="CFC5C6"/>
                </a:solidFill>
                <a:latin typeface="Calibri" pitchFamily="34" charset="0"/>
                <a:ea typeface="Calibri" pitchFamily="34" charset="-122"/>
                <a:cs typeface="Calibri" pitchFamily="34" charset="-120"/>
              </a:rPr>
              <a:t>6A: $3.000 al conseguir el título (101 ventas de grupo, $300K acumulados). A partir de 6A2-3, bono único + ingreso mensual: $5K, $10K, $15K y $20K al mes. Recompensas sujetas a requisitos de producción y a discreción de la compañía.</a:t>
            </a:r>
            <a:endParaRPr lang="en-US" sz="11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Potencial de crecimiento</a:t>
            </a:r>
            <a:endParaRPr lang="en-US" sz="2600" dirty="0"/>
          </a:p>
        </p:txBody>
      </p:sp>
      <p:sp>
        <p:nvSpPr>
          <p:cNvPr id="4" name="Shape 1"/>
          <p:cNvSpPr/>
          <p:nvPr/>
        </p:nvSpPr>
        <p:spPr>
          <a:xfrm>
            <a:off x="457200" y="1188720"/>
            <a:ext cx="2651760" cy="3383280"/>
          </a:xfrm>
          <a:prstGeom prst="roundRect">
            <a:avLst>
              <a:gd name="adj" fmla="val 5172"/>
            </a:avLst>
          </a:prstGeom>
          <a:solidFill>
            <a:srgbClr val="FBEAEA"/>
          </a:solidFill>
          <a:ln w="12700">
            <a:solidFill>
              <a:srgbClr val="FBEAEA"/>
            </a:solidFill>
            <a:prstDash val="solid"/>
          </a:ln>
        </p:spPr>
      </p:sp>
      <p:sp>
        <p:nvSpPr>
          <p:cNvPr id="5" name="Text 2"/>
          <p:cNvSpPr txBox="1"/>
          <p:nvPr/>
        </p:nvSpPr>
        <p:spPr>
          <a:xfrm>
            <a:off x="640080" y="1325880"/>
            <a:ext cx="2286000" cy="457200"/>
          </a:xfrm>
          <a:prstGeom prst="rect">
            <a:avLst/>
          </a:prstGeom>
          <a:noFill/>
          <a:ln/>
        </p:spPr>
        <p:txBody>
          <a:bodyPr wrap="square" lIns="0" tIns="0" rIns="0" bIns="0" rtlCol="0" anchor="t"/>
          <a:lstStyle/>
          <a:p>
            <a:pPr indent="0" marL="0">
              <a:buNone/>
            </a:pPr>
            <a:r>
              <a:rPr lang="en-US" sz="1200" b="1" spc="200" kern="0" dirty="0">
                <a:solidFill>
                  <a:srgbClr val="6B5F61"/>
                </a:solidFill>
                <a:latin typeface="Calibri" pitchFamily="34" charset="0"/>
                <a:ea typeface="Calibri" pitchFamily="34" charset="-122"/>
                <a:cs typeface="Calibri" pitchFamily="34" charset="-120"/>
              </a:rPr>
              <a:t>VENTA DIRECTA GLOBAL</a:t>
            </a:r>
            <a:endParaRPr lang="en-US" sz="1200" dirty="0"/>
          </a:p>
        </p:txBody>
      </p:sp>
      <p:sp>
        <p:nvSpPr>
          <p:cNvPr id="6" name="Text 3"/>
          <p:cNvSpPr txBox="1"/>
          <p:nvPr/>
        </p:nvSpPr>
        <p:spPr>
          <a:xfrm>
            <a:off x="640080" y="1828800"/>
            <a:ext cx="2286000" cy="822960"/>
          </a:xfrm>
          <a:prstGeom prst="rect">
            <a:avLst/>
          </a:prstGeom>
          <a:noFill/>
          <a:ln/>
        </p:spPr>
        <p:txBody>
          <a:bodyPr wrap="square" lIns="0" tIns="0" rIns="0" bIns="0" rtlCol="0" anchor="t"/>
          <a:lstStyle/>
          <a:p>
            <a:pPr indent="0" marL="0">
              <a:buNone/>
            </a:pPr>
            <a:r>
              <a:rPr lang="en-US" sz="3200" b="1" dirty="0">
                <a:solidFill>
                  <a:srgbClr val="EE7A7A"/>
                </a:solidFill>
                <a:latin typeface="Arial" pitchFamily="34" charset="0"/>
                <a:ea typeface="Arial" pitchFamily="34" charset="-122"/>
                <a:cs typeface="Arial" pitchFamily="34" charset="-120"/>
              </a:rPr>
              <a:t>$200.140M</a:t>
            </a:r>
            <a:endParaRPr lang="en-US" sz="3200" dirty="0"/>
          </a:p>
        </p:txBody>
      </p:sp>
      <p:sp>
        <p:nvSpPr>
          <p:cNvPr id="7" name="Text 4"/>
          <p:cNvSpPr txBox="1"/>
          <p:nvPr/>
        </p:nvSpPr>
        <p:spPr>
          <a:xfrm>
            <a:off x="640080" y="2743200"/>
            <a:ext cx="2286000" cy="173736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Valorado en 2022. Previsión: crecer un 6,4% anual de 2023 a 2030 hasta $286.000M.</a:t>
            </a:r>
            <a:endParaRPr lang="en-US" sz="1300" dirty="0"/>
          </a:p>
        </p:txBody>
      </p:sp>
      <p:sp>
        <p:nvSpPr>
          <p:cNvPr id="8" name="Shape 5"/>
          <p:cNvSpPr/>
          <p:nvPr/>
        </p:nvSpPr>
        <p:spPr>
          <a:xfrm>
            <a:off x="3246120" y="1188720"/>
            <a:ext cx="2651760" cy="3383280"/>
          </a:xfrm>
          <a:prstGeom prst="roundRect">
            <a:avLst>
              <a:gd name="adj" fmla="val 5172"/>
            </a:avLst>
          </a:prstGeom>
          <a:solidFill>
            <a:srgbClr val="E8ECF3"/>
          </a:solidFill>
          <a:ln w="12700">
            <a:solidFill>
              <a:srgbClr val="E8ECF3"/>
            </a:solidFill>
            <a:prstDash val="solid"/>
          </a:ln>
        </p:spPr>
      </p:sp>
      <p:sp>
        <p:nvSpPr>
          <p:cNvPr id="9" name="Text 6"/>
          <p:cNvSpPr txBox="1"/>
          <p:nvPr/>
        </p:nvSpPr>
        <p:spPr>
          <a:xfrm>
            <a:off x="3429000" y="1325880"/>
            <a:ext cx="2286000" cy="457200"/>
          </a:xfrm>
          <a:prstGeom prst="rect">
            <a:avLst/>
          </a:prstGeom>
          <a:noFill/>
          <a:ln/>
        </p:spPr>
        <p:txBody>
          <a:bodyPr wrap="square" lIns="0" tIns="0" rIns="0" bIns="0" rtlCol="0" anchor="t"/>
          <a:lstStyle/>
          <a:p>
            <a:pPr indent="0" marL="0">
              <a:buNone/>
            </a:pPr>
            <a:r>
              <a:rPr lang="en-US" sz="1200" b="1" spc="200" kern="0" dirty="0">
                <a:solidFill>
                  <a:srgbClr val="6B5F61"/>
                </a:solidFill>
                <a:latin typeface="Calibri" pitchFamily="34" charset="0"/>
                <a:ea typeface="Calibri" pitchFamily="34" charset="-122"/>
                <a:cs typeface="Calibri" pitchFamily="34" charset="-120"/>
              </a:rPr>
              <a:t>MERCADO DE IONIZADORES</a:t>
            </a:r>
            <a:endParaRPr lang="en-US" sz="1200" dirty="0"/>
          </a:p>
        </p:txBody>
      </p:sp>
      <p:sp>
        <p:nvSpPr>
          <p:cNvPr id="10" name="Text 7"/>
          <p:cNvSpPr txBox="1"/>
          <p:nvPr/>
        </p:nvSpPr>
        <p:spPr>
          <a:xfrm>
            <a:off x="3429000" y="1828800"/>
            <a:ext cx="2286000" cy="822960"/>
          </a:xfrm>
          <a:prstGeom prst="rect">
            <a:avLst/>
          </a:prstGeom>
          <a:noFill/>
          <a:ln/>
        </p:spPr>
        <p:txBody>
          <a:bodyPr wrap="square" lIns="0" tIns="0" rIns="0" bIns="0" rtlCol="0" anchor="t"/>
          <a:lstStyle/>
          <a:p>
            <a:pPr indent="0" marL="0">
              <a:buNone/>
            </a:pPr>
            <a:r>
              <a:rPr lang="en-US" sz="3200" b="1" dirty="0">
                <a:solidFill>
                  <a:srgbClr val="8B9AB7"/>
                </a:solidFill>
                <a:latin typeface="Arial" pitchFamily="34" charset="0"/>
                <a:ea typeface="Arial" pitchFamily="34" charset="-122"/>
                <a:cs typeface="Arial" pitchFamily="34" charset="-120"/>
              </a:rPr>
              <a:t>$2.300M</a:t>
            </a:r>
            <a:endParaRPr lang="en-US" sz="3200" dirty="0"/>
          </a:p>
        </p:txBody>
      </p:sp>
      <p:sp>
        <p:nvSpPr>
          <p:cNvPr id="11" name="Text 8"/>
          <p:cNvSpPr txBox="1"/>
          <p:nvPr/>
        </p:nvSpPr>
        <p:spPr>
          <a:xfrm>
            <a:off x="3429000" y="2743200"/>
            <a:ext cx="2286000" cy="173736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Valorado en 2021. Previsión: $3.400M en 2027 (6,94% anual).</a:t>
            </a:r>
            <a:endParaRPr lang="en-US" sz="1300" dirty="0"/>
          </a:p>
        </p:txBody>
      </p:sp>
      <p:sp>
        <p:nvSpPr>
          <p:cNvPr id="12" name="Shape 9"/>
          <p:cNvSpPr/>
          <p:nvPr/>
        </p:nvSpPr>
        <p:spPr>
          <a:xfrm>
            <a:off x="6035040" y="1188720"/>
            <a:ext cx="2651760" cy="3383280"/>
          </a:xfrm>
          <a:prstGeom prst="roundRect">
            <a:avLst>
              <a:gd name="adj" fmla="val 5172"/>
            </a:avLst>
          </a:prstGeom>
          <a:solidFill>
            <a:srgbClr val="EDF5EA"/>
          </a:solidFill>
          <a:ln w="12700">
            <a:solidFill>
              <a:srgbClr val="EDF5EA"/>
            </a:solidFill>
            <a:prstDash val="solid"/>
          </a:ln>
        </p:spPr>
      </p:sp>
      <p:sp>
        <p:nvSpPr>
          <p:cNvPr id="13" name="Text 10"/>
          <p:cNvSpPr txBox="1"/>
          <p:nvPr/>
        </p:nvSpPr>
        <p:spPr>
          <a:xfrm>
            <a:off x="6217920" y="1325880"/>
            <a:ext cx="2286000" cy="457200"/>
          </a:xfrm>
          <a:prstGeom prst="rect">
            <a:avLst/>
          </a:prstGeom>
          <a:noFill/>
          <a:ln/>
        </p:spPr>
        <p:txBody>
          <a:bodyPr wrap="square" lIns="0" tIns="0" rIns="0" bIns="0" rtlCol="0" anchor="t"/>
          <a:lstStyle/>
          <a:p>
            <a:pPr indent="0" marL="0">
              <a:buNone/>
            </a:pPr>
            <a:r>
              <a:rPr lang="en-US" sz="1200" b="1" spc="200" kern="0" dirty="0">
                <a:solidFill>
                  <a:srgbClr val="6B5F61"/>
                </a:solidFill>
                <a:latin typeface="Calibri" pitchFamily="34" charset="0"/>
                <a:ea typeface="Calibri" pitchFamily="34" charset="-122"/>
                <a:cs typeface="Calibri" pitchFamily="34" charset="-120"/>
              </a:rPr>
              <a:t>MARKETING ONLINE</a:t>
            </a:r>
            <a:endParaRPr lang="en-US" sz="1200" dirty="0"/>
          </a:p>
        </p:txBody>
      </p:sp>
      <p:sp>
        <p:nvSpPr>
          <p:cNvPr id="14" name="Text 11"/>
          <p:cNvSpPr txBox="1"/>
          <p:nvPr/>
        </p:nvSpPr>
        <p:spPr>
          <a:xfrm>
            <a:off x="6217920" y="1828800"/>
            <a:ext cx="2286000" cy="822960"/>
          </a:xfrm>
          <a:prstGeom prst="rect">
            <a:avLst/>
          </a:prstGeom>
          <a:noFill/>
          <a:ln/>
        </p:spPr>
        <p:txBody>
          <a:bodyPr wrap="square" lIns="0" tIns="0" rIns="0" bIns="0" rtlCol="0" anchor="t"/>
          <a:lstStyle/>
          <a:p>
            <a:pPr indent="0" marL="0">
              <a:buNone/>
            </a:pPr>
            <a:r>
              <a:rPr lang="en-US" sz="3200" b="1" dirty="0">
                <a:solidFill>
                  <a:srgbClr val="6E9C64"/>
                </a:solidFill>
                <a:latin typeface="Arial" pitchFamily="34" charset="0"/>
                <a:ea typeface="Arial" pitchFamily="34" charset="-122"/>
                <a:cs typeface="Arial" pitchFamily="34" charset="-120"/>
              </a:rPr>
              <a:t>16%</a:t>
            </a:r>
            <a:endParaRPr lang="en-US" sz="3200" dirty="0"/>
          </a:p>
        </p:txBody>
      </p:sp>
      <p:sp>
        <p:nvSpPr>
          <p:cNvPr id="15" name="Text 12"/>
          <p:cNvSpPr txBox="1"/>
          <p:nvPr/>
        </p:nvSpPr>
        <p:spPr>
          <a:xfrm>
            <a:off x="6217920" y="2743200"/>
            <a:ext cx="2286000" cy="173736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De todas las ventas de e-commerce. Una de las fuentes de ingresos que más crece en el mundo.</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E2224"/>
        </a:solidFill>
      </p:bgPr>
    </p:bg>
    <p:spTree>
      <p:nvGrpSpPr>
        <p:cNvPr id="1" name=""/>
        <p:cNvGrpSpPr/>
        <p:nvPr/>
      </p:nvGrpSpPr>
      <p:grpSpPr>
        <a:xfrm>
          <a:off x="0" y="0"/>
          <a:ext cx="0" cy="0"/>
          <a:chOff x="0" y="0"/>
          <a:chExt cx="0" cy="0"/>
        </a:xfrm>
      </p:grpSpPr>
      <p:sp>
        <p:nvSpPr>
          <p:cNvPr id="3" name="Text 0"/>
          <p:cNvSpPr txBox="1"/>
          <p:nvPr/>
        </p:nvSpPr>
        <p:spPr>
          <a:xfrm>
            <a:off x="731520" y="1188720"/>
            <a:ext cx="7680960" cy="365760"/>
          </a:xfrm>
          <a:prstGeom prst="rect">
            <a:avLst/>
          </a:prstGeom>
          <a:noFill/>
          <a:ln/>
        </p:spPr>
        <p:txBody>
          <a:bodyPr wrap="square" lIns="0" tIns="0" rIns="0" bIns="0" rtlCol="0" anchor="t"/>
          <a:lstStyle/>
          <a:p>
            <a:pPr indent="0" marL="0">
              <a:buNone/>
            </a:pPr>
            <a:r>
              <a:rPr lang="en-US" sz="1400" b="1" spc="400" kern="0" dirty="0">
                <a:solidFill>
                  <a:srgbClr val="F2C14E"/>
                </a:solidFill>
                <a:latin typeface="Calibri" pitchFamily="34" charset="0"/>
                <a:ea typeface="Calibri" pitchFamily="34" charset="-122"/>
                <a:cs typeface="Calibri" pitchFamily="34" charset="-120"/>
              </a:rPr>
              <a:t>PARTE 3</a:t>
            </a:r>
            <a:endParaRPr lang="en-US" sz="1400" dirty="0"/>
          </a:p>
        </p:txBody>
      </p:sp>
      <p:sp>
        <p:nvSpPr>
          <p:cNvPr id="4" name="Text 1"/>
          <p:cNvSpPr txBox="1"/>
          <p:nvPr/>
        </p:nvSpPr>
        <p:spPr>
          <a:xfrm>
            <a:off x="731520" y="1600200"/>
            <a:ext cx="7680960" cy="128016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«Vale, pero ¿cómo lo hago?»</a:t>
            </a:r>
            <a:endParaRPr lang="en-US" sz="4000" dirty="0"/>
          </a:p>
        </p:txBody>
      </p:sp>
      <p:sp>
        <p:nvSpPr>
          <p:cNvPr id="5" name="Shape 2"/>
          <p:cNvSpPr/>
          <p:nvPr/>
        </p:nvSpPr>
        <p:spPr>
          <a:xfrm>
            <a:off x="731520" y="3063240"/>
            <a:ext cx="5120640" cy="731520"/>
          </a:xfrm>
          <a:prstGeom prst="roundRect">
            <a:avLst>
              <a:gd name="adj" fmla="val 12500"/>
            </a:avLst>
          </a:prstGeom>
          <a:solidFill>
            <a:srgbClr val="EE7A7A"/>
          </a:solidFill>
          <a:ln w="12700">
            <a:solidFill>
              <a:srgbClr val="EE7A7A"/>
            </a:solidFill>
            <a:prstDash val="solid"/>
          </a:ln>
        </p:spPr>
      </p:sp>
      <p:sp>
        <p:nvSpPr>
          <p:cNvPr id="6" name="Text 3"/>
          <p:cNvSpPr txBox="1"/>
          <p:nvPr/>
        </p:nvSpPr>
        <p:spPr>
          <a:xfrm>
            <a:off x="914400" y="3063240"/>
            <a:ext cx="4754880" cy="7315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Las 3 habilidades que crean ingresos escalables</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Las 3 habilidades que crean ingresos escalables</a:t>
            </a:r>
            <a:endParaRPr lang="en-US" sz="2600" dirty="0"/>
          </a:p>
        </p:txBody>
      </p:sp>
      <p:sp>
        <p:nvSpPr>
          <p:cNvPr id="4" name="Shape 1"/>
          <p:cNvSpPr/>
          <p:nvPr/>
        </p:nvSpPr>
        <p:spPr>
          <a:xfrm>
            <a:off x="457200" y="1097280"/>
            <a:ext cx="2651760" cy="3611880"/>
          </a:xfrm>
          <a:prstGeom prst="roundRect">
            <a:avLst>
              <a:gd name="adj" fmla="val 5172"/>
            </a:avLst>
          </a:prstGeom>
          <a:solidFill>
            <a:srgbClr val="FBEAEA"/>
          </a:solidFill>
          <a:ln w="12700">
            <a:solidFill>
              <a:srgbClr val="FBEAEA"/>
            </a:solidFill>
            <a:prstDash val="solid"/>
          </a:ln>
        </p:spPr>
      </p:sp>
      <p:sp>
        <p:nvSpPr>
          <p:cNvPr id="5" name="Shape 2"/>
          <p:cNvSpPr/>
          <p:nvPr/>
        </p:nvSpPr>
        <p:spPr>
          <a:xfrm>
            <a:off x="640080" y="1234440"/>
            <a:ext cx="457200" cy="457200"/>
          </a:xfrm>
          <a:prstGeom prst="ellipse">
            <a:avLst/>
          </a:prstGeom>
          <a:solidFill>
            <a:srgbClr val="EE7A7A"/>
          </a:solidFill>
          <a:ln w="12700">
            <a:solidFill>
              <a:srgbClr val="EE7A7A"/>
            </a:solidFill>
            <a:prstDash val="solid"/>
          </a:ln>
        </p:spPr>
      </p:sp>
      <p:sp>
        <p:nvSpPr>
          <p:cNvPr id="6" name="Text 3"/>
          <p:cNvSpPr txBox="1"/>
          <p:nvPr/>
        </p:nvSpPr>
        <p:spPr>
          <a:xfrm>
            <a:off x="640080" y="12344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7" name="Text 4"/>
          <p:cNvSpPr txBox="1"/>
          <p:nvPr/>
        </p:nvSpPr>
        <p:spPr>
          <a:xfrm>
            <a:off x="1234440" y="1234440"/>
            <a:ext cx="1783080" cy="457200"/>
          </a:xfrm>
          <a:prstGeom prst="rect">
            <a:avLst/>
          </a:prstGeom>
          <a:noFill/>
          <a:ln/>
        </p:spPr>
        <p:txBody>
          <a:bodyPr wrap="square" lIns="0" tIns="0" rIns="0" bIns="0" rtlCol="0" anchor="ctr"/>
          <a:lstStyle/>
          <a:p>
            <a:pPr indent="0" marL="0">
              <a:buNone/>
            </a:pPr>
            <a:r>
              <a:rPr lang="en-US" sz="1500" b="1" dirty="0">
                <a:solidFill>
                  <a:srgbClr val="2E2224"/>
                </a:solidFill>
                <a:latin typeface="Arial" pitchFamily="34" charset="0"/>
                <a:ea typeface="Arial" pitchFamily="34" charset="-122"/>
                <a:cs typeface="Arial" pitchFamily="34" charset="-120"/>
              </a:rPr>
              <a:t>Marketing orgánico</a:t>
            </a:r>
            <a:endParaRPr lang="en-US" sz="1500" dirty="0"/>
          </a:p>
        </p:txBody>
      </p:sp>
      <p:sp>
        <p:nvSpPr>
          <p:cNvPr id="8" name="Text 5"/>
          <p:cNvSpPr txBox="1"/>
          <p:nvPr/>
        </p:nvSpPr>
        <p:spPr>
          <a:xfrm>
            <a:off x="640080" y="1828800"/>
            <a:ext cx="2286000" cy="731520"/>
          </a:xfrm>
          <a:prstGeom prst="rect">
            <a:avLst/>
          </a:prstGeom>
          <a:noFill/>
          <a:ln/>
        </p:spPr>
        <p:txBody>
          <a:bodyPr wrap="square" lIns="0" tIns="0" rIns="0" bIns="0" rtlCol="0" anchor="t"/>
          <a:lstStyle/>
          <a:p>
            <a:pPr indent="0" marL="0">
              <a:buNone/>
            </a:pPr>
            <a:r>
              <a:rPr lang="en-US" sz="1200" i="1" dirty="0">
                <a:solidFill>
                  <a:srgbClr val="6B5F61"/>
                </a:solidFill>
                <a:latin typeface="Calibri" pitchFamily="34" charset="0"/>
                <a:ea typeface="Calibri" pitchFamily="34" charset="-122"/>
                <a:cs typeface="Calibri" pitchFamily="34" charset="-120"/>
              </a:rPr>
              <a:t>Genera confianza y atrae a personas alineadas con contenido en redes.</a:t>
            </a:r>
            <a:endParaRPr lang="en-US" sz="1200" dirty="0"/>
          </a:p>
        </p:txBody>
      </p:sp>
      <p:sp>
        <p:nvSpPr>
          <p:cNvPr id="9" name="Text 6"/>
          <p:cNvSpPr txBox="1"/>
          <p:nvPr/>
        </p:nvSpPr>
        <p:spPr>
          <a:xfrm>
            <a:off x="640080" y="2606040"/>
            <a:ext cx="2331720" cy="20116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Llega a miles (incluso millones) de forma orgánica</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Atrae a quien conecta con tu historia</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Autoridad a través de la autenticidad</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Tu contenido trabaja por ti 24/7</a:t>
            </a:r>
            <a:endParaRPr lang="en-US" sz="1200" dirty="0"/>
          </a:p>
        </p:txBody>
      </p:sp>
      <p:sp>
        <p:nvSpPr>
          <p:cNvPr id="10" name="Shape 7"/>
          <p:cNvSpPr/>
          <p:nvPr/>
        </p:nvSpPr>
        <p:spPr>
          <a:xfrm>
            <a:off x="3246120" y="1097280"/>
            <a:ext cx="2651760" cy="3611880"/>
          </a:xfrm>
          <a:prstGeom prst="roundRect">
            <a:avLst>
              <a:gd name="adj" fmla="val 5172"/>
            </a:avLst>
          </a:prstGeom>
          <a:solidFill>
            <a:srgbClr val="E8ECF3"/>
          </a:solidFill>
          <a:ln w="12700">
            <a:solidFill>
              <a:srgbClr val="E8ECF3"/>
            </a:solidFill>
            <a:prstDash val="solid"/>
          </a:ln>
        </p:spPr>
      </p:sp>
      <p:sp>
        <p:nvSpPr>
          <p:cNvPr id="11" name="Shape 8"/>
          <p:cNvSpPr/>
          <p:nvPr/>
        </p:nvSpPr>
        <p:spPr>
          <a:xfrm>
            <a:off x="3429000" y="1234440"/>
            <a:ext cx="457200" cy="457200"/>
          </a:xfrm>
          <a:prstGeom prst="ellipse">
            <a:avLst/>
          </a:prstGeom>
          <a:solidFill>
            <a:srgbClr val="8B9AB7"/>
          </a:solidFill>
          <a:ln w="12700">
            <a:solidFill>
              <a:srgbClr val="8B9AB7"/>
            </a:solidFill>
            <a:prstDash val="solid"/>
          </a:ln>
        </p:spPr>
      </p:sp>
      <p:sp>
        <p:nvSpPr>
          <p:cNvPr id="12" name="Text 9"/>
          <p:cNvSpPr txBox="1"/>
          <p:nvPr/>
        </p:nvSpPr>
        <p:spPr>
          <a:xfrm>
            <a:off x="3429000" y="12344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3" name="Text 10"/>
          <p:cNvSpPr txBox="1"/>
          <p:nvPr/>
        </p:nvSpPr>
        <p:spPr>
          <a:xfrm>
            <a:off x="4023360" y="1234440"/>
            <a:ext cx="1783080" cy="457200"/>
          </a:xfrm>
          <a:prstGeom prst="rect">
            <a:avLst/>
          </a:prstGeom>
          <a:noFill/>
          <a:ln/>
        </p:spPr>
        <p:txBody>
          <a:bodyPr wrap="square" lIns="0" tIns="0" rIns="0" bIns="0" rtlCol="0" anchor="ctr"/>
          <a:lstStyle/>
          <a:p>
            <a:pPr indent="0" marL="0">
              <a:buNone/>
            </a:pPr>
            <a:r>
              <a:rPr lang="en-US" sz="1500" b="1" dirty="0">
                <a:solidFill>
                  <a:srgbClr val="2E2224"/>
                </a:solidFill>
                <a:latin typeface="Arial" pitchFamily="34" charset="0"/>
                <a:ea typeface="Arial" pitchFamily="34" charset="-122"/>
                <a:cs typeface="Arial" pitchFamily="34" charset="-120"/>
              </a:rPr>
              <a:t>Publicidad pagada</a:t>
            </a:r>
            <a:endParaRPr lang="en-US" sz="1500" dirty="0"/>
          </a:p>
        </p:txBody>
      </p:sp>
      <p:sp>
        <p:nvSpPr>
          <p:cNvPr id="14" name="Text 11"/>
          <p:cNvSpPr txBox="1"/>
          <p:nvPr/>
        </p:nvSpPr>
        <p:spPr>
          <a:xfrm>
            <a:off x="3429000" y="1828800"/>
            <a:ext cx="2286000" cy="731520"/>
          </a:xfrm>
          <a:prstGeom prst="rect">
            <a:avLst/>
          </a:prstGeom>
          <a:noFill/>
          <a:ln/>
        </p:spPr>
        <p:txBody>
          <a:bodyPr wrap="square" lIns="0" tIns="0" rIns="0" bIns="0" rtlCol="0" anchor="t"/>
          <a:lstStyle/>
          <a:p>
            <a:pPr indent="0" marL="0">
              <a:buNone/>
            </a:pPr>
            <a:r>
              <a:rPr lang="en-US" sz="1200" i="1" dirty="0">
                <a:solidFill>
                  <a:srgbClr val="6B5F61"/>
                </a:solidFill>
                <a:latin typeface="Calibri" pitchFamily="34" charset="0"/>
                <a:ea typeface="Calibri" pitchFamily="34" charset="-122"/>
                <a:cs typeface="Calibri" pitchFamily="34" charset="-120"/>
              </a:rPr>
              <a:t>Usa estrategia y datos para llegar a la gente adecuada al instante.</a:t>
            </a:r>
            <a:endParaRPr lang="en-US" sz="1200" dirty="0"/>
          </a:p>
        </p:txBody>
      </p:sp>
      <p:sp>
        <p:nvSpPr>
          <p:cNvPr id="15" name="Text 12"/>
          <p:cNvSpPr txBox="1"/>
          <p:nvPr/>
        </p:nvSpPr>
        <p:spPr>
          <a:xfrm>
            <a:off x="3429000" y="2606040"/>
            <a:ext cx="2331720" cy="20116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Llega a miles o millones en todo el mundo</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Segmenta audiencias alineadas con precisión</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Lleva tráfico directo a tu oferta</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Funciona entre bastidores 24/7</a:t>
            </a:r>
            <a:endParaRPr lang="en-US" sz="1200" dirty="0"/>
          </a:p>
        </p:txBody>
      </p:sp>
      <p:sp>
        <p:nvSpPr>
          <p:cNvPr id="16" name="Shape 13"/>
          <p:cNvSpPr/>
          <p:nvPr/>
        </p:nvSpPr>
        <p:spPr>
          <a:xfrm>
            <a:off x="6035040" y="1097280"/>
            <a:ext cx="2651760" cy="3611880"/>
          </a:xfrm>
          <a:prstGeom prst="roundRect">
            <a:avLst>
              <a:gd name="adj" fmla="val 5172"/>
            </a:avLst>
          </a:prstGeom>
          <a:solidFill>
            <a:srgbClr val="EDF5EA"/>
          </a:solidFill>
          <a:ln w="12700">
            <a:solidFill>
              <a:srgbClr val="EDF5EA"/>
            </a:solidFill>
            <a:prstDash val="solid"/>
          </a:ln>
        </p:spPr>
      </p:sp>
      <p:sp>
        <p:nvSpPr>
          <p:cNvPr id="17" name="Shape 14"/>
          <p:cNvSpPr/>
          <p:nvPr/>
        </p:nvSpPr>
        <p:spPr>
          <a:xfrm>
            <a:off x="6217920" y="1234440"/>
            <a:ext cx="457200" cy="457200"/>
          </a:xfrm>
          <a:prstGeom prst="ellipse">
            <a:avLst/>
          </a:prstGeom>
          <a:solidFill>
            <a:srgbClr val="6E9C64"/>
          </a:solidFill>
          <a:ln w="12700">
            <a:solidFill>
              <a:srgbClr val="6E9C64"/>
            </a:solidFill>
            <a:prstDash val="solid"/>
          </a:ln>
        </p:spPr>
      </p:sp>
      <p:sp>
        <p:nvSpPr>
          <p:cNvPr id="18" name="Text 15"/>
          <p:cNvSpPr txBox="1"/>
          <p:nvPr/>
        </p:nvSpPr>
        <p:spPr>
          <a:xfrm>
            <a:off x="6217920" y="12344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9" name="Text 16"/>
          <p:cNvSpPr txBox="1"/>
          <p:nvPr/>
        </p:nvSpPr>
        <p:spPr>
          <a:xfrm>
            <a:off x="6812280" y="1234440"/>
            <a:ext cx="1783080" cy="457200"/>
          </a:xfrm>
          <a:prstGeom prst="rect">
            <a:avLst/>
          </a:prstGeom>
          <a:noFill/>
          <a:ln/>
        </p:spPr>
        <p:txBody>
          <a:bodyPr wrap="square" lIns="0" tIns="0" rIns="0" bIns="0" rtlCol="0" anchor="ctr"/>
          <a:lstStyle/>
          <a:p>
            <a:pPr indent="0" marL="0">
              <a:buNone/>
            </a:pPr>
            <a:r>
              <a:rPr lang="en-US" sz="1500" b="1" dirty="0">
                <a:solidFill>
                  <a:srgbClr val="2E2224"/>
                </a:solidFill>
                <a:latin typeface="Arial" pitchFamily="34" charset="0"/>
                <a:ea typeface="Arial" pitchFamily="34" charset="-122"/>
                <a:cs typeface="Arial" pitchFamily="34" charset="-120"/>
              </a:rPr>
              <a:t>Ventas offline</a:t>
            </a:r>
            <a:endParaRPr lang="en-US" sz="1500" dirty="0"/>
          </a:p>
        </p:txBody>
      </p:sp>
      <p:sp>
        <p:nvSpPr>
          <p:cNvPr id="20" name="Text 17"/>
          <p:cNvSpPr txBox="1"/>
          <p:nvPr/>
        </p:nvSpPr>
        <p:spPr>
          <a:xfrm>
            <a:off x="6217920" y="1828800"/>
            <a:ext cx="2286000" cy="731520"/>
          </a:xfrm>
          <a:prstGeom prst="rect">
            <a:avLst/>
          </a:prstGeom>
          <a:noFill/>
          <a:ln/>
        </p:spPr>
        <p:txBody>
          <a:bodyPr wrap="square" lIns="0" tIns="0" rIns="0" bIns="0" rtlCol="0" anchor="t"/>
          <a:lstStyle/>
          <a:p>
            <a:pPr indent="0" marL="0">
              <a:buNone/>
            </a:pPr>
            <a:r>
              <a:rPr lang="en-US" sz="1200" i="1" dirty="0">
                <a:solidFill>
                  <a:srgbClr val="6B5F61"/>
                </a:solidFill>
                <a:latin typeface="Calibri" pitchFamily="34" charset="0"/>
                <a:ea typeface="Calibri" pitchFamily="34" charset="-122"/>
                <a:cs typeface="Calibri" pitchFamily="34" charset="-120"/>
              </a:rPr>
              <a:t>Convierte las relaciones de la vida real en oportunidades alineadas.</a:t>
            </a:r>
            <a:endParaRPr lang="en-US" sz="1200" dirty="0"/>
          </a:p>
        </p:txBody>
      </p:sp>
      <p:sp>
        <p:nvSpPr>
          <p:cNvPr id="21" name="Text 18"/>
          <p:cNvSpPr txBox="1"/>
          <p:nvPr/>
        </p:nvSpPr>
        <p:spPr>
          <a:xfrm>
            <a:off x="6217920" y="2606040"/>
            <a:ext cx="2331720" cy="20116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Bolsa de agua gratis + folleto</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Máquina en préstamo</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Puntos de recogida en centros de bienestar</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Demostraciones y ferias</a:t>
            </a:r>
            <a:endParaRPr lang="en-US" sz="1200" dirty="0"/>
          </a:p>
          <a:p>
            <a:pPr marL="342900" indent="-342900">
              <a:spcAft>
                <a:spcPts val="300"/>
              </a:spcAft>
              <a:buSzPct val="100000"/>
              <a:buChar char="•"/>
            </a:pPr>
            <a:r>
              <a:rPr lang="en-US" sz="1200" dirty="0">
                <a:solidFill>
                  <a:srgbClr val="2E2224"/>
                </a:solidFill>
                <a:latin typeface="Calibri" pitchFamily="34" charset="0"/>
                <a:ea typeface="Calibri" pitchFamily="34" charset="-122"/>
                <a:cs typeface="Calibri" pitchFamily="34" charset="-120"/>
              </a:rPr>
              <a:t>Membresías de agua compartida</a:t>
            </a:r>
            <a:endParaRPr lang="en-US" sz="12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Membresías de agua compartida (offline)</a:t>
            </a:r>
            <a:endParaRPr lang="en-US" sz="2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468880"/>
                <a:gridCol w="1920240"/>
                <a:gridCol w="1737360"/>
                <a:gridCol w="2103120"/>
              </a:tblGrid>
              <a:tr h="32918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Tipo de negocio</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2E22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 generado en un mes</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2E22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Unidades vendidas</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2E222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 comisiones de esas unidades</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2E2224"/>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Tienda de smoothies</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$2.480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$29.510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Estudio de bienestar</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$1.260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$4.190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Estudio de fitness</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$2.300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$1.400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Quiropráctico</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$1.295</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$2.410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Clínica de neurofeedback</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$2.275</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$6.300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MedSpa</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$1.300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$960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Hogar</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$1.500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$18.900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Hogar</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$520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$4.500</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Hogar</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$575</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c>
                  <a:txBody>
                    <a:bodyPr/>
                    <a:lstStyle/>
                    <a:p>
                      <a:pPr algn="l" indent="0" marL="0">
                        <a:buNone/>
                      </a:pPr>
                      <a:r>
                        <a:rPr lang="en-US" sz="1200" dirty="0">
                          <a:solidFill>
                            <a:srgbClr val="2E2224"/>
                          </a:solidFill>
                          <a:latin typeface="Calibri" pitchFamily="34" charset="0"/>
                          <a:ea typeface="Calibri" pitchFamily="34" charset="-122"/>
                          <a:cs typeface="Calibri" pitchFamily="34" charset="-120"/>
                        </a:rPr>
                        <a:t>$17.938</a:t>
                      </a:r>
                      <a:endParaRPr lang="en-US" sz="1200" dirty="0">
                        <a:latin typeface="Calibri" charset="0"/>
                        <a:ea typeface="Calibri" charset="0"/>
                        <a:cs typeface="Calibri" charset="0"/>
                      </a:endParaRPr>
                    </a:p>
                  </a:txBody>
                  <a:tcPr marL="91440" marR="91440" marT="45720" marB="45720" anchor="ctr">
                    <a:lnL w="6350" cap="flat" cmpd="sng" algn="ctr">
                      <a:solidFill>
                        <a:srgbClr val="E5DCDD"/>
                      </a:solidFill>
                      <a:prstDash val="solid"/>
                      <a:round/>
                      <a:headEnd type="none" w="med" len="med"/>
                      <a:tailEnd type="none" w="med" len="med"/>
                    </a:lnL>
                    <a:lnR w="6350" cap="flat" cmpd="sng" algn="ctr">
                      <a:solidFill>
                        <a:srgbClr val="E5DCDD"/>
                      </a:solidFill>
                      <a:prstDash val="solid"/>
                      <a:round/>
                      <a:headEnd type="none" w="med" len="med"/>
                      <a:tailEnd type="none" w="med" len="med"/>
                    </a:lnR>
                    <a:lnT w="6350" cap="flat" cmpd="sng" algn="ctr">
                      <a:solidFill>
                        <a:srgbClr val="E5DCDD"/>
                      </a:solidFill>
                      <a:prstDash val="solid"/>
                      <a:round/>
                      <a:headEnd type="none" w="med" len="med"/>
                      <a:tailEnd type="none" w="med" len="med"/>
                    </a:lnT>
                    <a:lnB w="6350" cap="flat" cmpd="sng" algn="ctr">
                      <a:solidFill>
                        <a:srgbClr val="E5DCDD"/>
                      </a:solidFill>
                      <a:prstDash val="solid"/>
                      <a:round/>
                      <a:headEnd type="none" w="med" len="med"/>
                      <a:tailEnd type="none" w="med" len="med"/>
                    </a:lnB>
                    <a:solidFill>
                      <a:srgbClr val="F7F2F2"/>
                    </a:solidFill>
                  </a:tcPr>
                </a:tc>
              </a:tr>
            </a:tbl>
          </a:graphicData>
        </a:graphic>
      </p:graphicFrame>
      <p:sp>
        <p:nvSpPr>
          <p:cNvPr id="5" name="Text 1"/>
          <p:cNvSpPr txBox="1"/>
          <p:nvPr/>
        </p:nvSpPr>
        <p:spPr>
          <a:xfrm>
            <a:off x="457200" y="4526280"/>
            <a:ext cx="7955280" cy="274320"/>
          </a:xfrm>
          <a:prstGeom prst="rect">
            <a:avLst/>
          </a:prstGeom>
          <a:noFill/>
          <a:ln/>
        </p:spPr>
        <p:txBody>
          <a:bodyPr wrap="square" lIns="0" tIns="0" rIns="0" bIns="0" rtlCol="0" anchor="t"/>
          <a:lstStyle/>
          <a:p>
            <a:pPr indent="0" marL="0">
              <a:buNone/>
            </a:pPr>
            <a:r>
              <a:rPr lang="en-US" sz="1100" i="1" dirty="0">
                <a:solidFill>
                  <a:srgbClr val="6B5F61"/>
                </a:solidFill>
                <a:latin typeface="Calibri" pitchFamily="34" charset="0"/>
                <a:ea typeface="Calibri" pitchFamily="34" charset="-122"/>
                <a:cs typeface="Calibri" pitchFamily="34" charset="-120"/>
              </a:rPr>
              <a:t>Miembros del equipo comparten el agua desde casa o en negocios locales. Datos alcanzados en un plazo de 4 a 8 meses.</a:t>
            </a:r>
            <a:endParaRPr lang="en-US" sz="11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Historias del modelo Wellness Partnership</a:t>
            </a:r>
            <a:endParaRPr lang="en-US" sz="2600" dirty="0"/>
          </a:p>
        </p:txBody>
      </p:sp>
      <p:sp>
        <p:nvSpPr>
          <p:cNvPr id="4" name="Shape 1"/>
          <p:cNvSpPr/>
          <p:nvPr/>
        </p:nvSpPr>
        <p:spPr>
          <a:xfrm>
            <a:off x="457200" y="1143000"/>
            <a:ext cx="2651760" cy="3474720"/>
          </a:xfrm>
          <a:prstGeom prst="roundRect">
            <a:avLst>
              <a:gd name="adj" fmla="val 5172"/>
            </a:avLst>
          </a:prstGeom>
          <a:solidFill>
            <a:srgbClr val="EE7A7A"/>
          </a:solidFill>
          <a:ln w="12700">
            <a:solidFill>
              <a:srgbClr val="EE7A7A"/>
            </a:solidFill>
            <a:prstDash val="solid"/>
          </a:ln>
        </p:spPr>
      </p:sp>
      <p:sp>
        <p:nvSpPr>
          <p:cNvPr id="5" name="Text 2"/>
          <p:cNvSpPr txBox="1"/>
          <p:nvPr/>
        </p:nvSpPr>
        <p:spPr>
          <a:xfrm>
            <a:off x="640080" y="1325880"/>
            <a:ext cx="2286000" cy="548640"/>
          </a:xfrm>
          <a:prstGeom prst="rect">
            <a:avLst/>
          </a:prstGeom>
          <a:noFill/>
          <a:ln/>
        </p:spPr>
        <p:txBody>
          <a:bodyPr wrap="square" lIns="0" tIns="0" rIns="0" bIns="0" rtlCol="0" anchor="t"/>
          <a:lstStyle/>
          <a:p>
            <a:pPr indent="0" marL="0">
              <a:buNone/>
            </a:pPr>
            <a:r>
              <a:rPr lang="en-US" sz="2600" b="1" dirty="0">
                <a:solidFill>
                  <a:srgbClr val="2E2224"/>
                </a:solidFill>
                <a:latin typeface="Arial" pitchFamily="34" charset="0"/>
                <a:ea typeface="Arial" pitchFamily="34" charset="-122"/>
                <a:cs typeface="Arial" pitchFamily="34" charset="-120"/>
              </a:rPr>
              <a:t>DANA</a:t>
            </a:r>
            <a:endParaRPr lang="en-US" sz="2600" dirty="0"/>
          </a:p>
        </p:txBody>
      </p:sp>
      <p:sp>
        <p:nvSpPr>
          <p:cNvPr id="6" name="Text 3"/>
          <p:cNvSpPr txBox="1"/>
          <p:nvPr/>
        </p:nvSpPr>
        <p:spPr>
          <a:xfrm>
            <a:off x="640080" y="1874520"/>
            <a:ext cx="2286000" cy="320040"/>
          </a:xfrm>
          <a:prstGeom prst="rect">
            <a:avLst/>
          </a:prstGeom>
          <a:noFill/>
          <a:ln/>
        </p:spPr>
        <p:txBody>
          <a:bodyPr wrap="square" lIns="0" tIns="0" rIns="0" bIns="0" rtlCol="0" anchor="t"/>
          <a:lstStyle/>
          <a:p>
            <a:pPr indent="0" marL="0">
              <a:buNone/>
            </a:pPr>
            <a:r>
              <a:rPr lang="en-US" sz="1200" b="1" spc="200" kern="0" dirty="0">
                <a:solidFill>
                  <a:srgbClr val="2E2224"/>
                </a:solidFill>
                <a:latin typeface="Calibri" pitchFamily="34" charset="0"/>
                <a:ea typeface="Calibri" pitchFamily="34" charset="-122"/>
                <a:cs typeface="Calibri" pitchFamily="34" charset="-120"/>
              </a:rPr>
              <a:t>ACUPUNTORA</a:t>
            </a:r>
            <a:endParaRPr lang="en-US" sz="1200" dirty="0"/>
          </a:p>
        </p:txBody>
      </p:sp>
      <p:sp>
        <p:nvSpPr>
          <p:cNvPr id="7" name="Text 4"/>
          <p:cNvSpPr txBox="1"/>
          <p:nvPr/>
        </p:nvSpPr>
        <p:spPr>
          <a:xfrm>
            <a:off x="640080" y="2331720"/>
            <a:ext cx="2286000" cy="2103120"/>
          </a:xfrm>
          <a:prstGeom prst="rect">
            <a:avLst/>
          </a:prstGeom>
          <a:noFill/>
          <a:ln/>
        </p:spPr>
        <p:txBody>
          <a:bodyPr wrap="square" lIns="0" tIns="0" rIns="0" bIns="0" rtlCol="0" anchor="t"/>
          <a:lstStyle/>
          <a:p>
            <a:pPr indent="0" marL="0">
              <a:buNone/>
            </a:pPr>
            <a:r>
              <a:rPr lang="en-US" sz="1400" dirty="0">
                <a:solidFill>
                  <a:srgbClr val="2E2224"/>
                </a:solidFill>
                <a:latin typeface="Calibri" pitchFamily="34" charset="0"/>
                <a:ea typeface="Calibri" pitchFamily="34" charset="-122"/>
                <a:cs typeface="Calibri" pitchFamily="34" charset="-120"/>
              </a:rPr>
              <a:t>Acupuntora y dueña de consulta privada durante 22 años; ha generado más de $336K con el modelo.</a:t>
            </a:r>
            <a:endParaRPr lang="en-US" sz="1400" dirty="0"/>
          </a:p>
        </p:txBody>
      </p:sp>
      <p:sp>
        <p:nvSpPr>
          <p:cNvPr id="8" name="Shape 5"/>
          <p:cNvSpPr/>
          <p:nvPr/>
        </p:nvSpPr>
        <p:spPr>
          <a:xfrm>
            <a:off x="3246120" y="1143000"/>
            <a:ext cx="2651760" cy="3474720"/>
          </a:xfrm>
          <a:prstGeom prst="roundRect">
            <a:avLst>
              <a:gd name="adj" fmla="val 5172"/>
            </a:avLst>
          </a:prstGeom>
          <a:solidFill>
            <a:srgbClr val="8B9AB7"/>
          </a:solidFill>
          <a:ln w="12700">
            <a:solidFill>
              <a:srgbClr val="8B9AB7"/>
            </a:solidFill>
            <a:prstDash val="solid"/>
          </a:ln>
        </p:spPr>
      </p:sp>
      <p:sp>
        <p:nvSpPr>
          <p:cNvPr id="9" name="Text 6"/>
          <p:cNvSpPr txBox="1"/>
          <p:nvPr/>
        </p:nvSpPr>
        <p:spPr>
          <a:xfrm>
            <a:off x="3429000" y="1325880"/>
            <a:ext cx="2286000" cy="548640"/>
          </a:xfrm>
          <a:prstGeom prst="rect">
            <a:avLst/>
          </a:prstGeom>
          <a:noFill/>
          <a:ln/>
        </p:spPr>
        <p:txBody>
          <a:bodyPr wrap="square" lIns="0" tIns="0" rIns="0" bIns="0" rtlCol="0" anchor="t"/>
          <a:lstStyle/>
          <a:p>
            <a:pPr indent="0" marL="0">
              <a:buNone/>
            </a:pPr>
            <a:r>
              <a:rPr lang="en-US" sz="2600" b="1" dirty="0">
                <a:solidFill>
                  <a:srgbClr val="2E2224"/>
                </a:solidFill>
                <a:latin typeface="Arial" pitchFamily="34" charset="0"/>
                <a:ea typeface="Arial" pitchFamily="34" charset="-122"/>
                <a:cs typeface="Arial" pitchFamily="34" charset="-120"/>
              </a:rPr>
              <a:t>ANNA</a:t>
            </a:r>
            <a:endParaRPr lang="en-US" sz="2600" dirty="0"/>
          </a:p>
        </p:txBody>
      </p:sp>
      <p:sp>
        <p:nvSpPr>
          <p:cNvPr id="10" name="Text 7"/>
          <p:cNvSpPr txBox="1"/>
          <p:nvPr/>
        </p:nvSpPr>
        <p:spPr>
          <a:xfrm>
            <a:off x="3429000" y="1874520"/>
            <a:ext cx="2286000" cy="320040"/>
          </a:xfrm>
          <a:prstGeom prst="rect">
            <a:avLst/>
          </a:prstGeom>
          <a:noFill/>
          <a:ln/>
        </p:spPr>
        <p:txBody>
          <a:bodyPr wrap="square" lIns="0" tIns="0" rIns="0" bIns="0" rtlCol="0" anchor="t"/>
          <a:lstStyle/>
          <a:p>
            <a:pPr indent="0" marL="0">
              <a:buNone/>
            </a:pPr>
            <a:r>
              <a:rPr lang="en-US" sz="1200" b="1" spc="200" kern="0" dirty="0">
                <a:solidFill>
                  <a:srgbClr val="2E2224"/>
                </a:solidFill>
                <a:latin typeface="Calibri" pitchFamily="34" charset="0"/>
                <a:ea typeface="Calibri" pitchFamily="34" charset="-122"/>
                <a:cs typeface="Calibri" pitchFamily="34" charset="-120"/>
              </a:rPr>
              <a:t>EJECUTIVA CORPORATIVA</a:t>
            </a:r>
            <a:endParaRPr lang="en-US" sz="1200" dirty="0"/>
          </a:p>
        </p:txBody>
      </p:sp>
      <p:sp>
        <p:nvSpPr>
          <p:cNvPr id="11" name="Text 8"/>
          <p:cNvSpPr txBox="1"/>
          <p:nvPr/>
        </p:nvSpPr>
        <p:spPr>
          <a:xfrm>
            <a:off x="3429000" y="2331720"/>
            <a:ext cx="2286000" cy="2103120"/>
          </a:xfrm>
          <a:prstGeom prst="rect">
            <a:avLst/>
          </a:prstGeom>
          <a:noFill/>
          <a:ln/>
        </p:spPr>
        <p:txBody>
          <a:bodyPr wrap="square" lIns="0" tIns="0" rIns="0" bIns="0" rtlCol="0" anchor="t"/>
          <a:lstStyle/>
          <a:p>
            <a:pPr indent="0" marL="0">
              <a:buNone/>
            </a:pPr>
            <a:r>
              <a:rPr lang="en-US" sz="1400" dirty="0">
                <a:solidFill>
                  <a:srgbClr val="2E2224"/>
                </a:solidFill>
                <a:latin typeface="Calibri" pitchFamily="34" charset="0"/>
                <a:ea typeface="Calibri" pitchFamily="34" charset="-122"/>
                <a:cs typeface="Calibri" pitchFamily="34" charset="-120"/>
              </a:rPr>
              <a:t>Ejecutiva de marketing durante 18+ años; duplicó sus ingresos en solo tres meses construyendo un negocio a su ritmo.</a:t>
            </a:r>
            <a:endParaRPr lang="en-US" sz="1400" dirty="0"/>
          </a:p>
        </p:txBody>
      </p:sp>
      <p:sp>
        <p:nvSpPr>
          <p:cNvPr id="12" name="Shape 9"/>
          <p:cNvSpPr/>
          <p:nvPr/>
        </p:nvSpPr>
        <p:spPr>
          <a:xfrm>
            <a:off x="6035040" y="1143000"/>
            <a:ext cx="2651760" cy="3474720"/>
          </a:xfrm>
          <a:prstGeom prst="roundRect">
            <a:avLst>
              <a:gd name="adj" fmla="val 5172"/>
            </a:avLst>
          </a:prstGeom>
          <a:solidFill>
            <a:srgbClr val="B9D3B1"/>
          </a:solidFill>
          <a:ln w="12700">
            <a:solidFill>
              <a:srgbClr val="B9D3B1"/>
            </a:solidFill>
            <a:prstDash val="solid"/>
          </a:ln>
        </p:spPr>
      </p:sp>
      <p:sp>
        <p:nvSpPr>
          <p:cNvPr id="13" name="Text 10"/>
          <p:cNvSpPr txBox="1"/>
          <p:nvPr/>
        </p:nvSpPr>
        <p:spPr>
          <a:xfrm>
            <a:off x="6217920" y="1325880"/>
            <a:ext cx="2286000" cy="548640"/>
          </a:xfrm>
          <a:prstGeom prst="rect">
            <a:avLst/>
          </a:prstGeom>
          <a:noFill/>
          <a:ln/>
        </p:spPr>
        <p:txBody>
          <a:bodyPr wrap="square" lIns="0" tIns="0" rIns="0" bIns="0" rtlCol="0" anchor="t"/>
          <a:lstStyle/>
          <a:p>
            <a:pPr indent="0" marL="0">
              <a:buNone/>
            </a:pPr>
            <a:r>
              <a:rPr lang="en-US" sz="2600" b="1" dirty="0">
                <a:solidFill>
                  <a:srgbClr val="2E2224"/>
                </a:solidFill>
                <a:latin typeface="Arial" pitchFamily="34" charset="0"/>
                <a:ea typeface="Arial" pitchFamily="34" charset="-122"/>
                <a:cs typeface="Arial" pitchFamily="34" charset="-120"/>
              </a:rPr>
              <a:t>MICHELLE</a:t>
            </a:r>
            <a:endParaRPr lang="en-US" sz="2600" dirty="0"/>
          </a:p>
        </p:txBody>
      </p:sp>
      <p:sp>
        <p:nvSpPr>
          <p:cNvPr id="14" name="Text 11"/>
          <p:cNvSpPr txBox="1"/>
          <p:nvPr/>
        </p:nvSpPr>
        <p:spPr>
          <a:xfrm>
            <a:off x="6217920" y="1874520"/>
            <a:ext cx="2286000" cy="320040"/>
          </a:xfrm>
          <a:prstGeom prst="rect">
            <a:avLst/>
          </a:prstGeom>
          <a:noFill/>
          <a:ln/>
        </p:spPr>
        <p:txBody>
          <a:bodyPr wrap="square" lIns="0" tIns="0" rIns="0" bIns="0" rtlCol="0" anchor="t"/>
          <a:lstStyle/>
          <a:p>
            <a:pPr indent="0" marL="0">
              <a:buNone/>
            </a:pPr>
            <a:r>
              <a:rPr lang="en-US" sz="1200" b="1" spc="200" kern="0" dirty="0">
                <a:solidFill>
                  <a:srgbClr val="2E2224"/>
                </a:solidFill>
                <a:latin typeface="Calibri" pitchFamily="34" charset="0"/>
                <a:ea typeface="Calibri" pitchFamily="34" charset="-122"/>
                <a:cs typeface="Calibri" pitchFamily="34" charset="-120"/>
              </a:rPr>
              <a:t>ENFERMERA HOLÍSTICA</a:t>
            </a:r>
            <a:endParaRPr lang="en-US" sz="1200" dirty="0"/>
          </a:p>
        </p:txBody>
      </p:sp>
      <p:sp>
        <p:nvSpPr>
          <p:cNvPr id="15" name="Text 12"/>
          <p:cNvSpPr txBox="1"/>
          <p:nvPr/>
        </p:nvSpPr>
        <p:spPr>
          <a:xfrm>
            <a:off x="6217920" y="2331720"/>
            <a:ext cx="2286000" cy="2103120"/>
          </a:xfrm>
          <a:prstGeom prst="rect">
            <a:avLst/>
          </a:prstGeom>
          <a:noFill/>
          <a:ln/>
        </p:spPr>
        <p:txBody>
          <a:bodyPr wrap="square" lIns="0" tIns="0" rIns="0" bIns="0" rtlCol="0" anchor="t"/>
          <a:lstStyle/>
          <a:p>
            <a:pPr indent="0" marL="0">
              <a:buNone/>
            </a:pPr>
            <a:r>
              <a:rPr lang="en-US" sz="1400" dirty="0">
                <a:solidFill>
                  <a:srgbClr val="2E2224"/>
                </a:solidFill>
                <a:latin typeface="Calibri" pitchFamily="34" charset="0"/>
                <a:ea typeface="Calibri" pitchFamily="34" charset="-122"/>
                <a:cs typeface="Calibri" pitchFamily="34" charset="-120"/>
              </a:rPr>
              <a:t>Enfermera de medicina occidental convertida en emprendedora holística; $100K+ en sus primeros 13 meses, con un día de $10.255, ayudando a 20+ familias.</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La infraestructura del millón de dólares</a:t>
            </a:r>
            <a:endParaRPr lang="en-US" sz="2600" dirty="0"/>
          </a:p>
        </p:txBody>
      </p:sp>
      <p:sp>
        <p:nvSpPr>
          <p:cNvPr id="4" name="Shape 1"/>
          <p:cNvSpPr/>
          <p:nvPr/>
        </p:nvSpPr>
        <p:spPr>
          <a:xfrm>
            <a:off x="457200" y="1097280"/>
            <a:ext cx="548640" cy="548640"/>
          </a:xfrm>
          <a:prstGeom prst="ellipse">
            <a:avLst/>
          </a:prstGeom>
          <a:solidFill>
            <a:srgbClr val="EE7A7A"/>
          </a:solidFill>
          <a:ln w="12700">
            <a:solidFill>
              <a:srgbClr val="EE7A7A"/>
            </a:solidFill>
            <a:prstDash val="solid"/>
          </a:ln>
        </p:spPr>
      </p:sp>
      <p:sp>
        <p:nvSpPr>
          <p:cNvPr id="5" name="Text 2"/>
          <p:cNvSpPr txBox="1"/>
          <p:nvPr/>
        </p:nvSpPr>
        <p:spPr>
          <a:xfrm>
            <a:off x="457200" y="109728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1</a:t>
            </a:r>
            <a:endParaRPr lang="en-US" sz="1320" dirty="0"/>
          </a:p>
        </p:txBody>
      </p:sp>
      <p:sp>
        <p:nvSpPr>
          <p:cNvPr id="6" name="Text 3"/>
          <p:cNvSpPr txBox="1"/>
          <p:nvPr/>
        </p:nvSpPr>
        <p:spPr>
          <a:xfrm>
            <a:off x="1188720" y="1078992"/>
            <a:ext cx="292608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Crea una conexión</a:t>
            </a:r>
            <a:endParaRPr lang="en-US" sz="1600" dirty="0"/>
          </a:p>
        </p:txBody>
      </p:sp>
      <p:sp>
        <p:nvSpPr>
          <p:cNvPr id="7" name="Text 4"/>
          <p:cNvSpPr txBox="1"/>
          <p:nvPr/>
        </p:nvSpPr>
        <p:spPr>
          <a:xfrm>
            <a:off x="4114800" y="1078992"/>
            <a:ext cx="4572000" cy="566928"/>
          </a:xfrm>
          <a:prstGeom prst="rect">
            <a:avLst/>
          </a:prstGeom>
          <a:noFill/>
          <a:ln/>
        </p:spPr>
        <p:txBody>
          <a:bodyPr wrap="square" lIns="0" tIns="0" rIns="0" bIns="0" rtlCol="0" anchor="ctr"/>
          <a:lstStyle/>
          <a:p>
            <a:pPr indent="0" marL="0">
              <a:buNone/>
            </a:pPr>
            <a:r>
              <a:rPr lang="en-US" sz="1400" i="1" dirty="0">
                <a:solidFill>
                  <a:srgbClr val="DCD3D4"/>
                </a:solidFill>
                <a:latin typeface="Calibri" pitchFamily="34" charset="0"/>
                <a:ea typeface="Calibri" pitchFamily="34" charset="-122"/>
                <a:cs typeface="Calibri" pitchFamily="34" charset="-120"/>
              </a:rPr>
              <a:t>Usa la conexión orgánica, pagada o en persona para encontrar gente alineada.</a:t>
            </a:r>
            <a:endParaRPr lang="en-US" sz="1400" dirty="0"/>
          </a:p>
        </p:txBody>
      </p:sp>
      <p:sp>
        <p:nvSpPr>
          <p:cNvPr id="8" name="Shape 5"/>
          <p:cNvSpPr/>
          <p:nvPr/>
        </p:nvSpPr>
        <p:spPr>
          <a:xfrm>
            <a:off x="457200" y="1810512"/>
            <a:ext cx="548640" cy="548640"/>
          </a:xfrm>
          <a:prstGeom prst="ellipse">
            <a:avLst/>
          </a:prstGeom>
          <a:solidFill>
            <a:srgbClr val="8B9AB7"/>
          </a:solidFill>
          <a:ln w="12700">
            <a:solidFill>
              <a:srgbClr val="8B9AB7"/>
            </a:solidFill>
            <a:prstDash val="solid"/>
          </a:ln>
        </p:spPr>
      </p:sp>
      <p:sp>
        <p:nvSpPr>
          <p:cNvPr id="9" name="Text 6"/>
          <p:cNvSpPr txBox="1"/>
          <p:nvPr/>
        </p:nvSpPr>
        <p:spPr>
          <a:xfrm>
            <a:off x="457200" y="1810512"/>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2</a:t>
            </a:r>
            <a:endParaRPr lang="en-US" sz="1320" dirty="0"/>
          </a:p>
        </p:txBody>
      </p:sp>
      <p:sp>
        <p:nvSpPr>
          <p:cNvPr id="10" name="Text 7"/>
          <p:cNvSpPr txBox="1"/>
          <p:nvPr/>
        </p:nvSpPr>
        <p:spPr>
          <a:xfrm>
            <a:off x="1188720" y="1792224"/>
            <a:ext cx="292608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Presenta la oportunidad</a:t>
            </a:r>
            <a:endParaRPr lang="en-US" sz="1600" dirty="0"/>
          </a:p>
        </p:txBody>
      </p:sp>
      <p:sp>
        <p:nvSpPr>
          <p:cNvPr id="11" name="Text 8"/>
          <p:cNvSpPr txBox="1"/>
          <p:nvPr/>
        </p:nvSpPr>
        <p:spPr>
          <a:xfrm>
            <a:off x="4114800" y="1792224"/>
            <a:ext cx="4572000" cy="566928"/>
          </a:xfrm>
          <a:prstGeom prst="rect">
            <a:avLst/>
          </a:prstGeom>
          <a:noFill/>
          <a:ln/>
        </p:spPr>
        <p:txBody>
          <a:bodyPr wrap="square" lIns="0" tIns="0" rIns="0" bIns="0" rtlCol="0" anchor="ctr"/>
          <a:lstStyle/>
          <a:p>
            <a:pPr indent="0" marL="0">
              <a:buNone/>
            </a:pPr>
            <a:r>
              <a:rPr lang="en-US" sz="1400" i="1" dirty="0">
                <a:solidFill>
                  <a:srgbClr val="DCD3D4"/>
                </a:solidFill>
                <a:latin typeface="Calibri" pitchFamily="34" charset="0"/>
                <a:ea typeface="Calibri" pitchFamily="34" charset="-122"/>
                <a:cs typeface="Calibri" pitchFamily="34" charset="-120"/>
              </a:rPr>
              <a:t>Comparte algo que de verdad mejora su vida.</a:t>
            </a:r>
            <a:endParaRPr lang="en-US" sz="1400" dirty="0"/>
          </a:p>
        </p:txBody>
      </p:sp>
      <p:sp>
        <p:nvSpPr>
          <p:cNvPr id="12" name="Shape 9"/>
          <p:cNvSpPr/>
          <p:nvPr/>
        </p:nvSpPr>
        <p:spPr>
          <a:xfrm>
            <a:off x="457200" y="2523744"/>
            <a:ext cx="548640" cy="548640"/>
          </a:xfrm>
          <a:prstGeom prst="ellipse">
            <a:avLst/>
          </a:prstGeom>
          <a:solidFill>
            <a:srgbClr val="B9D3B1"/>
          </a:solidFill>
          <a:ln w="12700">
            <a:solidFill>
              <a:srgbClr val="B9D3B1"/>
            </a:solidFill>
            <a:prstDash val="solid"/>
          </a:ln>
        </p:spPr>
      </p:sp>
      <p:sp>
        <p:nvSpPr>
          <p:cNvPr id="13" name="Text 10"/>
          <p:cNvSpPr txBox="1"/>
          <p:nvPr/>
        </p:nvSpPr>
        <p:spPr>
          <a:xfrm>
            <a:off x="457200" y="2523744"/>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3</a:t>
            </a:r>
            <a:endParaRPr lang="en-US" sz="1320" dirty="0"/>
          </a:p>
        </p:txBody>
      </p:sp>
      <p:sp>
        <p:nvSpPr>
          <p:cNvPr id="14" name="Text 11"/>
          <p:cNvSpPr txBox="1"/>
          <p:nvPr/>
        </p:nvSpPr>
        <p:spPr>
          <a:xfrm>
            <a:off x="1188720" y="2505456"/>
            <a:ext cx="292608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Conéctalo a un sistema</a:t>
            </a:r>
            <a:endParaRPr lang="en-US" sz="1600" dirty="0"/>
          </a:p>
        </p:txBody>
      </p:sp>
      <p:sp>
        <p:nvSpPr>
          <p:cNvPr id="15" name="Text 12"/>
          <p:cNvSpPr txBox="1"/>
          <p:nvPr/>
        </p:nvSpPr>
        <p:spPr>
          <a:xfrm>
            <a:off x="4114800" y="2505456"/>
            <a:ext cx="4572000" cy="566928"/>
          </a:xfrm>
          <a:prstGeom prst="rect">
            <a:avLst/>
          </a:prstGeom>
          <a:noFill/>
          <a:ln/>
        </p:spPr>
        <p:txBody>
          <a:bodyPr wrap="square" lIns="0" tIns="0" rIns="0" bIns="0" rtlCol="0" anchor="ctr"/>
          <a:lstStyle/>
          <a:p>
            <a:pPr indent="0" marL="0">
              <a:buNone/>
            </a:pPr>
            <a:r>
              <a:rPr lang="en-US" sz="1400" i="1" dirty="0">
                <a:solidFill>
                  <a:srgbClr val="DCD3D4"/>
                </a:solidFill>
                <a:latin typeface="Calibri" pitchFamily="34" charset="0"/>
                <a:ea typeface="Calibri" pitchFamily="34" charset="-122"/>
                <a:cs typeface="Calibri" pitchFamily="34" charset="-120"/>
              </a:rPr>
              <a:t>Guíalos por un proceso que genera confianza y comprensión.</a:t>
            </a:r>
            <a:endParaRPr lang="en-US" sz="1400" dirty="0"/>
          </a:p>
        </p:txBody>
      </p:sp>
      <p:sp>
        <p:nvSpPr>
          <p:cNvPr id="16" name="Shape 13"/>
          <p:cNvSpPr/>
          <p:nvPr/>
        </p:nvSpPr>
        <p:spPr>
          <a:xfrm>
            <a:off x="457200" y="3236976"/>
            <a:ext cx="548640" cy="548640"/>
          </a:xfrm>
          <a:prstGeom prst="ellipse">
            <a:avLst/>
          </a:prstGeom>
          <a:solidFill>
            <a:srgbClr val="F2C14E"/>
          </a:solidFill>
          <a:ln w="12700">
            <a:solidFill>
              <a:srgbClr val="F2C14E"/>
            </a:solidFill>
            <a:prstDash val="solid"/>
          </a:ln>
        </p:spPr>
      </p:sp>
      <p:sp>
        <p:nvSpPr>
          <p:cNvPr id="17" name="Text 14"/>
          <p:cNvSpPr txBox="1"/>
          <p:nvPr/>
        </p:nvSpPr>
        <p:spPr>
          <a:xfrm>
            <a:off x="457200" y="3236976"/>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4</a:t>
            </a:r>
            <a:endParaRPr lang="en-US" sz="1320" dirty="0"/>
          </a:p>
        </p:txBody>
      </p:sp>
      <p:sp>
        <p:nvSpPr>
          <p:cNvPr id="18" name="Text 15"/>
          <p:cNvSpPr txBox="1"/>
          <p:nvPr/>
        </p:nvSpPr>
        <p:spPr>
          <a:xfrm>
            <a:off x="1188720" y="3218688"/>
            <a:ext cx="292608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Automatiza el proceso</a:t>
            </a:r>
            <a:endParaRPr lang="en-US" sz="1600" dirty="0"/>
          </a:p>
        </p:txBody>
      </p:sp>
      <p:sp>
        <p:nvSpPr>
          <p:cNvPr id="19" name="Text 16"/>
          <p:cNvSpPr txBox="1"/>
          <p:nvPr/>
        </p:nvSpPr>
        <p:spPr>
          <a:xfrm>
            <a:off x="4114800" y="3218688"/>
            <a:ext cx="4572000" cy="566928"/>
          </a:xfrm>
          <a:prstGeom prst="rect">
            <a:avLst/>
          </a:prstGeom>
          <a:noFill/>
          <a:ln/>
        </p:spPr>
        <p:txBody>
          <a:bodyPr wrap="square" lIns="0" tIns="0" rIns="0" bIns="0" rtlCol="0" anchor="ctr"/>
          <a:lstStyle/>
          <a:p>
            <a:pPr indent="0" marL="0">
              <a:buNone/>
            </a:pPr>
            <a:r>
              <a:rPr lang="en-US" sz="1400" i="1" dirty="0">
                <a:solidFill>
                  <a:srgbClr val="DCD3D4"/>
                </a:solidFill>
                <a:latin typeface="Calibri" pitchFamily="34" charset="0"/>
                <a:ea typeface="Calibri" pitchFamily="34" charset="-122"/>
                <a:cs typeface="Calibri" pitchFamily="34" charset="-120"/>
              </a:rPr>
              <a:t>Deja que los sistemas nutran, eduquen y conviertan sin tu tiempo.</a:t>
            </a:r>
            <a:endParaRPr lang="en-US" sz="1400" dirty="0"/>
          </a:p>
        </p:txBody>
      </p:sp>
      <p:sp>
        <p:nvSpPr>
          <p:cNvPr id="20" name="Shape 17"/>
          <p:cNvSpPr/>
          <p:nvPr/>
        </p:nvSpPr>
        <p:spPr>
          <a:xfrm>
            <a:off x="457200" y="3950208"/>
            <a:ext cx="548640" cy="548640"/>
          </a:xfrm>
          <a:prstGeom prst="ellipse">
            <a:avLst/>
          </a:prstGeom>
          <a:solidFill>
            <a:srgbClr val="F4A78A"/>
          </a:solidFill>
          <a:ln w="12700">
            <a:solidFill>
              <a:srgbClr val="F4A78A"/>
            </a:solidFill>
            <a:prstDash val="solid"/>
          </a:ln>
        </p:spPr>
      </p:sp>
      <p:sp>
        <p:nvSpPr>
          <p:cNvPr id="21" name="Text 18"/>
          <p:cNvSpPr txBox="1"/>
          <p:nvPr/>
        </p:nvSpPr>
        <p:spPr>
          <a:xfrm>
            <a:off x="457200" y="3950208"/>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5</a:t>
            </a:r>
            <a:endParaRPr lang="en-US" sz="1320" dirty="0"/>
          </a:p>
        </p:txBody>
      </p:sp>
      <p:sp>
        <p:nvSpPr>
          <p:cNvPr id="22" name="Text 19"/>
          <p:cNvSpPr txBox="1"/>
          <p:nvPr/>
        </p:nvSpPr>
        <p:spPr>
          <a:xfrm>
            <a:off x="1188720" y="3931920"/>
            <a:ext cx="2926080"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Acelera con mentoría</a:t>
            </a:r>
            <a:endParaRPr lang="en-US" sz="1600" dirty="0"/>
          </a:p>
        </p:txBody>
      </p:sp>
      <p:sp>
        <p:nvSpPr>
          <p:cNvPr id="23" name="Text 20"/>
          <p:cNvSpPr txBox="1"/>
          <p:nvPr/>
        </p:nvSpPr>
        <p:spPr>
          <a:xfrm>
            <a:off x="4114800" y="3931920"/>
            <a:ext cx="4572000" cy="566928"/>
          </a:xfrm>
          <a:prstGeom prst="rect">
            <a:avLst/>
          </a:prstGeom>
          <a:noFill/>
          <a:ln/>
        </p:spPr>
        <p:txBody>
          <a:bodyPr wrap="square" lIns="0" tIns="0" rIns="0" bIns="0" rtlCol="0" anchor="ctr"/>
          <a:lstStyle/>
          <a:p>
            <a:pPr indent="0" marL="0">
              <a:buNone/>
            </a:pPr>
            <a:r>
              <a:rPr lang="en-US" sz="1400" i="1" dirty="0">
                <a:solidFill>
                  <a:srgbClr val="DCD3D4"/>
                </a:solidFill>
                <a:latin typeface="Calibri" pitchFamily="34" charset="0"/>
                <a:ea typeface="Calibri" pitchFamily="34" charset="-122"/>
                <a:cs typeface="Calibri" pitchFamily="34" charset="-120"/>
              </a:rPr>
              <a:t>Aprende de quien ya lo ha hecho.</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No tienes que reinventar la rueda</a:t>
            </a:r>
            <a:endParaRPr lang="en-US" sz="2600" dirty="0"/>
          </a:p>
        </p:txBody>
      </p:sp>
      <p:sp>
        <p:nvSpPr>
          <p:cNvPr id="4" name="Shape 1"/>
          <p:cNvSpPr/>
          <p:nvPr/>
        </p:nvSpPr>
        <p:spPr>
          <a:xfrm>
            <a:off x="457200" y="1280160"/>
            <a:ext cx="1417320" cy="2103120"/>
          </a:xfrm>
          <a:prstGeom prst="roundRect">
            <a:avLst>
              <a:gd name="adj" fmla="val 9677"/>
            </a:avLst>
          </a:prstGeom>
          <a:solidFill>
            <a:srgbClr val="FBEAEA"/>
          </a:solidFill>
          <a:ln w="12700">
            <a:solidFill>
              <a:srgbClr val="D9CFD0"/>
            </a:solidFill>
            <a:prstDash val="solid"/>
          </a:ln>
        </p:spPr>
      </p:sp>
      <p:sp>
        <p:nvSpPr>
          <p:cNvPr id="5" name="Shape 2"/>
          <p:cNvSpPr/>
          <p:nvPr/>
        </p:nvSpPr>
        <p:spPr>
          <a:xfrm>
            <a:off x="886968" y="1463040"/>
            <a:ext cx="548640" cy="548640"/>
          </a:xfrm>
          <a:prstGeom prst="ellipse">
            <a:avLst/>
          </a:prstGeom>
          <a:solidFill>
            <a:srgbClr val="EE7A7A"/>
          </a:solidFill>
          <a:ln w="12700">
            <a:solidFill>
              <a:srgbClr val="EE7A7A"/>
            </a:solidFill>
            <a:prstDash val="solid"/>
          </a:ln>
        </p:spPr>
      </p:sp>
      <p:sp>
        <p:nvSpPr>
          <p:cNvPr id="6" name="Text 3"/>
          <p:cNvSpPr txBox="1"/>
          <p:nvPr/>
        </p:nvSpPr>
        <p:spPr>
          <a:xfrm>
            <a:off x="886968" y="146304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1</a:t>
            </a:r>
            <a:endParaRPr lang="en-US" sz="1320" dirty="0"/>
          </a:p>
        </p:txBody>
      </p:sp>
      <p:sp>
        <p:nvSpPr>
          <p:cNvPr id="7" name="Text 4"/>
          <p:cNvSpPr txBox="1"/>
          <p:nvPr/>
        </p:nvSpPr>
        <p:spPr>
          <a:xfrm>
            <a:off x="548640" y="2148840"/>
            <a:ext cx="1234440" cy="1143000"/>
          </a:xfrm>
          <a:prstGeom prst="rect">
            <a:avLst/>
          </a:prstGeom>
          <a:noFill/>
          <a:ln/>
        </p:spPr>
        <p:txBody>
          <a:bodyPr wrap="square" lIns="0" tIns="0" rIns="0" bIns="0" rtlCol="0" anchor="t"/>
          <a:lstStyle/>
          <a:p>
            <a:pPr algn="ctr" indent="0" marL="0">
              <a:buNone/>
            </a:pPr>
            <a:r>
              <a:rPr lang="en-US" sz="1200" b="1" dirty="0">
                <a:solidFill>
                  <a:srgbClr val="2E2224"/>
                </a:solidFill>
                <a:latin typeface="Calibri" pitchFamily="34" charset="0"/>
                <a:ea typeface="Calibri" pitchFamily="34" charset="-122"/>
                <a:cs typeface="Calibri" pitchFamily="34" charset="-120"/>
              </a:rPr>
              <a:t>Anuncio / post orgánico / material en persona</a:t>
            </a:r>
            <a:endParaRPr lang="en-US" sz="1200" dirty="0"/>
          </a:p>
        </p:txBody>
      </p:sp>
      <p:sp>
        <p:nvSpPr>
          <p:cNvPr id="8" name="Text 5"/>
          <p:cNvSpPr txBox="1"/>
          <p:nvPr/>
        </p:nvSpPr>
        <p:spPr>
          <a:xfrm>
            <a:off x="1874520" y="2103120"/>
            <a:ext cx="283464" cy="457200"/>
          </a:xfrm>
          <a:prstGeom prst="rect">
            <a:avLst/>
          </a:prstGeom>
          <a:noFill/>
          <a:ln/>
        </p:spPr>
        <p:txBody>
          <a:bodyPr wrap="square" lIns="0" tIns="0" rIns="0" bIns="0" rtlCol="0" anchor="t"/>
          <a:lstStyle/>
          <a:p>
            <a:pPr algn="ctr" indent="0" marL="0">
              <a:buNone/>
            </a:pPr>
            <a:r>
              <a:rPr lang="en-US" sz="1800" b="1" dirty="0">
                <a:solidFill>
                  <a:srgbClr val="6B5F61"/>
                </a:solidFill>
                <a:latin typeface="Calibri" pitchFamily="34" charset="0"/>
                <a:ea typeface="Calibri" pitchFamily="34" charset="-122"/>
                <a:cs typeface="Calibri" pitchFamily="34" charset="-120"/>
              </a:rPr>
              <a:t>→</a:t>
            </a:r>
            <a:endParaRPr lang="en-US" sz="1800" dirty="0"/>
          </a:p>
        </p:txBody>
      </p:sp>
      <p:sp>
        <p:nvSpPr>
          <p:cNvPr id="9" name="Shape 6"/>
          <p:cNvSpPr/>
          <p:nvPr/>
        </p:nvSpPr>
        <p:spPr>
          <a:xfrm>
            <a:off x="2157984" y="1280160"/>
            <a:ext cx="1417320" cy="2103120"/>
          </a:xfrm>
          <a:prstGeom prst="roundRect">
            <a:avLst>
              <a:gd name="adj" fmla="val 9677"/>
            </a:avLst>
          </a:prstGeom>
          <a:solidFill>
            <a:srgbClr val="E8ECF3"/>
          </a:solidFill>
          <a:ln w="12700">
            <a:solidFill>
              <a:srgbClr val="D9CFD0"/>
            </a:solidFill>
            <a:prstDash val="solid"/>
          </a:ln>
        </p:spPr>
      </p:sp>
      <p:sp>
        <p:nvSpPr>
          <p:cNvPr id="10" name="Shape 7"/>
          <p:cNvSpPr/>
          <p:nvPr/>
        </p:nvSpPr>
        <p:spPr>
          <a:xfrm>
            <a:off x="2587752" y="1463040"/>
            <a:ext cx="548640" cy="548640"/>
          </a:xfrm>
          <a:prstGeom prst="ellipse">
            <a:avLst/>
          </a:prstGeom>
          <a:solidFill>
            <a:srgbClr val="8B9AB7"/>
          </a:solidFill>
          <a:ln w="12700">
            <a:solidFill>
              <a:srgbClr val="8B9AB7"/>
            </a:solidFill>
            <a:prstDash val="solid"/>
          </a:ln>
        </p:spPr>
      </p:sp>
      <p:sp>
        <p:nvSpPr>
          <p:cNvPr id="11" name="Text 8"/>
          <p:cNvSpPr txBox="1"/>
          <p:nvPr/>
        </p:nvSpPr>
        <p:spPr>
          <a:xfrm>
            <a:off x="2587752" y="146304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2</a:t>
            </a:r>
            <a:endParaRPr lang="en-US" sz="1320" dirty="0"/>
          </a:p>
        </p:txBody>
      </p:sp>
      <p:sp>
        <p:nvSpPr>
          <p:cNvPr id="12" name="Text 9"/>
          <p:cNvSpPr txBox="1"/>
          <p:nvPr/>
        </p:nvSpPr>
        <p:spPr>
          <a:xfrm>
            <a:off x="2249424" y="2148840"/>
            <a:ext cx="1234440" cy="1143000"/>
          </a:xfrm>
          <a:prstGeom prst="rect">
            <a:avLst/>
          </a:prstGeom>
          <a:noFill/>
          <a:ln/>
        </p:spPr>
        <p:txBody>
          <a:bodyPr wrap="square" lIns="0" tIns="0" rIns="0" bIns="0" rtlCol="0" anchor="t"/>
          <a:lstStyle/>
          <a:p>
            <a:pPr algn="ctr" indent="0" marL="0">
              <a:buNone/>
            </a:pPr>
            <a:r>
              <a:rPr lang="en-US" sz="1200" b="1" dirty="0">
                <a:solidFill>
                  <a:srgbClr val="2E2224"/>
                </a:solidFill>
                <a:latin typeface="Calibri" pitchFamily="34" charset="0"/>
                <a:ea typeface="Calibri" pitchFamily="34" charset="-122"/>
                <a:cs typeface="Calibri" pitchFamily="34" charset="-120"/>
              </a:rPr>
              <a:t>Clase gratuita o evento</a:t>
            </a:r>
            <a:endParaRPr lang="en-US" sz="1200" dirty="0"/>
          </a:p>
        </p:txBody>
      </p:sp>
      <p:sp>
        <p:nvSpPr>
          <p:cNvPr id="13" name="Text 10"/>
          <p:cNvSpPr txBox="1"/>
          <p:nvPr/>
        </p:nvSpPr>
        <p:spPr>
          <a:xfrm>
            <a:off x="3575304" y="2103120"/>
            <a:ext cx="283464" cy="457200"/>
          </a:xfrm>
          <a:prstGeom prst="rect">
            <a:avLst/>
          </a:prstGeom>
          <a:noFill/>
          <a:ln/>
        </p:spPr>
        <p:txBody>
          <a:bodyPr wrap="square" lIns="0" tIns="0" rIns="0" bIns="0" rtlCol="0" anchor="t"/>
          <a:lstStyle/>
          <a:p>
            <a:pPr algn="ctr" indent="0" marL="0">
              <a:buNone/>
            </a:pPr>
            <a:r>
              <a:rPr lang="en-US" sz="1800" b="1" dirty="0">
                <a:solidFill>
                  <a:srgbClr val="6B5F61"/>
                </a:solidFill>
                <a:latin typeface="Calibri" pitchFamily="34" charset="0"/>
                <a:ea typeface="Calibri" pitchFamily="34" charset="-122"/>
                <a:cs typeface="Calibri" pitchFamily="34" charset="-120"/>
              </a:rPr>
              <a:t>→</a:t>
            </a:r>
            <a:endParaRPr lang="en-US" sz="1800" dirty="0"/>
          </a:p>
        </p:txBody>
      </p:sp>
      <p:sp>
        <p:nvSpPr>
          <p:cNvPr id="14" name="Shape 11"/>
          <p:cNvSpPr/>
          <p:nvPr/>
        </p:nvSpPr>
        <p:spPr>
          <a:xfrm>
            <a:off x="3858768" y="1280160"/>
            <a:ext cx="1417320" cy="2103120"/>
          </a:xfrm>
          <a:prstGeom prst="roundRect">
            <a:avLst>
              <a:gd name="adj" fmla="val 9677"/>
            </a:avLst>
          </a:prstGeom>
          <a:solidFill>
            <a:srgbClr val="EDF5EA"/>
          </a:solidFill>
          <a:ln w="12700">
            <a:solidFill>
              <a:srgbClr val="D9CFD0"/>
            </a:solidFill>
            <a:prstDash val="solid"/>
          </a:ln>
        </p:spPr>
      </p:sp>
      <p:sp>
        <p:nvSpPr>
          <p:cNvPr id="15" name="Shape 12"/>
          <p:cNvSpPr/>
          <p:nvPr/>
        </p:nvSpPr>
        <p:spPr>
          <a:xfrm>
            <a:off x="4288536" y="1463040"/>
            <a:ext cx="548640" cy="548640"/>
          </a:xfrm>
          <a:prstGeom prst="ellipse">
            <a:avLst/>
          </a:prstGeom>
          <a:solidFill>
            <a:srgbClr val="6E9C64"/>
          </a:solidFill>
          <a:ln w="12700">
            <a:solidFill>
              <a:srgbClr val="6E9C64"/>
            </a:solidFill>
            <a:prstDash val="solid"/>
          </a:ln>
        </p:spPr>
      </p:sp>
      <p:sp>
        <p:nvSpPr>
          <p:cNvPr id="16" name="Text 13"/>
          <p:cNvSpPr txBox="1"/>
          <p:nvPr/>
        </p:nvSpPr>
        <p:spPr>
          <a:xfrm>
            <a:off x="4288536" y="146304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3</a:t>
            </a:r>
            <a:endParaRPr lang="en-US" sz="1320" dirty="0"/>
          </a:p>
        </p:txBody>
      </p:sp>
      <p:sp>
        <p:nvSpPr>
          <p:cNvPr id="17" name="Text 14"/>
          <p:cNvSpPr txBox="1"/>
          <p:nvPr/>
        </p:nvSpPr>
        <p:spPr>
          <a:xfrm>
            <a:off x="3950208" y="2148840"/>
            <a:ext cx="1234440" cy="1143000"/>
          </a:xfrm>
          <a:prstGeom prst="rect">
            <a:avLst/>
          </a:prstGeom>
          <a:noFill/>
          <a:ln/>
        </p:spPr>
        <p:txBody>
          <a:bodyPr wrap="square" lIns="0" tIns="0" rIns="0" bIns="0" rtlCol="0" anchor="t"/>
          <a:lstStyle/>
          <a:p>
            <a:pPr algn="ctr" indent="0" marL="0">
              <a:buNone/>
            </a:pPr>
            <a:r>
              <a:rPr lang="en-US" sz="1200" b="1" dirty="0">
                <a:solidFill>
                  <a:srgbClr val="2E2224"/>
                </a:solidFill>
                <a:latin typeface="Calibri" pitchFamily="34" charset="0"/>
                <a:ea typeface="Calibri" pitchFamily="34" charset="-122"/>
                <a:cs typeface="Calibri" pitchFamily="34" charset="-120"/>
              </a:rPr>
              <a:t>Proceso de aprendizaje automatizado</a:t>
            </a:r>
            <a:endParaRPr lang="en-US" sz="1200" dirty="0"/>
          </a:p>
        </p:txBody>
      </p:sp>
      <p:sp>
        <p:nvSpPr>
          <p:cNvPr id="18" name="Text 15"/>
          <p:cNvSpPr txBox="1"/>
          <p:nvPr/>
        </p:nvSpPr>
        <p:spPr>
          <a:xfrm>
            <a:off x="5276088" y="2103120"/>
            <a:ext cx="283464" cy="457200"/>
          </a:xfrm>
          <a:prstGeom prst="rect">
            <a:avLst/>
          </a:prstGeom>
          <a:noFill/>
          <a:ln/>
        </p:spPr>
        <p:txBody>
          <a:bodyPr wrap="square" lIns="0" tIns="0" rIns="0" bIns="0" rtlCol="0" anchor="t"/>
          <a:lstStyle/>
          <a:p>
            <a:pPr algn="ctr" indent="0" marL="0">
              <a:buNone/>
            </a:pPr>
            <a:r>
              <a:rPr lang="en-US" sz="1800" b="1" dirty="0">
                <a:solidFill>
                  <a:srgbClr val="6B5F61"/>
                </a:solidFill>
                <a:latin typeface="Calibri" pitchFamily="34" charset="0"/>
                <a:ea typeface="Calibri" pitchFamily="34" charset="-122"/>
                <a:cs typeface="Calibri" pitchFamily="34" charset="-120"/>
              </a:rPr>
              <a:t>→</a:t>
            </a:r>
            <a:endParaRPr lang="en-US" sz="1800" dirty="0"/>
          </a:p>
        </p:txBody>
      </p:sp>
      <p:sp>
        <p:nvSpPr>
          <p:cNvPr id="19" name="Shape 16"/>
          <p:cNvSpPr/>
          <p:nvPr/>
        </p:nvSpPr>
        <p:spPr>
          <a:xfrm>
            <a:off x="5559552" y="1280160"/>
            <a:ext cx="1417320" cy="2103120"/>
          </a:xfrm>
          <a:prstGeom prst="roundRect">
            <a:avLst>
              <a:gd name="adj" fmla="val 9677"/>
            </a:avLst>
          </a:prstGeom>
          <a:solidFill>
            <a:srgbClr val="FDF3DC"/>
          </a:solidFill>
          <a:ln w="12700">
            <a:solidFill>
              <a:srgbClr val="D9CFD0"/>
            </a:solidFill>
            <a:prstDash val="solid"/>
          </a:ln>
        </p:spPr>
      </p:sp>
      <p:sp>
        <p:nvSpPr>
          <p:cNvPr id="20" name="Shape 17"/>
          <p:cNvSpPr/>
          <p:nvPr/>
        </p:nvSpPr>
        <p:spPr>
          <a:xfrm>
            <a:off x="5989320" y="1463040"/>
            <a:ext cx="548640" cy="548640"/>
          </a:xfrm>
          <a:prstGeom prst="ellipse">
            <a:avLst/>
          </a:prstGeom>
          <a:solidFill>
            <a:srgbClr val="F2C14E"/>
          </a:solidFill>
          <a:ln w="12700">
            <a:solidFill>
              <a:srgbClr val="F2C14E"/>
            </a:solidFill>
            <a:prstDash val="solid"/>
          </a:ln>
        </p:spPr>
      </p:sp>
      <p:sp>
        <p:nvSpPr>
          <p:cNvPr id="21" name="Text 18"/>
          <p:cNvSpPr txBox="1"/>
          <p:nvPr/>
        </p:nvSpPr>
        <p:spPr>
          <a:xfrm>
            <a:off x="5989320" y="146304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4</a:t>
            </a:r>
            <a:endParaRPr lang="en-US" sz="1320" dirty="0"/>
          </a:p>
        </p:txBody>
      </p:sp>
      <p:sp>
        <p:nvSpPr>
          <p:cNvPr id="22" name="Text 19"/>
          <p:cNvSpPr txBox="1"/>
          <p:nvPr/>
        </p:nvSpPr>
        <p:spPr>
          <a:xfrm>
            <a:off x="5650992" y="2148840"/>
            <a:ext cx="1234440" cy="1143000"/>
          </a:xfrm>
          <a:prstGeom prst="rect">
            <a:avLst/>
          </a:prstGeom>
          <a:noFill/>
          <a:ln/>
        </p:spPr>
        <p:txBody>
          <a:bodyPr wrap="square" lIns="0" tIns="0" rIns="0" bIns="0" rtlCol="0" anchor="t"/>
          <a:lstStyle/>
          <a:p>
            <a:pPr algn="ctr" indent="0" marL="0">
              <a:buNone/>
            </a:pPr>
            <a:r>
              <a:rPr lang="en-US" sz="1200" b="1" dirty="0">
                <a:solidFill>
                  <a:srgbClr val="2E2224"/>
                </a:solidFill>
                <a:latin typeface="Calibri" pitchFamily="34" charset="0"/>
                <a:ea typeface="Calibri" pitchFamily="34" charset="-122"/>
                <a:cs typeface="Calibri" pitchFamily="34" charset="-120"/>
              </a:rPr>
              <a:t>Paga la oferta online</a:t>
            </a:r>
            <a:endParaRPr lang="en-US" sz="1200" dirty="0"/>
          </a:p>
        </p:txBody>
      </p:sp>
      <p:sp>
        <p:nvSpPr>
          <p:cNvPr id="23" name="Text 20"/>
          <p:cNvSpPr txBox="1"/>
          <p:nvPr/>
        </p:nvSpPr>
        <p:spPr>
          <a:xfrm>
            <a:off x="6976872" y="2103120"/>
            <a:ext cx="283464" cy="457200"/>
          </a:xfrm>
          <a:prstGeom prst="rect">
            <a:avLst/>
          </a:prstGeom>
          <a:noFill/>
          <a:ln/>
        </p:spPr>
        <p:txBody>
          <a:bodyPr wrap="square" lIns="0" tIns="0" rIns="0" bIns="0" rtlCol="0" anchor="t"/>
          <a:lstStyle/>
          <a:p>
            <a:pPr algn="ctr" indent="0" marL="0">
              <a:buNone/>
            </a:pPr>
            <a:r>
              <a:rPr lang="en-US" sz="1800" b="1" dirty="0">
                <a:solidFill>
                  <a:srgbClr val="6B5F61"/>
                </a:solidFill>
                <a:latin typeface="Calibri" pitchFamily="34" charset="0"/>
                <a:ea typeface="Calibri" pitchFamily="34" charset="-122"/>
                <a:cs typeface="Calibri" pitchFamily="34" charset="-120"/>
              </a:rPr>
              <a:t>→</a:t>
            </a:r>
            <a:endParaRPr lang="en-US" sz="1800" dirty="0"/>
          </a:p>
        </p:txBody>
      </p:sp>
      <p:sp>
        <p:nvSpPr>
          <p:cNvPr id="24" name="Shape 21"/>
          <p:cNvSpPr/>
          <p:nvPr/>
        </p:nvSpPr>
        <p:spPr>
          <a:xfrm>
            <a:off x="7260336" y="1280160"/>
            <a:ext cx="1417320" cy="2103120"/>
          </a:xfrm>
          <a:prstGeom prst="roundRect">
            <a:avLst>
              <a:gd name="adj" fmla="val 9677"/>
            </a:avLst>
          </a:prstGeom>
          <a:solidFill>
            <a:srgbClr val="FBEAEA"/>
          </a:solidFill>
          <a:ln w="12700">
            <a:solidFill>
              <a:srgbClr val="D9CFD0"/>
            </a:solidFill>
            <a:prstDash val="solid"/>
          </a:ln>
        </p:spPr>
      </p:sp>
      <p:sp>
        <p:nvSpPr>
          <p:cNvPr id="25" name="Shape 22"/>
          <p:cNvSpPr/>
          <p:nvPr/>
        </p:nvSpPr>
        <p:spPr>
          <a:xfrm>
            <a:off x="7690104" y="1463040"/>
            <a:ext cx="548640" cy="548640"/>
          </a:xfrm>
          <a:prstGeom prst="ellipse">
            <a:avLst/>
          </a:prstGeom>
          <a:solidFill>
            <a:srgbClr val="F4A78A"/>
          </a:solidFill>
          <a:ln w="12700">
            <a:solidFill>
              <a:srgbClr val="F4A78A"/>
            </a:solidFill>
            <a:prstDash val="solid"/>
          </a:ln>
        </p:spPr>
      </p:sp>
      <p:sp>
        <p:nvSpPr>
          <p:cNvPr id="26" name="Text 23"/>
          <p:cNvSpPr txBox="1"/>
          <p:nvPr/>
        </p:nvSpPr>
        <p:spPr>
          <a:xfrm>
            <a:off x="7690104" y="1463040"/>
            <a:ext cx="548640" cy="548640"/>
          </a:xfrm>
          <a:prstGeom prst="rect">
            <a:avLst/>
          </a:prstGeom>
          <a:noFill/>
          <a:ln/>
        </p:spPr>
        <p:txBody>
          <a:bodyPr wrap="square" lIns="0" tIns="0" rIns="0" bIns="0" rtlCol="0" anchor="ctr"/>
          <a:lstStyle/>
          <a:p>
            <a:pPr algn="ctr" indent="0" marL="0">
              <a:buNone/>
            </a:pPr>
            <a:r>
              <a:rPr lang="en-US" sz="1320" b="1" dirty="0">
                <a:solidFill>
                  <a:srgbClr val="FFFFFF"/>
                </a:solidFill>
                <a:latin typeface="Arial" pitchFamily="34" charset="0"/>
                <a:ea typeface="Arial" pitchFamily="34" charset="-122"/>
                <a:cs typeface="Arial" pitchFamily="34" charset="-120"/>
              </a:rPr>
              <a:t>5</a:t>
            </a:r>
            <a:endParaRPr lang="en-US" sz="1320" dirty="0"/>
          </a:p>
        </p:txBody>
      </p:sp>
      <p:sp>
        <p:nvSpPr>
          <p:cNvPr id="27" name="Text 24"/>
          <p:cNvSpPr txBox="1"/>
          <p:nvPr/>
        </p:nvSpPr>
        <p:spPr>
          <a:xfrm>
            <a:off x="7351776" y="2148840"/>
            <a:ext cx="1234440" cy="1143000"/>
          </a:xfrm>
          <a:prstGeom prst="rect">
            <a:avLst/>
          </a:prstGeom>
          <a:noFill/>
          <a:ln/>
        </p:spPr>
        <p:txBody>
          <a:bodyPr wrap="square" lIns="0" tIns="0" rIns="0" bIns="0" rtlCol="0" anchor="t"/>
          <a:lstStyle/>
          <a:p>
            <a:pPr algn="ctr" indent="0" marL="0">
              <a:buNone/>
            </a:pPr>
            <a:r>
              <a:rPr lang="en-US" sz="1200" b="1" dirty="0">
                <a:solidFill>
                  <a:srgbClr val="2E2224"/>
                </a:solidFill>
                <a:latin typeface="Calibri" pitchFamily="34" charset="0"/>
                <a:ea typeface="Calibri" pitchFamily="34" charset="-122"/>
                <a:cs typeface="Calibri" pitchFamily="34" charset="-120"/>
              </a:rPr>
              <a:t>Bonus: se une a la comunidad</a:t>
            </a:r>
            <a:endParaRPr lang="en-US" sz="1200" dirty="0"/>
          </a:p>
        </p:txBody>
      </p:sp>
      <p:sp>
        <p:nvSpPr>
          <p:cNvPr id="28" name="Shape 25"/>
          <p:cNvSpPr/>
          <p:nvPr/>
        </p:nvSpPr>
        <p:spPr>
          <a:xfrm>
            <a:off x="457200" y="3703320"/>
            <a:ext cx="8229600" cy="914400"/>
          </a:xfrm>
          <a:prstGeom prst="roundRect">
            <a:avLst>
              <a:gd name="adj" fmla="val 12000"/>
            </a:avLst>
          </a:prstGeom>
          <a:solidFill>
            <a:srgbClr val="2E2224"/>
          </a:solidFill>
          <a:ln w="12700">
            <a:solidFill>
              <a:srgbClr val="2E2224"/>
            </a:solidFill>
            <a:prstDash val="solid"/>
          </a:ln>
        </p:spPr>
      </p:sp>
      <p:sp>
        <p:nvSpPr>
          <p:cNvPr id="29" name="Text 26"/>
          <p:cNvSpPr txBox="1"/>
          <p:nvPr/>
        </p:nvSpPr>
        <p:spPr>
          <a:xfrm>
            <a:off x="457200" y="3703320"/>
            <a:ext cx="8229600"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AUTOMATIZACIÓN = </a:t>
            </a:r>
            <a:pPr algn="ctr" indent="0" marL="0">
              <a:buNone/>
            </a:pPr>
            <a:r>
              <a:rPr lang="en-US" sz="2400" b="1" dirty="0">
                <a:solidFill>
                  <a:srgbClr val="EE7A7A"/>
                </a:solidFill>
                <a:latin typeface="Arial" pitchFamily="34" charset="0"/>
                <a:ea typeface="Arial" pitchFamily="34" charset="-122"/>
                <a:cs typeface="Arial" pitchFamily="34" charset="-120"/>
              </a:rPr>
              <a:t>LIBERTAD DE TIEMPO</a:t>
            </a:r>
            <a:endParaRPr lang="en-US" sz="2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3" name="Text 0"/>
          <p:cNvSpPr txBox="1"/>
          <p:nvPr/>
        </p:nvSpPr>
        <p:spPr>
          <a:xfrm>
            <a:off x="457200" y="640080"/>
            <a:ext cx="8229600" cy="457200"/>
          </a:xfrm>
          <a:prstGeom prst="rect">
            <a:avLst/>
          </a:prstGeom>
          <a:noFill/>
          <a:ln/>
        </p:spPr>
        <p:txBody>
          <a:bodyPr wrap="square" lIns="0" tIns="0" rIns="0" bIns="0" rtlCol="0" anchor="t"/>
          <a:lstStyle/>
          <a:p>
            <a:pPr algn="ctr" indent="0" marL="0">
              <a:buNone/>
            </a:pPr>
            <a:r>
              <a:rPr lang="en-US" sz="1600" b="1" spc="200" kern="0" dirty="0">
                <a:solidFill>
                  <a:srgbClr val="F2C14E"/>
                </a:solidFill>
                <a:latin typeface="Calibri" pitchFamily="34" charset="0"/>
                <a:ea typeface="Calibri" pitchFamily="34" charset="-122"/>
                <a:cs typeface="Calibri" pitchFamily="34" charset="-120"/>
              </a:rPr>
              <a:t>LA FORMA MÁS RÁPIDA DE CAMBIAR TU VIDA…</a:t>
            </a:r>
            <a:endParaRPr lang="en-US" sz="1600" dirty="0"/>
          </a:p>
        </p:txBody>
      </p:sp>
      <p:sp>
        <p:nvSpPr>
          <p:cNvPr id="4" name="Text 1"/>
          <p:cNvSpPr txBox="1"/>
          <p:nvPr/>
        </p:nvSpPr>
        <p:spPr>
          <a:xfrm>
            <a:off x="731520" y="1188720"/>
            <a:ext cx="7680960" cy="137160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Encuentra a alguien que ya viva la vida que quieres y aprende de esa persona</a:t>
            </a:r>
            <a:endParaRPr lang="en-US" sz="2800" dirty="0"/>
          </a:p>
        </p:txBody>
      </p:sp>
      <p:sp>
        <p:nvSpPr>
          <p:cNvPr id="5" name="Shape 2"/>
          <p:cNvSpPr/>
          <p:nvPr/>
        </p:nvSpPr>
        <p:spPr>
          <a:xfrm>
            <a:off x="2286000" y="2926080"/>
            <a:ext cx="4572000" cy="1371600"/>
          </a:xfrm>
          <a:prstGeom prst="roundRect">
            <a:avLst>
              <a:gd name="adj" fmla="val 10000"/>
            </a:avLst>
          </a:prstGeom>
          <a:solidFill>
            <a:srgbClr val="EE7A7A"/>
          </a:solidFill>
          <a:ln w="12700">
            <a:solidFill>
              <a:srgbClr val="EE7A7A"/>
            </a:solidFill>
            <a:prstDash val="solid"/>
          </a:ln>
        </p:spPr>
      </p:sp>
      <p:sp>
        <p:nvSpPr>
          <p:cNvPr id="6" name="Text 3"/>
          <p:cNvSpPr txBox="1"/>
          <p:nvPr/>
        </p:nvSpPr>
        <p:spPr>
          <a:xfrm>
            <a:off x="2286000" y="2926080"/>
            <a:ext cx="4572000" cy="1371600"/>
          </a:xfrm>
          <a:prstGeom prst="rect">
            <a:avLst/>
          </a:prstGeom>
          <a:noFill/>
          <a:ln/>
        </p:spPr>
        <p:txBody>
          <a:bodyPr wrap="square" lIns="0" tIns="0" rIns="0" bIns="0"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84%</a:t>
            </a:r>
            <a:endParaRPr lang="en-US" sz="1400" dirty="0"/>
          </a:p>
          <a:p>
            <a:pPr algn="ctr" indent="0" marL="0">
              <a:buNone/>
            </a:pPr>
            <a:r>
              <a:rPr lang="en-US" sz="1600" b="1" dirty="0">
                <a:solidFill>
                  <a:srgbClr val="FFFFFF"/>
                </a:solidFill>
                <a:latin typeface="Calibri" pitchFamily="34" charset="0"/>
                <a:ea typeface="Calibri" pitchFamily="34" charset="-122"/>
                <a:cs typeface="Calibri" pitchFamily="34" charset="-120"/>
              </a:rPr>
              <a:t>de los CEO tienen mentores</a:t>
            </a:r>
            <a:endParaRPr lang="en-US" sz="1400" dirty="0"/>
          </a:p>
        </p:txBody>
      </p:sp>
      <p:sp>
        <p:nvSpPr>
          <p:cNvPr id="7"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endParaRPr lang="en-US" sz="26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El modelo Wellness Partnership</a:t>
            </a:r>
            <a:endParaRPr lang="en-US" sz="2600" dirty="0"/>
          </a:p>
        </p:txBody>
      </p:sp>
      <p:sp>
        <p:nvSpPr>
          <p:cNvPr id="4" name="Shape 1"/>
          <p:cNvSpPr/>
          <p:nvPr/>
        </p:nvSpPr>
        <p:spPr>
          <a:xfrm>
            <a:off x="457200" y="1143000"/>
            <a:ext cx="3931920" cy="3474720"/>
          </a:xfrm>
          <a:prstGeom prst="roundRect">
            <a:avLst>
              <a:gd name="adj" fmla="val 3947"/>
            </a:avLst>
          </a:prstGeom>
          <a:solidFill>
            <a:srgbClr val="FBEAEA"/>
          </a:solidFill>
          <a:ln w="12700">
            <a:solidFill>
              <a:srgbClr val="FBEAEA"/>
            </a:solidFill>
            <a:prstDash val="solid"/>
          </a:ln>
        </p:spPr>
      </p:sp>
      <p:sp>
        <p:nvSpPr>
          <p:cNvPr id="5" name="Text 2"/>
          <p:cNvSpPr txBox="1"/>
          <p:nvPr/>
        </p:nvSpPr>
        <p:spPr>
          <a:xfrm>
            <a:off x="685800" y="1325880"/>
            <a:ext cx="3474720" cy="365760"/>
          </a:xfrm>
          <a:prstGeom prst="rect">
            <a:avLst/>
          </a:prstGeom>
          <a:noFill/>
          <a:ln/>
        </p:spPr>
        <p:txBody>
          <a:bodyPr wrap="square" lIns="0" tIns="0" rIns="0" bIns="0" rtlCol="0" anchor="t"/>
          <a:lstStyle/>
          <a:p>
            <a:pPr indent="0" marL="0">
              <a:buNone/>
            </a:pPr>
            <a:r>
              <a:rPr lang="en-US" sz="1400" b="1" spc="200" kern="0" dirty="0">
                <a:solidFill>
                  <a:srgbClr val="C04848"/>
                </a:solidFill>
                <a:latin typeface="Calibri" pitchFamily="34" charset="0"/>
                <a:ea typeface="Calibri" pitchFamily="34" charset="-122"/>
                <a:cs typeface="Calibri" pitchFamily="34" charset="-120"/>
              </a:rPr>
              <a:t>NO SE TRATA DE…</a:t>
            </a:r>
            <a:endParaRPr lang="en-US" sz="1400" dirty="0"/>
          </a:p>
        </p:txBody>
      </p:sp>
      <p:sp>
        <p:nvSpPr>
          <p:cNvPr id="6" name="Text 3"/>
          <p:cNvSpPr txBox="1"/>
          <p:nvPr/>
        </p:nvSpPr>
        <p:spPr>
          <a:xfrm>
            <a:off x="685800" y="1828800"/>
            <a:ext cx="347472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E2224"/>
                </a:solidFill>
                <a:latin typeface="Calibri" pitchFamily="34" charset="0"/>
                <a:ea typeface="Calibri" pitchFamily="34" charset="-122"/>
                <a:cs typeface="Calibri" pitchFamily="34" charset="-120"/>
              </a:rPr>
              <a:t>Reclutar a todo el que conoces</a:t>
            </a:r>
            <a:endParaRPr lang="en-US" sz="1600" dirty="0"/>
          </a:p>
          <a:p>
            <a:pPr marL="342900" indent="-342900">
              <a:spcAft>
                <a:spcPts val="1000"/>
              </a:spcAft>
              <a:buSzPct val="100000"/>
              <a:buChar char="✕"/>
            </a:pPr>
            <a:r>
              <a:rPr lang="en-US" sz="1600" dirty="0">
                <a:solidFill>
                  <a:srgbClr val="2E2224"/>
                </a:solidFill>
                <a:latin typeface="Calibri" pitchFamily="34" charset="0"/>
                <a:ea typeface="Calibri" pitchFamily="34" charset="-122"/>
                <a:cs typeface="Calibri" pitchFamily="34" charset="-120"/>
              </a:rPr>
              <a:t>Hacerte viral</a:t>
            </a:r>
            <a:endParaRPr lang="en-US" sz="1600" dirty="0"/>
          </a:p>
          <a:p>
            <a:pPr marL="342900" indent="-342900">
              <a:spcAft>
                <a:spcPts val="1000"/>
              </a:spcAft>
              <a:buSzPct val="100000"/>
              <a:buChar char="✕"/>
            </a:pPr>
            <a:r>
              <a:rPr lang="en-US" sz="1600" dirty="0">
                <a:solidFill>
                  <a:srgbClr val="2E2224"/>
                </a:solidFill>
                <a:latin typeface="Calibri" pitchFamily="34" charset="0"/>
                <a:ea typeface="Calibri" pitchFamily="34" charset="-122"/>
                <a:cs typeface="Calibri" pitchFamily="34" charset="-120"/>
              </a:rPr>
              <a:t>Lanzar enlaces por todas partes y esperar que algo funcione</a:t>
            </a:r>
            <a:endParaRPr lang="en-US" sz="1600" dirty="0"/>
          </a:p>
        </p:txBody>
      </p:sp>
      <p:sp>
        <p:nvSpPr>
          <p:cNvPr id="7" name="Shape 4"/>
          <p:cNvSpPr/>
          <p:nvPr/>
        </p:nvSpPr>
        <p:spPr>
          <a:xfrm>
            <a:off x="4754880" y="1143000"/>
            <a:ext cx="3931920" cy="3474720"/>
          </a:xfrm>
          <a:prstGeom prst="roundRect">
            <a:avLst>
              <a:gd name="adj" fmla="val 3947"/>
            </a:avLst>
          </a:prstGeom>
          <a:solidFill>
            <a:srgbClr val="2E2224"/>
          </a:solidFill>
          <a:ln w="12700">
            <a:solidFill>
              <a:srgbClr val="2E2224"/>
            </a:solidFill>
            <a:prstDash val="solid"/>
          </a:ln>
        </p:spPr>
      </p:sp>
      <p:sp>
        <p:nvSpPr>
          <p:cNvPr id="8" name="Text 5"/>
          <p:cNvSpPr txBox="1"/>
          <p:nvPr/>
        </p:nvSpPr>
        <p:spPr>
          <a:xfrm>
            <a:off x="4983480" y="1325880"/>
            <a:ext cx="3474720" cy="365760"/>
          </a:xfrm>
          <a:prstGeom prst="rect">
            <a:avLst/>
          </a:prstGeom>
          <a:noFill/>
          <a:ln/>
        </p:spPr>
        <p:txBody>
          <a:bodyPr wrap="square" lIns="0" tIns="0" rIns="0" bIns="0" rtlCol="0" anchor="t"/>
          <a:lstStyle/>
          <a:p>
            <a:pPr indent="0" marL="0">
              <a:buNone/>
            </a:pPr>
            <a:r>
              <a:rPr lang="en-US" sz="1400" b="1" spc="200" kern="0" dirty="0">
                <a:solidFill>
                  <a:srgbClr val="B9D3B1"/>
                </a:solidFill>
                <a:latin typeface="Calibri" pitchFamily="34" charset="0"/>
                <a:ea typeface="Calibri" pitchFamily="34" charset="-122"/>
                <a:cs typeface="Calibri" pitchFamily="34" charset="-120"/>
              </a:rPr>
              <a:t>SE TRATA DE…</a:t>
            </a:r>
            <a:endParaRPr lang="en-US" sz="1400" dirty="0"/>
          </a:p>
        </p:txBody>
      </p:sp>
      <p:sp>
        <p:nvSpPr>
          <p:cNvPr id="9" name="Text 6"/>
          <p:cNvSpPr txBox="1"/>
          <p:nvPr/>
        </p:nvSpPr>
        <p:spPr>
          <a:xfrm>
            <a:off x="4983480" y="1828800"/>
            <a:ext cx="3474720" cy="2560320"/>
          </a:xfrm>
          <a:prstGeom prst="rect">
            <a:avLst/>
          </a:prstGeom>
          <a:noFill/>
          <a:ln/>
        </p:spPr>
        <p:txBody>
          <a:bodyPr wrap="square" lIns="0" tIns="0" rIns="0" bIns="0" rtlCol="0" anchor="t"/>
          <a:lstStyle/>
          <a:p>
            <a:pPr indent="0" marL="0">
              <a:buNone/>
            </a:pPr>
            <a:r>
              <a:rPr lang="en-US" sz="1800" b="1" dirty="0">
                <a:solidFill>
                  <a:srgbClr val="FFFFFF"/>
                </a:solidFill>
                <a:latin typeface="Arial" pitchFamily="34" charset="0"/>
                <a:ea typeface="Arial" pitchFamily="34" charset="-122"/>
                <a:cs typeface="Arial" pitchFamily="34" charset="-120"/>
              </a:rPr>
              <a:t>Identificar a unas pocas mujeres serias y alineadas, presentarles la infraestructura adecuada y acompañarlas con una buena mentoría.</a:t>
            </a:r>
            <a:endParaRPr lang="en-US" sz="18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Si todo lo que hiciera este negocio fuera…</a:t>
            </a:r>
            <a:endParaRPr lang="en-US" sz="2600" dirty="0"/>
          </a:p>
        </p:txBody>
      </p:sp>
      <p:sp>
        <p:nvSpPr>
          <p:cNvPr id="4" name="Shape 1"/>
          <p:cNvSpPr/>
          <p:nvPr/>
        </p:nvSpPr>
        <p:spPr>
          <a:xfrm>
            <a:off x="457200" y="1188720"/>
            <a:ext cx="1920240" cy="1508760"/>
          </a:xfrm>
          <a:prstGeom prst="roundRect">
            <a:avLst>
              <a:gd name="adj" fmla="val 7273"/>
            </a:avLst>
          </a:prstGeom>
          <a:solidFill>
            <a:srgbClr val="3E3133"/>
          </a:solidFill>
          <a:ln w="12700">
            <a:solidFill>
              <a:srgbClr val="3E3133"/>
            </a:solidFill>
            <a:prstDash val="solid"/>
          </a:ln>
        </p:spPr>
      </p:sp>
      <p:sp>
        <p:nvSpPr>
          <p:cNvPr id="5" name="Text 2"/>
          <p:cNvSpPr txBox="1"/>
          <p:nvPr/>
        </p:nvSpPr>
        <p:spPr>
          <a:xfrm>
            <a:off x="594360" y="1188720"/>
            <a:ext cx="1645920" cy="1508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Cambiar tu perspectiva de la vida</a:t>
            </a:r>
            <a:endParaRPr lang="en-US" sz="1500" dirty="0"/>
          </a:p>
        </p:txBody>
      </p:sp>
      <p:sp>
        <p:nvSpPr>
          <p:cNvPr id="6" name="Shape 3"/>
          <p:cNvSpPr/>
          <p:nvPr/>
        </p:nvSpPr>
        <p:spPr>
          <a:xfrm>
            <a:off x="2560320" y="1188720"/>
            <a:ext cx="1920240" cy="1508760"/>
          </a:xfrm>
          <a:prstGeom prst="roundRect">
            <a:avLst>
              <a:gd name="adj" fmla="val 7273"/>
            </a:avLst>
          </a:prstGeom>
          <a:solidFill>
            <a:srgbClr val="3E3133"/>
          </a:solidFill>
          <a:ln w="12700">
            <a:solidFill>
              <a:srgbClr val="3E3133"/>
            </a:solidFill>
            <a:prstDash val="solid"/>
          </a:ln>
        </p:spPr>
      </p:sp>
      <p:sp>
        <p:nvSpPr>
          <p:cNvPr id="7" name="Text 4"/>
          <p:cNvSpPr txBox="1"/>
          <p:nvPr/>
        </p:nvSpPr>
        <p:spPr>
          <a:xfrm>
            <a:off x="2697480" y="1188720"/>
            <a:ext cx="1645920" cy="1508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Reemplazar y superar tu sueldo de 9 a 5</a:t>
            </a:r>
            <a:endParaRPr lang="en-US" sz="1500" dirty="0"/>
          </a:p>
        </p:txBody>
      </p:sp>
      <p:sp>
        <p:nvSpPr>
          <p:cNvPr id="8" name="Shape 5"/>
          <p:cNvSpPr/>
          <p:nvPr/>
        </p:nvSpPr>
        <p:spPr>
          <a:xfrm>
            <a:off x="4663440" y="1188720"/>
            <a:ext cx="1920240" cy="1508760"/>
          </a:xfrm>
          <a:prstGeom prst="roundRect">
            <a:avLst>
              <a:gd name="adj" fmla="val 7273"/>
            </a:avLst>
          </a:prstGeom>
          <a:solidFill>
            <a:srgbClr val="3E3133"/>
          </a:solidFill>
          <a:ln w="12700">
            <a:solidFill>
              <a:srgbClr val="3E3133"/>
            </a:solidFill>
            <a:prstDash val="solid"/>
          </a:ln>
        </p:spPr>
      </p:sp>
      <p:sp>
        <p:nvSpPr>
          <p:cNvPr id="9" name="Text 6"/>
          <p:cNvSpPr txBox="1"/>
          <p:nvPr/>
        </p:nvSpPr>
        <p:spPr>
          <a:xfrm>
            <a:off x="4800600" y="1188720"/>
            <a:ext cx="1645920" cy="1508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Permitirte viajar a tiempo completo</a:t>
            </a:r>
            <a:endParaRPr lang="en-US" sz="1500" dirty="0"/>
          </a:p>
        </p:txBody>
      </p:sp>
      <p:sp>
        <p:nvSpPr>
          <p:cNvPr id="10" name="Shape 7"/>
          <p:cNvSpPr/>
          <p:nvPr/>
        </p:nvSpPr>
        <p:spPr>
          <a:xfrm>
            <a:off x="6766560" y="1188720"/>
            <a:ext cx="1920240" cy="1508760"/>
          </a:xfrm>
          <a:prstGeom prst="roundRect">
            <a:avLst>
              <a:gd name="adj" fmla="val 7273"/>
            </a:avLst>
          </a:prstGeom>
          <a:solidFill>
            <a:srgbClr val="3E3133"/>
          </a:solidFill>
          <a:ln w="12700">
            <a:solidFill>
              <a:srgbClr val="3E3133"/>
            </a:solidFill>
            <a:prstDash val="solid"/>
          </a:ln>
        </p:spPr>
      </p:sp>
      <p:sp>
        <p:nvSpPr>
          <p:cNvPr id="11" name="Text 8"/>
          <p:cNvSpPr txBox="1"/>
          <p:nvPr/>
        </p:nvSpPr>
        <p:spPr>
          <a:xfrm>
            <a:off x="6903720" y="1188720"/>
            <a:ext cx="1645920" cy="1508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Darte más tiempo para lo que amas</a:t>
            </a:r>
            <a:endParaRPr lang="en-US" sz="1500" dirty="0"/>
          </a:p>
        </p:txBody>
      </p:sp>
      <p:sp>
        <p:nvSpPr>
          <p:cNvPr id="12" name="Shape 9"/>
          <p:cNvSpPr/>
          <p:nvPr/>
        </p:nvSpPr>
        <p:spPr>
          <a:xfrm>
            <a:off x="457200" y="2880360"/>
            <a:ext cx="1920240" cy="1508760"/>
          </a:xfrm>
          <a:prstGeom prst="roundRect">
            <a:avLst>
              <a:gd name="adj" fmla="val 7273"/>
            </a:avLst>
          </a:prstGeom>
          <a:solidFill>
            <a:srgbClr val="3E3133"/>
          </a:solidFill>
          <a:ln w="12700">
            <a:solidFill>
              <a:srgbClr val="3E3133"/>
            </a:solidFill>
            <a:prstDash val="solid"/>
          </a:ln>
        </p:spPr>
      </p:sp>
      <p:sp>
        <p:nvSpPr>
          <p:cNvPr id="13" name="Text 10"/>
          <p:cNvSpPr txBox="1"/>
          <p:nvPr/>
        </p:nvSpPr>
        <p:spPr>
          <a:xfrm>
            <a:off x="594360" y="2880360"/>
            <a:ext cx="1645920" cy="1508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Darte más tiempo con tu familia</a:t>
            </a:r>
            <a:endParaRPr lang="en-US" sz="1500" dirty="0"/>
          </a:p>
        </p:txBody>
      </p:sp>
      <p:sp>
        <p:nvSpPr>
          <p:cNvPr id="14" name="Shape 11"/>
          <p:cNvSpPr/>
          <p:nvPr/>
        </p:nvSpPr>
        <p:spPr>
          <a:xfrm>
            <a:off x="2560320" y="2880360"/>
            <a:ext cx="1920240" cy="1508760"/>
          </a:xfrm>
          <a:prstGeom prst="roundRect">
            <a:avLst>
              <a:gd name="adj" fmla="val 7273"/>
            </a:avLst>
          </a:prstGeom>
          <a:solidFill>
            <a:srgbClr val="3E3133"/>
          </a:solidFill>
          <a:ln w="12700">
            <a:solidFill>
              <a:srgbClr val="3E3133"/>
            </a:solidFill>
            <a:prstDash val="solid"/>
          </a:ln>
        </p:spPr>
      </p:sp>
      <p:sp>
        <p:nvSpPr>
          <p:cNvPr id="15" name="Text 12"/>
          <p:cNvSpPr txBox="1"/>
          <p:nvPr/>
        </p:nvSpPr>
        <p:spPr>
          <a:xfrm>
            <a:off x="2697480" y="2880360"/>
            <a:ext cx="1645920" cy="1508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Mejorar tu salud</a:t>
            </a:r>
            <a:endParaRPr lang="en-US" sz="1500" dirty="0"/>
          </a:p>
        </p:txBody>
      </p:sp>
      <p:sp>
        <p:nvSpPr>
          <p:cNvPr id="16" name="Shape 13"/>
          <p:cNvSpPr/>
          <p:nvPr/>
        </p:nvSpPr>
        <p:spPr>
          <a:xfrm>
            <a:off x="4663440" y="2880360"/>
            <a:ext cx="1920240" cy="1508760"/>
          </a:xfrm>
          <a:prstGeom prst="roundRect">
            <a:avLst>
              <a:gd name="adj" fmla="val 7273"/>
            </a:avLst>
          </a:prstGeom>
          <a:solidFill>
            <a:srgbClr val="3E3133"/>
          </a:solidFill>
          <a:ln w="12700">
            <a:solidFill>
              <a:srgbClr val="3E3133"/>
            </a:solidFill>
            <a:prstDash val="solid"/>
          </a:ln>
        </p:spPr>
      </p:sp>
      <p:sp>
        <p:nvSpPr>
          <p:cNvPr id="17" name="Text 14"/>
          <p:cNvSpPr txBox="1"/>
          <p:nvPr/>
        </p:nvSpPr>
        <p:spPr>
          <a:xfrm>
            <a:off x="4800600" y="2880360"/>
            <a:ext cx="1645920" cy="1508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Conectarte con una comunidad afín</a:t>
            </a:r>
            <a:endParaRPr lang="en-US" sz="1500" dirty="0"/>
          </a:p>
        </p:txBody>
      </p:sp>
      <p:sp>
        <p:nvSpPr>
          <p:cNvPr id="18" name="Shape 15"/>
          <p:cNvSpPr/>
          <p:nvPr/>
        </p:nvSpPr>
        <p:spPr>
          <a:xfrm>
            <a:off x="6766560" y="2880360"/>
            <a:ext cx="1920240" cy="1508760"/>
          </a:xfrm>
          <a:prstGeom prst="roundRect">
            <a:avLst>
              <a:gd name="adj" fmla="val 7273"/>
            </a:avLst>
          </a:prstGeom>
          <a:solidFill>
            <a:srgbClr val="EE7A7A"/>
          </a:solidFill>
          <a:ln w="12700">
            <a:solidFill>
              <a:srgbClr val="EE7A7A"/>
            </a:solidFill>
            <a:prstDash val="solid"/>
          </a:ln>
        </p:spPr>
      </p:sp>
      <p:sp>
        <p:nvSpPr>
          <p:cNvPr id="19" name="Text 16"/>
          <p:cNvSpPr txBox="1"/>
          <p:nvPr/>
        </p:nvSpPr>
        <p:spPr>
          <a:xfrm>
            <a:off x="6903720" y="2880360"/>
            <a:ext cx="1645920" cy="1508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¿Merecería la pena?</a:t>
            </a:r>
            <a:endParaRPr lang="en-US" sz="18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3" name="Text 0"/>
          <p:cNvSpPr txBox="1"/>
          <p:nvPr/>
        </p:nvSpPr>
        <p:spPr>
          <a:xfrm>
            <a:off x="640080" y="548640"/>
            <a:ext cx="7863840" cy="1280160"/>
          </a:xfrm>
          <a:prstGeom prst="rect">
            <a:avLst/>
          </a:prstGeom>
          <a:noFill/>
          <a:ln/>
        </p:spPr>
        <p:txBody>
          <a:bodyPr wrap="square" lIns="0" tIns="0" rIns="0" bIns="0" rtlCol="0" anchor="ctr"/>
          <a:lstStyle/>
          <a:p>
            <a:pPr algn="ctr" indent="0" marL="0">
              <a:buNone/>
            </a:pPr>
            <a:r>
              <a:rPr lang="en-US" sz="2200" b="1" dirty="0">
                <a:solidFill>
                  <a:srgbClr val="CFC5C6"/>
                </a:solidFill>
                <a:latin typeface="Arial" pitchFamily="34" charset="0"/>
                <a:ea typeface="Arial" pitchFamily="34" charset="-122"/>
                <a:cs typeface="Arial" pitchFamily="34" charset="-120"/>
              </a:rPr>
              <a:t>Hemos cubierto mucho… pero la información por sí sola no va a cambiar tu vida. Hay muchísimo ruido ahí fuera.</a:t>
            </a:r>
            <a:endParaRPr lang="en-US" sz="2200" dirty="0"/>
          </a:p>
        </p:txBody>
      </p:sp>
      <p:sp>
        <p:nvSpPr>
          <p:cNvPr id="4" name="Text 1"/>
          <p:cNvSpPr txBox="1"/>
          <p:nvPr/>
        </p:nvSpPr>
        <p:spPr>
          <a:xfrm>
            <a:off x="822960" y="2011680"/>
            <a:ext cx="7498080" cy="21945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¿Y si tuvieras una </a:t>
            </a:r>
            <a:pPr algn="ctr" indent="0" marL="0">
              <a:buNone/>
            </a:pPr>
            <a:r>
              <a:rPr lang="en-US" sz="2800" b="1" dirty="0">
                <a:solidFill>
                  <a:srgbClr val="B9D3B1"/>
                </a:solidFill>
                <a:latin typeface="Arial" pitchFamily="34" charset="0"/>
                <a:ea typeface="Arial" pitchFamily="34" charset="-122"/>
                <a:cs typeface="Arial" pitchFamily="34" charset="-120"/>
              </a:rPr>
              <a:t>comunidad + sistemas</a:t>
            </a:r>
            <a:pPr algn="ctr" indent="0" marL="0">
              <a:buNone/>
            </a:pPr>
            <a:r>
              <a:rPr lang="en-US" sz="2800" b="1" dirty="0">
                <a:solidFill>
                  <a:srgbClr val="FFFFFF"/>
                </a:solidFill>
                <a:latin typeface="Arial" pitchFamily="34" charset="0"/>
                <a:ea typeface="Arial" pitchFamily="34" charset="-122"/>
                <a:cs typeface="Arial" pitchFamily="34" charset="-120"/>
              </a:rPr>
              <a:t> a los que conectarte y que te ayudaran a crear meses consistentes de </a:t>
            </a:r>
            <a:pPr algn="ctr" indent="0" marL="0">
              <a:buNone/>
            </a:pPr>
            <a:r>
              <a:rPr lang="en-US" sz="2800" b="1" dirty="0">
                <a:solidFill>
                  <a:srgbClr val="EE7A7A"/>
                </a:solidFill>
                <a:latin typeface="Arial" pitchFamily="34" charset="0"/>
                <a:ea typeface="Arial" pitchFamily="34" charset="-122"/>
                <a:cs typeface="Arial" pitchFamily="34" charset="-120"/>
              </a:rPr>
              <a:t>$10K+</a:t>
            </a:r>
            <a:pPr algn="ctr" indent="0" marL="0">
              <a:buNone/>
            </a:pPr>
            <a:r>
              <a:rPr lang="en-US" sz="2800" b="1" dirty="0">
                <a:solidFill>
                  <a:srgbClr val="FFFFFF"/>
                </a:solidFill>
                <a:latin typeface="Arial" pitchFamily="34" charset="0"/>
                <a:ea typeface="Arial" pitchFamily="34" charset="-122"/>
                <a:cs typeface="Arial" pitchFamily="34" charset="-120"/>
              </a:rPr>
              <a:t> alineados con tu pasión por el </a:t>
            </a:r>
            <a:pPr algn="ctr" indent="0" marL="0">
              <a:buNone/>
            </a:pPr>
            <a:r>
              <a:rPr lang="en-US" sz="2800" b="1" dirty="0">
                <a:solidFill>
                  <a:srgbClr val="F2C14E"/>
                </a:solidFill>
                <a:latin typeface="Arial" pitchFamily="34" charset="0"/>
                <a:ea typeface="Arial" pitchFamily="34" charset="-122"/>
                <a:cs typeface="Arial" pitchFamily="34" charset="-120"/>
              </a:rPr>
              <a:t>bienestar</a:t>
            </a:r>
            <a:pPr algn="ct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El paquete Wellness Partnership</a:t>
            </a:r>
            <a:endParaRPr lang="en-US" sz="2600" dirty="0"/>
          </a:p>
        </p:txBody>
      </p:sp>
      <p:sp>
        <p:nvSpPr>
          <p:cNvPr id="4" name="Shape 1"/>
          <p:cNvSpPr/>
          <p:nvPr/>
        </p:nvSpPr>
        <p:spPr>
          <a:xfrm>
            <a:off x="457200" y="1143000"/>
            <a:ext cx="3931920" cy="3474720"/>
          </a:xfrm>
          <a:prstGeom prst="roundRect">
            <a:avLst>
              <a:gd name="adj" fmla="val 3947"/>
            </a:avLst>
          </a:prstGeom>
          <a:solidFill>
            <a:srgbClr val="2E2224"/>
          </a:solidFill>
          <a:ln w="12700">
            <a:solidFill>
              <a:srgbClr val="2E2224"/>
            </a:solidFill>
            <a:prstDash val="solid"/>
          </a:ln>
        </p:spPr>
      </p:sp>
      <p:sp>
        <p:nvSpPr>
          <p:cNvPr id="5" name="Text 2"/>
          <p:cNvSpPr txBox="1"/>
          <p:nvPr/>
        </p:nvSpPr>
        <p:spPr>
          <a:xfrm>
            <a:off x="685800" y="1325880"/>
            <a:ext cx="3474720" cy="365760"/>
          </a:xfrm>
          <a:prstGeom prst="rect">
            <a:avLst/>
          </a:prstGeom>
          <a:noFill/>
          <a:ln/>
        </p:spPr>
        <p:txBody>
          <a:bodyPr wrap="square" lIns="0" tIns="0" rIns="0" bIns="0" rtlCol="0" anchor="t"/>
          <a:lstStyle/>
          <a:p>
            <a:pPr indent="0" marL="0">
              <a:buNone/>
            </a:pPr>
            <a:r>
              <a:rPr lang="en-US" sz="1300" b="1" spc="200" kern="0" dirty="0">
                <a:solidFill>
                  <a:srgbClr val="F2C14E"/>
                </a:solidFill>
                <a:latin typeface="Calibri" pitchFamily="34" charset="0"/>
                <a:ea typeface="Calibri" pitchFamily="34" charset="-122"/>
                <a:cs typeface="Calibri" pitchFamily="34" charset="-120"/>
              </a:rPr>
              <a:t>PROCESO DE DESCUBRIMIENTO</a:t>
            </a:r>
            <a:endParaRPr lang="en-US" sz="1300" dirty="0"/>
          </a:p>
        </p:txBody>
      </p:sp>
      <p:sp>
        <p:nvSpPr>
          <p:cNvPr id="6" name="Shape 3"/>
          <p:cNvSpPr/>
          <p:nvPr/>
        </p:nvSpPr>
        <p:spPr>
          <a:xfrm>
            <a:off x="685800" y="1828800"/>
            <a:ext cx="438912" cy="438912"/>
          </a:xfrm>
          <a:prstGeom prst="ellipse">
            <a:avLst/>
          </a:prstGeom>
          <a:solidFill>
            <a:srgbClr val="EE7A7A"/>
          </a:solidFill>
          <a:ln w="12700">
            <a:solidFill>
              <a:srgbClr val="EE7A7A"/>
            </a:solidFill>
            <a:prstDash val="solid"/>
          </a:ln>
        </p:spPr>
      </p:sp>
      <p:sp>
        <p:nvSpPr>
          <p:cNvPr id="7" name="Text 4"/>
          <p:cNvSpPr txBox="1"/>
          <p:nvPr/>
        </p:nvSpPr>
        <p:spPr>
          <a:xfrm>
            <a:off x="685800" y="1828800"/>
            <a:ext cx="438912" cy="438912"/>
          </a:xfrm>
          <a:prstGeom prst="rect">
            <a:avLst/>
          </a:prstGeom>
          <a:noFill/>
          <a:ln/>
        </p:spPr>
        <p:txBody>
          <a:bodyPr wrap="square" lIns="0" tIns="0" rIns="0" bIns="0" rtlCol="0" anchor="ctr"/>
          <a:lstStyle/>
          <a:p>
            <a:pPr algn="ctr" indent="0" marL="0">
              <a:buNone/>
            </a:pPr>
            <a:r>
              <a:rPr lang="en-US" sz="1056" b="1" dirty="0">
                <a:solidFill>
                  <a:srgbClr val="FFFFFF"/>
                </a:solidFill>
                <a:latin typeface="Arial" pitchFamily="34" charset="0"/>
                <a:ea typeface="Arial" pitchFamily="34" charset="-122"/>
                <a:cs typeface="Arial" pitchFamily="34" charset="-120"/>
              </a:rPr>
              <a:t>1</a:t>
            </a:r>
            <a:endParaRPr lang="en-US" sz="1056" dirty="0"/>
          </a:p>
        </p:txBody>
      </p:sp>
      <p:sp>
        <p:nvSpPr>
          <p:cNvPr id="8" name="Text 5"/>
          <p:cNvSpPr txBox="1"/>
          <p:nvPr/>
        </p:nvSpPr>
        <p:spPr>
          <a:xfrm>
            <a:off x="1280160" y="1828800"/>
            <a:ext cx="2926080" cy="43891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Vídeos explicativos del Wellness Partnership</a:t>
            </a:r>
            <a:endParaRPr lang="en-US" sz="1400" dirty="0"/>
          </a:p>
        </p:txBody>
      </p:sp>
      <p:sp>
        <p:nvSpPr>
          <p:cNvPr id="9" name="Shape 6"/>
          <p:cNvSpPr/>
          <p:nvPr/>
        </p:nvSpPr>
        <p:spPr>
          <a:xfrm>
            <a:off x="685800" y="2487168"/>
            <a:ext cx="438912" cy="438912"/>
          </a:xfrm>
          <a:prstGeom prst="ellipse">
            <a:avLst/>
          </a:prstGeom>
          <a:solidFill>
            <a:srgbClr val="EE7A7A"/>
          </a:solidFill>
          <a:ln w="12700">
            <a:solidFill>
              <a:srgbClr val="EE7A7A"/>
            </a:solidFill>
            <a:prstDash val="solid"/>
          </a:ln>
        </p:spPr>
      </p:sp>
      <p:sp>
        <p:nvSpPr>
          <p:cNvPr id="10" name="Text 7"/>
          <p:cNvSpPr txBox="1"/>
          <p:nvPr/>
        </p:nvSpPr>
        <p:spPr>
          <a:xfrm>
            <a:off x="685800" y="2487168"/>
            <a:ext cx="438912" cy="438912"/>
          </a:xfrm>
          <a:prstGeom prst="rect">
            <a:avLst/>
          </a:prstGeom>
          <a:noFill/>
          <a:ln/>
        </p:spPr>
        <p:txBody>
          <a:bodyPr wrap="square" lIns="0" tIns="0" rIns="0" bIns="0" rtlCol="0" anchor="ctr"/>
          <a:lstStyle/>
          <a:p>
            <a:pPr algn="ctr" indent="0" marL="0">
              <a:buNone/>
            </a:pPr>
            <a:r>
              <a:rPr lang="en-US" sz="1056" b="1" dirty="0">
                <a:solidFill>
                  <a:srgbClr val="FFFFFF"/>
                </a:solidFill>
                <a:latin typeface="Arial" pitchFamily="34" charset="0"/>
                <a:ea typeface="Arial" pitchFamily="34" charset="-122"/>
                <a:cs typeface="Arial" pitchFamily="34" charset="-120"/>
              </a:rPr>
              <a:t>2</a:t>
            </a:r>
            <a:endParaRPr lang="en-US" sz="1056" dirty="0"/>
          </a:p>
        </p:txBody>
      </p:sp>
      <p:sp>
        <p:nvSpPr>
          <p:cNvPr id="11" name="Text 8"/>
          <p:cNvSpPr txBox="1"/>
          <p:nvPr/>
        </p:nvSpPr>
        <p:spPr>
          <a:xfrm>
            <a:off x="1280160" y="2487168"/>
            <a:ext cx="2926080" cy="43891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Testimonios de la comunidad</a:t>
            </a:r>
            <a:endParaRPr lang="en-US" sz="1400" dirty="0"/>
          </a:p>
        </p:txBody>
      </p:sp>
      <p:sp>
        <p:nvSpPr>
          <p:cNvPr id="12" name="Shape 9"/>
          <p:cNvSpPr/>
          <p:nvPr/>
        </p:nvSpPr>
        <p:spPr>
          <a:xfrm>
            <a:off x="685800" y="3145536"/>
            <a:ext cx="438912" cy="438912"/>
          </a:xfrm>
          <a:prstGeom prst="ellipse">
            <a:avLst/>
          </a:prstGeom>
          <a:solidFill>
            <a:srgbClr val="EE7A7A"/>
          </a:solidFill>
          <a:ln w="12700">
            <a:solidFill>
              <a:srgbClr val="EE7A7A"/>
            </a:solidFill>
            <a:prstDash val="solid"/>
          </a:ln>
        </p:spPr>
      </p:sp>
      <p:sp>
        <p:nvSpPr>
          <p:cNvPr id="13" name="Text 10"/>
          <p:cNvSpPr txBox="1"/>
          <p:nvPr/>
        </p:nvSpPr>
        <p:spPr>
          <a:xfrm>
            <a:off x="685800" y="3145536"/>
            <a:ext cx="438912" cy="438912"/>
          </a:xfrm>
          <a:prstGeom prst="rect">
            <a:avLst/>
          </a:prstGeom>
          <a:noFill/>
          <a:ln/>
        </p:spPr>
        <p:txBody>
          <a:bodyPr wrap="square" lIns="0" tIns="0" rIns="0" bIns="0" rtlCol="0" anchor="ctr"/>
          <a:lstStyle/>
          <a:p>
            <a:pPr algn="ctr" indent="0" marL="0">
              <a:buNone/>
            </a:pPr>
            <a:r>
              <a:rPr lang="en-US" sz="1056" b="1" dirty="0">
                <a:solidFill>
                  <a:srgbClr val="FFFFFF"/>
                </a:solidFill>
                <a:latin typeface="Arial" pitchFamily="34" charset="0"/>
                <a:ea typeface="Arial" pitchFamily="34" charset="-122"/>
                <a:cs typeface="Arial" pitchFamily="34" charset="-120"/>
              </a:rPr>
              <a:t>3</a:t>
            </a:r>
            <a:endParaRPr lang="en-US" sz="1056" dirty="0"/>
          </a:p>
        </p:txBody>
      </p:sp>
      <p:sp>
        <p:nvSpPr>
          <p:cNvPr id="14" name="Text 11"/>
          <p:cNvSpPr txBox="1"/>
          <p:nvPr/>
        </p:nvSpPr>
        <p:spPr>
          <a:xfrm>
            <a:off x="1280160" y="3145536"/>
            <a:ext cx="2926080" cy="43891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Recursos de financiación</a:t>
            </a:r>
            <a:endParaRPr lang="en-US" sz="1400" dirty="0"/>
          </a:p>
        </p:txBody>
      </p:sp>
      <p:sp>
        <p:nvSpPr>
          <p:cNvPr id="15" name="Shape 12"/>
          <p:cNvSpPr/>
          <p:nvPr/>
        </p:nvSpPr>
        <p:spPr>
          <a:xfrm>
            <a:off x="685800" y="3803904"/>
            <a:ext cx="438912" cy="438912"/>
          </a:xfrm>
          <a:prstGeom prst="ellipse">
            <a:avLst/>
          </a:prstGeom>
          <a:solidFill>
            <a:srgbClr val="EE7A7A"/>
          </a:solidFill>
          <a:ln w="12700">
            <a:solidFill>
              <a:srgbClr val="EE7A7A"/>
            </a:solidFill>
            <a:prstDash val="solid"/>
          </a:ln>
        </p:spPr>
      </p:sp>
      <p:sp>
        <p:nvSpPr>
          <p:cNvPr id="16" name="Text 13"/>
          <p:cNvSpPr txBox="1"/>
          <p:nvPr/>
        </p:nvSpPr>
        <p:spPr>
          <a:xfrm>
            <a:off x="685800" y="3803904"/>
            <a:ext cx="438912" cy="438912"/>
          </a:xfrm>
          <a:prstGeom prst="rect">
            <a:avLst/>
          </a:prstGeom>
          <a:noFill/>
          <a:ln/>
        </p:spPr>
        <p:txBody>
          <a:bodyPr wrap="square" lIns="0" tIns="0" rIns="0" bIns="0" rtlCol="0" anchor="ctr"/>
          <a:lstStyle/>
          <a:p>
            <a:pPr algn="ctr" indent="0" marL="0">
              <a:buNone/>
            </a:pPr>
            <a:r>
              <a:rPr lang="en-US" sz="1056" b="1" dirty="0">
                <a:solidFill>
                  <a:srgbClr val="FFFFFF"/>
                </a:solidFill>
                <a:latin typeface="Arial" pitchFamily="34" charset="0"/>
                <a:ea typeface="Arial" pitchFamily="34" charset="-122"/>
                <a:cs typeface="Arial" pitchFamily="34" charset="-120"/>
              </a:rPr>
              <a:t>4</a:t>
            </a:r>
            <a:endParaRPr lang="en-US" sz="1056" dirty="0"/>
          </a:p>
        </p:txBody>
      </p:sp>
      <p:sp>
        <p:nvSpPr>
          <p:cNvPr id="17" name="Text 14"/>
          <p:cNvSpPr txBox="1"/>
          <p:nvPr/>
        </p:nvSpPr>
        <p:spPr>
          <a:xfrm>
            <a:off x="1280160" y="3803904"/>
            <a:ext cx="2926080" cy="43891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Respuestas a las preguntas más frecuentes</a:t>
            </a:r>
            <a:endParaRPr lang="en-US" sz="1400" dirty="0"/>
          </a:p>
        </p:txBody>
      </p:sp>
      <p:sp>
        <p:nvSpPr>
          <p:cNvPr id="18" name="Text 15"/>
          <p:cNvSpPr txBox="1"/>
          <p:nvPr/>
        </p:nvSpPr>
        <p:spPr>
          <a:xfrm>
            <a:off x="4754880" y="1188720"/>
            <a:ext cx="3931920" cy="41148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Nuestro proceso y sistemas</a:t>
            </a:r>
            <a:endParaRPr lang="en-US" sz="1600" dirty="0"/>
          </a:p>
        </p:txBody>
      </p:sp>
      <p:sp>
        <p:nvSpPr>
          <p:cNvPr id="19" name="Shape 16"/>
          <p:cNvSpPr/>
          <p:nvPr/>
        </p:nvSpPr>
        <p:spPr>
          <a:xfrm>
            <a:off x="4754880" y="1737360"/>
            <a:ext cx="3931920" cy="621792"/>
          </a:xfrm>
          <a:prstGeom prst="roundRect">
            <a:avLst>
              <a:gd name="adj" fmla="val 14706"/>
            </a:avLst>
          </a:prstGeom>
          <a:solidFill>
            <a:srgbClr val="FBEAEA"/>
          </a:solidFill>
          <a:ln w="12700">
            <a:solidFill>
              <a:srgbClr val="FBEAEA"/>
            </a:solidFill>
            <a:prstDash val="solid"/>
          </a:ln>
        </p:spPr>
      </p:sp>
      <p:sp>
        <p:nvSpPr>
          <p:cNvPr id="20" name="Text 17"/>
          <p:cNvSpPr txBox="1"/>
          <p:nvPr/>
        </p:nvSpPr>
        <p:spPr>
          <a:xfrm>
            <a:off x="4937760" y="1737360"/>
            <a:ext cx="3657600" cy="621792"/>
          </a:xfrm>
          <a:prstGeom prst="rect">
            <a:avLst/>
          </a:prstGeom>
          <a:noFill/>
          <a:ln/>
        </p:spPr>
        <p:txBody>
          <a:bodyPr wrap="square" lIns="0" tIns="0" rIns="0" bIns="0" rtlCol="0" anchor="ctr"/>
          <a:lstStyle/>
          <a:p>
            <a:pPr indent="0" marL="0">
              <a:buNone/>
            </a:pPr>
            <a:r>
              <a:rPr lang="en-US" sz="1300" b="1" dirty="0">
                <a:solidFill>
                  <a:srgbClr val="2E2224"/>
                </a:solidFill>
                <a:latin typeface="Calibri" pitchFamily="34" charset="0"/>
                <a:ea typeface="Calibri" pitchFamily="34" charset="-122"/>
                <a:cs typeface="Calibri" pitchFamily="34" charset="-120"/>
              </a:rPr>
              <a:t>Centro de formación Team Rise Up</a:t>
            </a:r>
            <a:endParaRPr lang="en-US" sz="1300" dirty="0"/>
          </a:p>
          <a:p>
            <a:pPr indent="0" marL="0">
              <a:buNone/>
            </a:pPr>
            <a:r>
              <a:rPr lang="en-US" sz="1000" dirty="0">
                <a:solidFill>
                  <a:srgbClr val="6B5F61"/>
                </a:solidFill>
                <a:latin typeface="Calibri" pitchFamily="34" charset="0"/>
                <a:ea typeface="Calibri" pitchFamily="34" charset="-122"/>
                <a:cs typeface="Calibri" pitchFamily="34" charset="-120"/>
              </a:rPr>
              <a:t>Módulos para lanzar tu negocio, formación en redes, mentalidad, recursos sobre el agua y más</a:t>
            </a:r>
            <a:endParaRPr lang="en-US" sz="1300" dirty="0"/>
          </a:p>
        </p:txBody>
      </p:sp>
      <p:sp>
        <p:nvSpPr>
          <p:cNvPr id="21" name="Shape 18"/>
          <p:cNvSpPr/>
          <p:nvPr/>
        </p:nvSpPr>
        <p:spPr>
          <a:xfrm>
            <a:off x="4754880" y="2468880"/>
            <a:ext cx="3931920" cy="621792"/>
          </a:xfrm>
          <a:prstGeom prst="roundRect">
            <a:avLst>
              <a:gd name="adj" fmla="val 14706"/>
            </a:avLst>
          </a:prstGeom>
          <a:solidFill>
            <a:srgbClr val="E8ECF3"/>
          </a:solidFill>
          <a:ln w="12700">
            <a:solidFill>
              <a:srgbClr val="E8ECF3"/>
            </a:solidFill>
            <a:prstDash val="solid"/>
          </a:ln>
        </p:spPr>
      </p:sp>
      <p:sp>
        <p:nvSpPr>
          <p:cNvPr id="22" name="Text 19"/>
          <p:cNvSpPr txBox="1"/>
          <p:nvPr/>
        </p:nvSpPr>
        <p:spPr>
          <a:xfrm>
            <a:off x="4937760" y="2468880"/>
            <a:ext cx="3657600" cy="621792"/>
          </a:xfrm>
          <a:prstGeom prst="rect">
            <a:avLst/>
          </a:prstGeom>
          <a:noFill/>
          <a:ln/>
        </p:spPr>
        <p:txBody>
          <a:bodyPr wrap="square" lIns="0" tIns="0" rIns="0" bIns="0" rtlCol="0" anchor="ctr"/>
          <a:lstStyle/>
          <a:p>
            <a:pPr indent="0" marL="0">
              <a:buNone/>
            </a:pPr>
            <a:r>
              <a:rPr lang="en-US" sz="1300" b="1" dirty="0">
                <a:solidFill>
                  <a:srgbClr val="2E2224"/>
                </a:solidFill>
                <a:latin typeface="Calibri" pitchFamily="34" charset="0"/>
                <a:ea typeface="Calibri" pitchFamily="34" charset="-122"/>
                <a:cs typeface="Calibri" pitchFamily="34" charset="-120"/>
              </a:rPr>
              <a:t>Llamadas semanales de equipo</a:t>
            </a:r>
            <a:endParaRPr lang="en-US" sz="1300" dirty="0"/>
          </a:p>
        </p:txBody>
      </p:sp>
      <p:sp>
        <p:nvSpPr>
          <p:cNvPr id="23" name="Shape 20"/>
          <p:cNvSpPr/>
          <p:nvPr/>
        </p:nvSpPr>
        <p:spPr>
          <a:xfrm>
            <a:off x="4754880" y="3200400"/>
            <a:ext cx="3931920" cy="621792"/>
          </a:xfrm>
          <a:prstGeom prst="roundRect">
            <a:avLst>
              <a:gd name="adj" fmla="val 14706"/>
            </a:avLst>
          </a:prstGeom>
          <a:solidFill>
            <a:srgbClr val="EDF5EA"/>
          </a:solidFill>
          <a:ln w="12700">
            <a:solidFill>
              <a:srgbClr val="EDF5EA"/>
            </a:solidFill>
            <a:prstDash val="solid"/>
          </a:ln>
        </p:spPr>
      </p:sp>
      <p:sp>
        <p:nvSpPr>
          <p:cNvPr id="24" name="Text 21"/>
          <p:cNvSpPr txBox="1"/>
          <p:nvPr/>
        </p:nvSpPr>
        <p:spPr>
          <a:xfrm>
            <a:off x="4937760" y="3200400"/>
            <a:ext cx="3657600" cy="621792"/>
          </a:xfrm>
          <a:prstGeom prst="rect">
            <a:avLst/>
          </a:prstGeom>
          <a:noFill/>
          <a:ln/>
        </p:spPr>
        <p:txBody>
          <a:bodyPr wrap="square" lIns="0" tIns="0" rIns="0" bIns="0" rtlCol="0" anchor="ctr"/>
          <a:lstStyle/>
          <a:p>
            <a:pPr indent="0" marL="0">
              <a:buNone/>
            </a:pPr>
            <a:r>
              <a:rPr lang="en-US" sz="1300" b="1" dirty="0">
                <a:solidFill>
                  <a:srgbClr val="2E2224"/>
                </a:solidFill>
                <a:latin typeface="Calibri" pitchFamily="34" charset="0"/>
                <a:ea typeface="Calibri" pitchFamily="34" charset="-122"/>
                <a:cs typeface="Calibri" pitchFamily="34" charset="-120"/>
              </a:rPr>
              <a:t>Chats de Telegram</a:t>
            </a:r>
            <a:endParaRPr lang="en-US" sz="1300" dirty="0"/>
          </a:p>
        </p:txBody>
      </p:sp>
      <p:sp>
        <p:nvSpPr>
          <p:cNvPr id="25" name="Shape 22"/>
          <p:cNvSpPr/>
          <p:nvPr/>
        </p:nvSpPr>
        <p:spPr>
          <a:xfrm>
            <a:off x="4754880" y="3931920"/>
            <a:ext cx="3931920" cy="621792"/>
          </a:xfrm>
          <a:prstGeom prst="roundRect">
            <a:avLst>
              <a:gd name="adj" fmla="val 14706"/>
            </a:avLst>
          </a:prstGeom>
          <a:solidFill>
            <a:srgbClr val="FDF3DC"/>
          </a:solidFill>
          <a:ln w="12700">
            <a:solidFill>
              <a:srgbClr val="FDF3DC"/>
            </a:solidFill>
            <a:prstDash val="solid"/>
          </a:ln>
        </p:spPr>
      </p:sp>
      <p:sp>
        <p:nvSpPr>
          <p:cNvPr id="26" name="Text 23"/>
          <p:cNvSpPr txBox="1"/>
          <p:nvPr/>
        </p:nvSpPr>
        <p:spPr>
          <a:xfrm>
            <a:off x="4937760" y="3931920"/>
            <a:ext cx="3657600" cy="621792"/>
          </a:xfrm>
          <a:prstGeom prst="rect">
            <a:avLst/>
          </a:prstGeom>
          <a:noFill/>
          <a:ln/>
        </p:spPr>
        <p:txBody>
          <a:bodyPr wrap="square" lIns="0" tIns="0" rIns="0" bIns="0" rtlCol="0" anchor="ctr"/>
          <a:lstStyle/>
          <a:p>
            <a:pPr indent="0" marL="0">
              <a:buNone/>
            </a:pPr>
            <a:r>
              <a:rPr lang="en-US" sz="1300" b="1" dirty="0">
                <a:solidFill>
                  <a:srgbClr val="2E2224"/>
                </a:solidFill>
                <a:latin typeface="Calibri" pitchFamily="34" charset="0"/>
                <a:ea typeface="Calibri" pitchFamily="34" charset="-122"/>
                <a:cs typeface="Calibri" pitchFamily="34" charset="-120"/>
              </a:rPr>
              <a:t>Recursos y mucho más</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Las 3 estrategias</a:t>
            </a:r>
            <a:endParaRPr lang="en-US" sz="2600" dirty="0"/>
          </a:p>
        </p:txBody>
      </p:sp>
      <p:sp>
        <p:nvSpPr>
          <p:cNvPr id="4" name="Shape 1"/>
          <p:cNvSpPr/>
          <p:nvPr/>
        </p:nvSpPr>
        <p:spPr>
          <a:xfrm>
            <a:off x="6217920" y="347472"/>
            <a:ext cx="2468880" cy="548640"/>
          </a:xfrm>
          <a:prstGeom prst="roundRect">
            <a:avLst>
              <a:gd name="adj" fmla="val 13333"/>
            </a:avLst>
          </a:prstGeom>
          <a:solidFill>
            <a:srgbClr val="8B9AB7"/>
          </a:solidFill>
          <a:ln w="12700">
            <a:solidFill>
              <a:srgbClr val="8B9AB7"/>
            </a:solidFill>
            <a:prstDash val="solid"/>
          </a:ln>
        </p:spPr>
      </p:sp>
      <p:sp>
        <p:nvSpPr>
          <p:cNvPr id="5" name="Text 2"/>
          <p:cNvSpPr txBox="1"/>
          <p:nvPr/>
        </p:nvSpPr>
        <p:spPr>
          <a:xfrm>
            <a:off x="6217920" y="347472"/>
            <a:ext cx="246888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Inversión de $6K a $24K</a:t>
            </a:r>
            <a:endParaRPr lang="en-US" sz="1400" dirty="0"/>
          </a:p>
        </p:txBody>
      </p:sp>
      <p:sp>
        <p:nvSpPr>
          <p:cNvPr id="6" name="Shape 3"/>
          <p:cNvSpPr/>
          <p:nvPr/>
        </p:nvSpPr>
        <p:spPr>
          <a:xfrm>
            <a:off x="457200" y="1143000"/>
            <a:ext cx="2651760" cy="3474720"/>
          </a:xfrm>
          <a:prstGeom prst="roundRect">
            <a:avLst>
              <a:gd name="adj" fmla="val 5172"/>
            </a:avLst>
          </a:prstGeom>
          <a:solidFill>
            <a:srgbClr val="FBEAEA"/>
          </a:solidFill>
          <a:ln w="12700">
            <a:solidFill>
              <a:srgbClr val="FBEAEA"/>
            </a:solidFill>
            <a:prstDash val="solid"/>
          </a:ln>
        </p:spPr>
      </p:sp>
      <p:sp>
        <p:nvSpPr>
          <p:cNvPr id="7" name="Text 4"/>
          <p:cNvSpPr txBox="1"/>
          <p:nvPr/>
        </p:nvSpPr>
        <p:spPr>
          <a:xfrm>
            <a:off x="640080" y="1280160"/>
            <a:ext cx="2286000" cy="548640"/>
          </a:xfrm>
          <a:prstGeom prst="rect">
            <a:avLst/>
          </a:prstGeom>
          <a:noFill/>
          <a:ln/>
        </p:spPr>
        <p:txBody>
          <a:bodyPr wrap="square" lIns="0" tIns="0" rIns="0" bIns="0" rtlCol="0" anchor="t"/>
          <a:lstStyle/>
          <a:p>
            <a:pPr indent="0" marL="0">
              <a:buNone/>
            </a:pPr>
            <a:r>
              <a:rPr lang="en-US" sz="1400" b="1" dirty="0">
                <a:solidFill>
                  <a:srgbClr val="EE7A7A"/>
                </a:solidFill>
                <a:latin typeface="Arial" pitchFamily="34" charset="0"/>
                <a:ea typeface="Arial" pitchFamily="34" charset="-122"/>
                <a:cs typeface="Arial" pitchFamily="34" charset="-120"/>
              </a:rPr>
              <a:t>ESTRATEGIA K8</a:t>
            </a:r>
            <a:endParaRPr lang="en-US" sz="1400" dirty="0"/>
          </a:p>
        </p:txBody>
      </p:sp>
      <p:sp>
        <p:nvSpPr>
          <p:cNvPr id="8" name="Text 5"/>
          <p:cNvSpPr txBox="1"/>
          <p:nvPr/>
        </p:nvSpPr>
        <p:spPr>
          <a:xfrm>
            <a:off x="640080" y="1828800"/>
            <a:ext cx="2286000" cy="320040"/>
          </a:xfrm>
          <a:prstGeom prst="rect">
            <a:avLst/>
          </a:prstGeom>
          <a:noFill/>
          <a:ln/>
        </p:spPr>
        <p:txBody>
          <a:bodyPr wrap="square" lIns="0" tIns="0" rIns="0" bIns="0" rtlCol="0" anchor="t"/>
          <a:lstStyle/>
          <a:p>
            <a:pPr indent="0" marL="0">
              <a:buNone/>
            </a:pPr>
            <a:r>
              <a:rPr lang="en-US" sz="1200" i="1" dirty="0">
                <a:solidFill>
                  <a:srgbClr val="6B5F61"/>
                </a:solidFill>
                <a:latin typeface="Calibri" pitchFamily="34" charset="0"/>
                <a:ea typeface="Calibri" pitchFamily="34" charset="-122"/>
                <a:cs typeface="Calibri" pitchFamily="34" charset="-120"/>
              </a:rPr>
              <a:t>Empieza con 1 producto</a:t>
            </a:r>
            <a:endParaRPr lang="en-US" sz="1200" dirty="0"/>
          </a:p>
        </p:txBody>
      </p:sp>
      <p:sp>
        <p:nvSpPr>
          <p:cNvPr id="9" name="Text 6"/>
          <p:cNvSpPr txBox="1"/>
          <p:nvPr/>
        </p:nvSpPr>
        <p:spPr>
          <a:xfrm>
            <a:off x="640080" y="2286000"/>
            <a:ext cx="233172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ROI: 9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Primeras 10 ventas: $6.300</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$50K: 43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$100K: 74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$500K: 242 ventas</a:t>
            </a:r>
            <a:endParaRPr lang="en-US" sz="1300" dirty="0"/>
          </a:p>
        </p:txBody>
      </p:sp>
      <p:sp>
        <p:nvSpPr>
          <p:cNvPr id="10" name="Shape 7"/>
          <p:cNvSpPr/>
          <p:nvPr/>
        </p:nvSpPr>
        <p:spPr>
          <a:xfrm>
            <a:off x="3246120" y="1143000"/>
            <a:ext cx="2651760" cy="3474720"/>
          </a:xfrm>
          <a:prstGeom prst="roundRect">
            <a:avLst>
              <a:gd name="adj" fmla="val 5172"/>
            </a:avLst>
          </a:prstGeom>
          <a:solidFill>
            <a:srgbClr val="E8ECF3"/>
          </a:solidFill>
          <a:ln w="12700">
            <a:solidFill>
              <a:srgbClr val="E8ECF3"/>
            </a:solidFill>
            <a:prstDash val="solid"/>
          </a:ln>
        </p:spPr>
      </p:sp>
      <p:sp>
        <p:nvSpPr>
          <p:cNvPr id="11" name="Text 8"/>
          <p:cNvSpPr txBox="1"/>
          <p:nvPr/>
        </p:nvSpPr>
        <p:spPr>
          <a:xfrm>
            <a:off x="3429000" y="1280160"/>
            <a:ext cx="2286000" cy="548640"/>
          </a:xfrm>
          <a:prstGeom prst="rect">
            <a:avLst/>
          </a:prstGeom>
          <a:noFill/>
          <a:ln/>
        </p:spPr>
        <p:txBody>
          <a:bodyPr wrap="square" lIns="0" tIns="0" rIns="0" bIns="0" rtlCol="0" anchor="t"/>
          <a:lstStyle/>
          <a:p>
            <a:pPr indent="0" marL="0">
              <a:buNone/>
            </a:pPr>
            <a:r>
              <a:rPr lang="en-US" sz="1400" b="1" dirty="0">
                <a:solidFill>
                  <a:srgbClr val="8B9AB7"/>
                </a:solidFill>
                <a:latin typeface="Arial" pitchFamily="34" charset="0"/>
                <a:ea typeface="Arial" pitchFamily="34" charset="-122"/>
                <a:cs typeface="Arial" pitchFamily="34" charset="-120"/>
              </a:rPr>
              <a:t>ESTRATEGIA QUAD</a:t>
            </a:r>
            <a:endParaRPr lang="en-US" sz="1400" dirty="0"/>
          </a:p>
        </p:txBody>
      </p:sp>
      <p:sp>
        <p:nvSpPr>
          <p:cNvPr id="12" name="Text 9"/>
          <p:cNvSpPr txBox="1"/>
          <p:nvPr/>
        </p:nvSpPr>
        <p:spPr>
          <a:xfrm>
            <a:off x="3429000" y="1828800"/>
            <a:ext cx="2286000" cy="320040"/>
          </a:xfrm>
          <a:prstGeom prst="rect">
            <a:avLst/>
          </a:prstGeom>
          <a:noFill/>
          <a:ln/>
        </p:spPr>
        <p:txBody>
          <a:bodyPr wrap="square" lIns="0" tIns="0" rIns="0" bIns="0" rtlCol="0" anchor="t"/>
          <a:lstStyle/>
          <a:p>
            <a:pPr indent="0" marL="0">
              <a:buNone/>
            </a:pPr>
            <a:r>
              <a:rPr lang="en-US" sz="1200" i="1" dirty="0">
                <a:solidFill>
                  <a:srgbClr val="6B5F61"/>
                </a:solidFill>
                <a:latin typeface="Calibri" pitchFamily="34" charset="0"/>
                <a:ea typeface="Calibri" pitchFamily="34" charset="-122"/>
                <a:cs typeface="Calibri" pitchFamily="34" charset="-120"/>
              </a:rPr>
              <a:t>Empieza con 4 productos</a:t>
            </a:r>
            <a:endParaRPr lang="en-US" sz="1200" dirty="0"/>
          </a:p>
        </p:txBody>
      </p:sp>
      <p:sp>
        <p:nvSpPr>
          <p:cNvPr id="13" name="Text 10"/>
          <p:cNvSpPr txBox="1"/>
          <p:nvPr/>
        </p:nvSpPr>
        <p:spPr>
          <a:xfrm>
            <a:off x="3429000" y="2286000"/>
            <a:ext cx="233172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ROI: 4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Primeras 10 ventas: $50.500</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$50K: 10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$100K: 18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$500K: 76 ventas</a:t>
            </a:r>
            <a:endParaRPr lang="en-US" sz="1300" dirty="0"/>
          </a:p>
        </p:txBody>
      </p:sp>
      <p:sp>
        <p:nvSpPr>
          <p:cNvPr id="14" name="Shape 11"/>
          <p:cNvSpPr/>
          <p:nvPr/>
        </p:nvSpPr>
        <p:spPr>
          <a:xfrm>
            <a:off x="6035040" y="1143000"/>
            <a:ext cx="2651760" cy="3474720"/>
          </a:xfrm>
          <a:prstGeom prst="roundRect">
            <a:avLst>
              <a:gd name="adj" fmla="val 5172"/>
            </a:avLst>
          </a:prstGeom>
          <a:solidFill>
            <a:srgbClr val="EDF5EA"/>
          </a:solidFill>
          <a:ln w="12700">
            <a:solidFill>
              <a:srgbClr val="EDF5EA"/>
            </a:solidFill>
            <a:prstDash val="solid"/>
          </a:ln>
        </p:spPr>
      </p:sp>
      <p:sp>
        <p:nvSpPr>
          <p:cNvPr id="15" name="Text 12"/>
          <p:cNvSpPr txBox="1"/>
          <p:nvPr/>
        </p:nvSpPr>
        <p:spPr>
          <a:xfrm>
            <a:off x="6217920" y="1280160"/>
            <a:ext cx="2286000" cy="548640"/>
          </a:xfrm>
          <a:prstGeom prst="rect">
            <a:avLst/>
          </a:prstGeom>
          <a:noFill/>
          <a:ln/>
        </p:spPr>
        <p:txBody>
          <a:bodyPr wrap="square" lIns="0" tIns="0" rIns="0" bIns="0" rtlCol="0" anchor="t"/>
          <a:lstStyle/>
          <a:p>
            <a:pPr indent="0" marL="0">
              <a:buNone/>
            </a:pPr>
            <a:r>
              <a:rPr lang="en-US" sz="1400" b="1" dirty="0">
                <a:solidFill>
                  <a:srgbClr val="6E9C64"/>
                </a:solidFill>
                <a:latin typeface="Arial" pitchFamily="34" charset="0"/>
                <a:ea typeface="Arial" pitchFamily="34" charset="-122"/>
                <a:cs typeface="Arial" pitchFamily="34" charset="-120"/>
              </a:rPr>
              <a:t>LEGACY PACKAGE (FAST TRACK)</a:t>
            </a:r>
            <a:endParaRPr lang="en-US" sz="1400" dirty="0"/>
          </a:p>
        </p:txBody>
      </p:sp>
      <p:sp>
        <p:nvSpPr>
          <p:cNvPr id="16" name="Text 13"/>
          <p:cNvSpPr txBox="1"/>
          <p:nvPr/>
        </p:nvSpPr>
        <p:spPr>
          <a:xfrm>
            <a:off x="6217920" y="1828800"/>
            <a:ext cx="2286000" cy="320040"/>
          </a:xfrm>
          <a:prstGeom prst="rect">
            <a:avLst/>
          </a:prstGeom>
          <a:noFill/>
          <a:ln/>
        </p:spPr>
        <p:txBody>
          <a:bodyPr wrap="square" lIns="0" tIns="0" rIns="0" bIns="0" rtlCol="0" anchor="t"/>
          <a:lstStyle/>
          <a:p>
            <a:pPr indent="0" marL="0">
              <a:buNone/>
            </a:pPr>
            <a:r>
              <a:rPr lang="en-US" sz="1200" i="1" dirty="0">
                <a:solidFill>
                  <a:srgbClr val="6B5F61"/>
                </a:solidFill>
                <a:latin typeface="Calibri" pitchFamily="34" charset="0"/>
                <a:ea typeface="Calibri" pitchFamily="34" charset="-122"/>
                <a:cs typeface="Calibri" pitchFamily="34" charset="-120"/>
              </a:rPr>
              <a:t>Empieza con 6 productos</a:t>
            </a:r>
            <a:endParaRPr lang="en-US" sz="1200" dirty="0"/>
          </a:p>
        </p:txBody>
      </p:sp>
      <p:sp>
        <p:nvSpPr>
          <p:cNvPr id="17" name="Text 14"/>
          <p:cNvSpPr txBox="1"/>
          <p:nvPr/>
        </p:nvSpPr>
        <p:spPr>
          <a:xfrm>
            <a:off x="6217920" y="2286000"/>
            <a:ext cx="2331720" cy="21945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ROI: 4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Primeras 10 ventas: $77.566</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$50K: 7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$100K: 13 ventas</a:t>
            </a:r>
            <a:endParaRPr lang="en-US" sz="1300" dirty="0"/>
          </a:p>
          <a:p>
            <a:pPr marL="342900" indent="-342900">
              <a:spcAft>
                <a:spcPts val="500"/>
              </a:spcAft>
              <a:buSzPct val="100000"/>
              <a:buChar char="•"/>
            </a:pPr>
            <a:r>
              <a:rPr lang="en-US" sz="1300" dirty="0">
                <a:solidFill>
                  <a:srgbClr val="2E2224"/>
                </a:solidFill>
                <a:latin typeface="Calibri" pitchFamily="34" charset="0"/>
                <a:ea typeface="Calibri" pitchFamily="34" charset="-122"/>
                <a:cs typeface="Calibri" pitchFamily="34" charset="-120"/>
              </a:rPr>
              <a:t>$500K: 60 ventas</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Legacy Package: la forma más potente</a:t>
            </a:r>
            <a:endParaRPr lang="en-US" sz="2600" dirty="0"/>
          </a:p>
        </p:txBody>
      </p:sp>
      <p:sp>
        <p:nvSpPr>
          <p:cNvPr id="4" name="Text 1"/>
          <p:cNvSpPr txBox="1"/>
          <p:nvPr/>
        </p:nvSpPr>
        <p:spPr>
          <a:xfrm>
            <a:off x="457200" y="1051560"/>
            <a:ext cx="8229600" cy="548640"/>
          </a:xfrm>
          <a:prstGeom prst="rect">
            <a:avLst/>
          </a:prstGeom>
          <a:noFill/>
          <a:ln/>
        </p:spPr>
        <p:txBody>
          <a:bodyPr wrap="square" lIns="0" tIns="0" rIns="0" bIns="0" rtlCol="0" anchor="t"/>
          <a:lstStyle/>
          <a:p>
            <a:pPr indent="0" marL="0">
              <a:buNone/>
            </a:pPr>
            <a:r>
              <a:rPr lang="en-US" sz="1400" b="1" dirty="0">
                <a:solidFill>
                  <a:srgbClr val="2E2224"/>
                </a:solidFill>
                <a:latin typeface="Calibri" pitchFamily="34" charset="0"/>
                <a:ea typeface="Calibri" pitchFamily="34" charset="-122"/>
                <a:cs typeface="Calibri" pitchFamily="34" charset="-120"/>
              </a:rPr>
              <a:t>Empezar con el Legacy Package te prepara para tu rango de jubilación. Recibes automáticamente una comisión de $1.552.</a:t>
            </a:r>
            <a:endParaRPr lang="en-US" sz="1400" dirty="0"/>
          </a:p>
        </p:txBody>
      </p:sp>
      <p:sp>
        <p:nvSpPr>
          <p:cNvPr id="5" name="Shape 2"/>
          <p:cNvSpPr/>
          <p:nvPr/>
        </p:nvSpPr>
        <p:spPr>
          <a:xfrm>
            <a:off x="457200" y="1783080"/>
            <a:ext cx="2651760" cy="1737360"/>
          </a:xfrm>
          <a:prstGeom prst="roundRect">
            <a:avLst>
              <a:gd name="adj" fmla="val 7895"/>
            </a:avLst>
          </a:prstGeom>
          <a:solidFill>
            <a:srgbClr val="E8ECF3"/>
          </a:solidFill>
          <a:ln w="12700">
            <a:solidFill>
              <a:srgbClr val="E8ECF3"/>
            </a:solidFill>
            <a:prstDash val="solid"/>
          </a:ln>
        </p:spPr>
      </p:sp>
      <p:sp>
        <p:nvSpPr>
          <p:cNvPr id="6" name="Text 3"/>
          <p:cNvSpPr txBox="1"/>
          <p:nvPr/>
        </p:nvSpPr>
        <p:spPr>
          <a:xfrm>
            <a:off x="640080" y="1920240"/>
            <a:ext cx="2286000" cy="36576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2× Anespa DX</a:t>
            </a:r>
            <a:endParaRPr lang="en-US" sz="1600" dirty="0"/>
          </a:p>
        </p:txBody>
      </p:sp>
      <p:sp>
        <p:nvSpPr>
          <p:cNvPr id="7" name="Text 4"/>
          <p:cNvSpPr txBox="1"/>
          <p:nvPr/>
        </p:nvSpPr>
        <p:spPr>
          <a:xfrm>
            <a:off x="640080" y="2331720"/>
            <a:ext cx="2286000" cy="548640"/>
          </a:xfrm>
          <a:prstGeom prst="rect">
            <a:avLst/>
          </a:prstGeom>
          <a:noFill/>
          <a:ln/>
        </p:spPr>
        <p:txBody>
          <a:bodyPr wrap="square" lIns="0" tIns="0" rIns="0" bIns="0" rtlCol="0" anchor="t"/>
          <a:lstStyle/>
          <a:p>
            <a:pPr indent="0" marL="0">
              <a:buNone/>
            </a:pPr>
            <a:r>
              <a:rPr lang="en-US" sz="1200" dirty="0">
                <a:solidFill>
                  <a:srgbClr val="6B5F61"/>
                </a:solidFill>
                <a:latin typeface="Calibri" pitchFamily="34" charset="0"/>
                <a:ea typeface="Calibri" pitchFamily="34" charset="-122"/>
                <a:cs typeface="Calibri" pitchFamily="34" charset="-120"/>
              </a:rPr>
              <a:t>Sistema de ducha spa en casa</a:t>
            </a:r>
            <a:endParaRPr lang="en-US" sz="1200" dirty="0"/>
          </a:p>
        </p:txBody>
      </p:sp>
      <p:sp>
        <p:nvSpPr>
          <p:cNvPr id="8" name="Text 5"/>
          <p:cNvSpPr txBox="1"/>
          <p:nvPr/>
        </p:nvSpPr>
        <p:spPr>
          <a:xfrm>
            <a:off x="640080" y="2926080"/>
            <a:ext cx="2286000" cy="457200"/>
          </a:xfrm>
          <a:prstGeom prst="rect">
            <a:avLst/>
          </a:prstGeom>
          <a:noFill/>
          <a:ln/>
        </p:spPr>
        <p:txBody>
          <a:bodyPr wrap="square" lIns="0" tIns="0" rIns="0" bIns="0" rtlCol="0" anchor="t"/>
          <a:lstStyle/>
          <a:p>
            <a:pPr indent="0" marL="0">
              <a:buNone/>
            </a:pPr>
            <a:r>
              <a:rPr lang="en-US" sz="2000" b="1" dirty="0">
                <a:solidFill>
                  <a:srgbClr val="EE7A7A"/>
                </a:solidFill>
                <a:latin typeface="Arial" pitchFamily="34" charset="0"/>
                <a:ea typeface="Arial" pitchFamily="34" charset="-122"/>
                <a:cs typeface="Arial" pitchFamily="34" charset="-120"/>
              </a:rPr>
              <a:t>$3.420 USD</a:t>
            </a:r>
            <a:endParaRPr lang="en-US" sz="2000" dirty="0"/>
          </a:p>
        </p:txBody>
      </p:sp>
      <p:sp>
        <p:nvSpPr>
          <p:cNvPr id="9" name="Shape 6"/>
          <p:cNvSpPr/>
          <p:nvPr/>
        </p:nvSpPr>
        <p:spPr>
          <a:xfrm>
            <a:off x="3246120" y="1783080"/>
            <a:ext cx="2651760" cy="1737360"/>
          </a:xfrm>
          <a:prstGeom prst="roundRect">
            <a:avLst>
              <a:gd name="adj" fmla="val 7895"/>
            </a:avLst>
          </a:prstGeom>
          <a:solidFill>
            <a:srgbClr val="FBEAEA"/>
          </a:solidFill>
          <a:ln w="12700">
            <a:solidFill>
              <a:srgbClr val="FBEAEA"/>
            </a:solidFill>
            <a:prstDash val="solid"/>
          </a:ln>
        </p:spPr>
      </p:sp>
      <p:sp>
        <p:nvSpPr>
          <p:cNvPr id="10" name="Text 7"/>
          <p:cNvSpPr txBox="1"/>
          <p:nvPr/>
        </p:nvSpPr>
        <p:spPr>
          <a:xfrm>
            <a:off x="3429000" y="1920240"/>
            <a:ext cx="2286000" cy="36576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2× K8</a:t>
            </a:r>
            <a:endParaRPr lang="en-US" sz="1600" dirty="0"/>
          </a:p>
        </p:txBody>
      </p:sp>
      <p:sp>
        <p:nvSpPr>
          <p:cNvPr id="11" name="Text 8"/>
          <p:cNvSpPr txBox="1"/>
          <p:nvPr/>
        </p:nvSpPr>
        <p:spPr>
          <a:xfrm>
            <a:off x="3429000" y="2331720"/>
            <a:ext cx="2286000" cy="548640"/>
          </a:xfrm>
          <a:prstGeom prst="rect">
            <a:avLst/>
          </a:prstGeom>
          <a:noFill/>
          <a:ln/>
        </p:spPr>
        <p:txBody>
          <a:bodyPr wrap="square" lIns="0" tIns="0" rIns="0" bIns="0" rtlCol="0" anchor="t"/>
          <a:lstStyle/>
          <a:p>
            <a:pPr indent="0" marL="0">
              <a:buNone/>
            </a:pPr>
            <a:r>
              <a:rPr lang="en-US" sz="1200" dirty="0">
                <a:solidFill>
                  <a:srgbClr val="6B5F61"/>
                </a:solidFill>
                <a:latin typeface="Calibri" pitchFamily="34" charset="0"/>
                <a:ea typeface="Calibri" pitchFamily="34" charset="-122"/>
                <a:cs typeface="Calibri" pitchFamily="34" charset="-120"/>
              </a:rPr>
              <a:t>Ionizador de agua insignia de Enagic</a:t>
            </a:r>
            <a:endParaRPr lang="en-US" sz="1200" dirty="0"/>
          </a:p>
        </p:txBody>
      </p:sp>
      <p:sp>
        <p:nvSpPr>
          <p:cNvPr id="12" name="Text 9"/>
          <p:cNvSpPr txBox="1"/>
          <p:nvPr/>
        </p:nvSpPr>
        <p:spPr>
          <a:xfrm>
            <a:off x="3429000" y="2926080"/>
            <a:ext cx="2286000" cy="457200"/>
          </a:xfrm>
          <a:prstGeom prst="rect">
            <a:avLst/>
          </a:prstGeom>
          <a:noFill/>
          <a:ln/>
        </p:spPr>
        <p:txBody>
          <a:bodyPr wrap="square" lIns="0" tIns="0" rIns="0" bIns="0" rtlCol="0" anchor="t"/>
          <a:lstStyle/>
          <a:p>
            <a:pPr indent="0" marL="0">
              <a:buNone/>
            </a:pPr>
            <a:r>
              <a:rPr lang="en-US" sz="2000" b="1" dirty="0">
                <a:solidFill>
                  <a:srgbClr val="EE7A7A"/>
                </a:solidFill>
                <a:latin typeface="Arial" pitchFamily="34" charset="0"/>
                <a:ea typeface="Arial" pitchFamily="34" charset="-122"/>
                <a:cs typeface="Arial" pitchFamily="34" charset="-120"/>
              </a:rPr>
              <a:t>$5.890 USD</a:t>
            </a:r>
            <a:endParaRPr lang="en-US" sz="2000" dirty="0"/>
          </a:p>
        </p:txBody>
      </p:sp>
      <p:sp>
        <p:nvSpPr>
          <p:cNvPr id="13" name="Shape 10"/>
          <p:cNvSpPr/>
          <p:nvPr/>
        </p:nvSpPr>
        <p:spPr>
          <a:xfrm>
            <a:off x="6035040" y="1783080"/>
            <a:ext cx="2651760" cy="1737360"/>
          </a:xfrm>
          <a:prstGeom prst="roundRect">
            <a:avLst>
              <a:gd name="adj" fmla="val 7895"/>
            </a:avLst>
          </a:prstGeom>
          <a:solidFill>
            <a:srgbClr val="FDF3DC"/>
          </a:solidFill>
          <a:ln w="12700">
            <a:solidFill>
              <a:srgbClr val="FDF3DC"/>
            </a:solidFill>
            <a:prstDash val="solid"/>
          </a:ln>
        </p:spPr>
      </p:sp>
      <p:sp>
        <p:nvSpPr>
          <p:cNvPr id="14" name="Text 11"/>
          <p:cNvSpPr txBox="1"/>
          <p:nvPr/>
        </p:nvSpPr>
        <p:spPr>
          <a:xfrm>
            <a:off x="6217920" y="1920240"/>
            <a:ext cx="2286000" cy="365760"/>
          </a:xfrm>
          <a:prstGeom prst="rect">
            <a:avLst/>
          </a:prstGeom>
          <a:noFill/>
          <a:ln/>
        </p:spPr>
        <p:txBody>
          <a:bodyPr wrap="square" lIns="0" tIns="0" rIns="0" bIns="0" rtlCol="0" anchor="t"/>
          <a:lstStyle/>
          <a:p>
            <a:pPr indent="0" marL="0">
              <a:buNone/>
            </a:pPr>
            <a:r>
              <a:rPr lang="en-US" sz="1600" b="1" dirty="0">
                <a:solidFill>
                  <a:srgbClr val="2E2224"/>
                </a:solidFill>
                <a:latin typeface="Arial" pitchFamily="34" charset="0"/>
                <a:ea typeface="Arial" pitchFamily="34" charset="-122"/>
                <a:cs typeface="Arial" pitchFamily="34" charset="-120"/>
              </a:rPr>
              <a:t>Ukon Sigma</a:t>
            </a:r>
            <a:endParaRPr lang="en-US" sz="1600" dirty="0"/>
          </a:p>
        </p:txBody>
      </p:sp>
      <p:sp>
        <p:nvSpPr>
          <p:cNvPr id="15" name="Text 12"/>
          <p:cNvSpPr txBox="1"/>
          <p:nvPr/>
        </p:nvSpPr>
        <p:spPr>
          <a:xfrm>
            <a:off x="6217920" y="2331720"/>
            <a:ext cx="2286000" cy="548640"/>
          </a:xfrm>
          <a:prstGeom prst="rect">
            <a:avLst/>
          </a:prstGeom>
          <a:noFill/>
          <a:ln/>
        </p:spPr>
        <p:txBody>
          <a:bodyPr wrap="square" lIns="0" tIns="0" rIns="0" bIns="0" rtlCol="0" anchor="t"/>
          <a:lstStyle/>
          <a:p>
            <a:pPr indent="0" marL="0">
              <a:buNone/>
            </a:pPr>
            <a:r>
              <a:rPr lang="en-US" sz="1200" dirty="0">
                <a:solidFill>
                  <a:srgbClr val="6B5F61"/>
                </a:solidFill>
                <a:latin typeface="Calibri" pitchFamily="34" charset="0"/>
                <a:ea typeface="Calibri" pitchFamily="34" charset="-122"/>
                <a:cs typeface="Calibri" pitchFamily="34" charset="-120"/>
              </a:rPr>
              <a:t>Suplementos, té y jabón de cúrcuma silvestre</a:t>
            </a:r>
            <a:endParaRPr lang="en-US" sz="1200" dirty="0"/>
          </a:p>
        </p:txBody>
      </p:sp>
      <p:sp>
        <p:nvSpPr>
          <p:cNvPr id="16" name="Text 13"/>
          <p:cNvSpPr txBox="1"/>
          <p:nvPr/>
        </p:nvSpPr>
        <p:spPr>
          <a:xfrm>
            <a:off x="6217920" y="2926080"/>
            <a:ext cx="2286000" cy="457200"/>
          </a:xfrm>
          <a:prstGeom prst="rect">
            <a:avLst/>
          </a:prstGeom>
          <a:noFill/>
          <a:ln/>
        </p:spPr>
        <p:txBody>
          <a:bodyPr wrap="square" lIns="0" tIns="0" rIns="0" bIns="0" rtlCol="0" anchor="t"/>
          <a:lstStyle/>
          <a:p>
            <a:pPr indent="0" marL="0">
              <a:buNone/>
            </a:pPr>
            <a:r>
              <a:rPr lang="en-US" sz="2000" b="1" dirty="0">
                <a:solidFill>
                  <a:srgbClr val="EE7A7A"/>
                </a:solidFill>
                <a:latin typeface="Arial" pitchFamily="34" charset="0"/>
                <a:ea typeface="Arial" pitchFamily="34" charset="-122"/>
                <a:cs typeface="Arial" pitchFamily="34" charset="-120"/>
              </a:rPr>
              <a:t>$2.660 USD</a:t>
            </a:r>
            <a:endParaRPr lang="en-US" sz="2000" dirty="0"/>
          </a:p>
        </p:txBody>
      </p:sp>
      <p:sp>
        <p:nvSpPr>
          <p:cNvPr id="17" name="Shape 14"/>
          <p:cNvSpPr/>
          <p:nvPr/>
        </p:nvSpPr>
        <p:spPr>
          <a:xfrm>
            <a:off x="457200" y="3749040"/>
            <a:ext cx="8229600" cy="822960"/>
          </a:xfrm>
          <a:prstGeom prst="roundRect">
            <a:avLst>
              <a:gd name="adj" fmla="val 13333"/>
            </a:avLst>
          </a:prstGeom>
          <a:solidFill>
            <a:srgbClr val="2E2224"/>
          </a:solidFill>
          <a:ln w="12700">
            <a:solidFill>
              <a:srgbClr val="2E2224"/>
            </a:solidFill>
            <a:prstDash val="solid"/>
          </a:ln>
        </p:spPr>
      </p:sp>
      <p:sp>
        <p:nvSpPr>
          <p:cNvPr id="18" name="Text 15"/>
          <p:cNvSpPr txBox="1"/>
          <p:nvPr/>
        </p:nvSpPr>
        <p:spPr>
          <a:xfrm>
            <a:off x="685800" y="3749040"/>
            <a:ext cx="7772400" cy="8229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Inversión inicial aproximada: </a:t>
            </a:r>
            <a:pPr indent="0" marL="0">
              <a:buNone/>
            </a:pPr>
            <a:r>
              <a:rPr lang="en-US" sz="1800" b="1" dirty="0">
                <a:solidFill>
                  <a:srgbClr val="F2C14E"/>
                </a:solidFill>
                <a:latin typeface="Calibri" pitchFamily="34" charset="0"/>
                <a:ea typeface="Calibri" pitchFamily="34" charset="-122"/>
                <a:cs typeface="Calibri" pitchFamily="34" charset="-120"/>
              </a:rPr>
              <a:t>$23.940 USD</a:t>
            </a:r>
            <a:pPr indent="0" marL="0">
              <a:buNone/>
            </a:pPr>
            <a:r>
              <a:rPr lang="en-US" sz="1200" dirty="0">
                <a:solidFill>
                  <a:srgbClr val="CFC5C6"/>
                </a:solidFill>
                <a:latin typeface="Calibri" pitchFamily="34" charset="0"/>
                <a:ea typeface="Calibri" pitchFamily="34" charset="-122"/>
                <a:cs typeface="Calibri" pitchFamily="34" charset="-120"/>
              </a:rPr>
              <a:t>  (sin impuestos ni envío; cifras estimadas)</a:t>
            </a:r>
            <a:endParaRPr lang="en-US" sz="18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Hablemos de ROI: Legacy Package</a:t>
            </a:r>
            <a:endParaRPr lang="en-US" sz="2600" dirty="0"/>
          </a:p>
        </p:txBody>
      </p:sp>
      <p:graphicFrame>
        <p:nvGraphicFramePr>
          <p:cNvPr id="4" name="Chart 0" descr=""/>
          <p:cNvGraphicFramePr/>
          <p:nvPr/>
        </p:nvGraphicFramePr>
        <p:xfrm>
          <a:off x="365760" y="1051560"/>
          <a:ext cx="5303520" cy="36576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5943600" y="1234440"/>
            <a:ext cx="2743200" cy="1417320"/>
          </a:xfrm>
          <a:prstGeom prst="roundRect">
            <a:avLst>
              <a:gd name="adj" fmla="val 7742"/>
            </a:avLst>
          </a:prstGeom>
          <a:solidFill>
            <a:srgbClr val="FBEAEA"/>
          </a:solidFill>
          <a:ln w="12700">
            <a:solidFill>
              <a:srgbClr val="FBEAEA"/>
            </a:solidFill>
            <a:prstDash val="solid"/>
          </a:ln>
        </p:spPr>
      </p:sp>
      <p:sp>
        <p:nvSpPr>
          <p:cNvPr id="6" name="Text 2"/>
          <p:cNvSpPr txBox="1"/>
          <p:nvPr/>
        </p:nvSpPr>
        <p:spPr>
          <a:xfrm>
            <a:off x="6126480" y="1371600"/>
            <a:ext cx="2377440" cy="640080"/>
          </a:xfrm>
          <a:prstGeom prst="rect">
            <a:avLst/>
          </a:prstGeom>
          <a:noFill/>
          <a:ln/>
        </p:spPr>
        <p:txBody>
          <a:bodyPr wrap="square" lIns="0" tIns="0" rIns="0" bIns="0" rtlCol="0" anchor="t"/>
          <a:lstStyle/>
          <a:p>
            <a:pPr indent="0" marL="0">
              <a:buNone/>
            </a:pPr>
            <a:r>
              <a:rPr lang="en-US" sz="3000" b="1" dirty="0">
                <a:solidFill>
                  <a:srgbClr val="EE7A7A"/>
                </a:solidFill>
                <a:latin typeface="Arial" pitchFamily="34" charset="0"/>
                <a:ea typeface="Arial" pitchFamily="34" charset="-122"/>
                <a:cs typeface="Arial" pitchFamily="34" charset="-120"/>
              </a:rPr>
              <a:t>$26.400</a:t>
            </a:r>
            <a:endParaRPr lang="en-US" sz="3000" dirty="0"/>
          </a:p>
        </p:txBody>
      </p:sp>
      <p:sp>
        <p:nvSpPr>
          <p:cNvPr id="7" name="Text 3"/>
          <p:cNvSpPr txBox="1"/>
          <p:nvPr/>
        </p:nvSpPr>
        <p:spPr>
          <a:xfrm>
            <a:off x="6126480" y="2011680"/>
            <a:ext cx="2377440" cy="54864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en 5 ventas: recuperas tu inversión</a:t>
            </a:r>
            <a:endParaRPr lang="en-US" sz="1300" dirty="0"/>
          </a:p>
        </p:txBody>
      </p:sp>
      <p:sp>
        <p:nvSpPr>
          <p:cNvPr id="8" name="Shape 4"/>
          <p:cNvSpPr/>
          <p:nvPr/>
        </p:nvSpPr>
        <p:spPr>
          <a:xfrm>
            <a:off x="5943600" y="2834640"/>
            <a:ext cx="2743200" cy="1417320"/>
          </a:xfrm>
          <a:prstGeom prst="roundRect">
            <a:avLst>
              <a:gd name="adj" fmla="val 7742"/>
            </a:avLst>
          </a:prstGeom>
          <a:solidFill>
            <a:srgbClr val="EDF5EA"/>
          </a:solidFill>
          <a:ln w="12700">
            <a:solidFill>
              <a:srgbClr val="EDF5EA"/>
            </a:solidFill>
            <a:prstDash val="solid"/>
          </a:ln>
        </p:spPr>
      </p:sp>
      <p:sp>
        <p:nvSpPr>
          <p:cNvPr id="9" name="Text 5"/>
          <p:cNvSpPr txBox="1"/>
          <p:nvPr/>
        </p:nvSpPr>
        <p:spPr>
          <a:xfrm>
            <a:off x="6126480" y="2971800"/>
            <a:ext cx="2377440" cy="640080"/>
          </a:xfrm>
          <a:prstGeom prst="rect">
            <a:avLst/>
          </a:prstGeom>
          <a:noFill/>
          <a:ln/>
        </p:spPr>
        <p:txBody>
          <a:bodyPr wrap="square" lIns="0" tIns="0" rIns="0" bIns="0" rtlCol="0" anchor="t"/>
          <a:lstStyle/>
          <a:p>
            <a:pPr indent="0" marL="0">
              <a:buNone/>
            </a:pPr>
            <a:r>
              <a:rPr lang="en-US" sz="3000" b="1" dirty="0">
                <a:solidFill>
                  <a:srgbClr val="6E9C64"/>
                </a:solidFill>
                <a:latin typeface="Arial" pitchFamily="34" charset="0"/>
                <a:ea typeface="Arial" pitchFamily="34" charset="-122"/>
                <a:cs typeface="Arial" pitchFamily="34" charset="-120"/>
              </a:rPr>
              <a:t>$50.160</a:t>
            </a:r>
            <a:endParaRPr lang="en-US" sz="3000" dirty="0"/>
          </a:p>
        </p:txBody>
      </p:sp>
      <p:sp>
        <p:nvSpPr>
          <p:cNvPr id="10" name="Text 6"/>
          <p:cNvSpPr txBox="1"/>
          <p:nvPr/>
        </p:nvSpPr>
        <p:spPr>
          <a:xfrm>
            <a:off x="6126480" y="3611880"/>
            <a:ext cx="2377440" cy="548640"/>
          </a:xfrm>
          <a:prstGeom prst="rect">
            <a:avLst/>
          </a:prstGeom>
          <a:noFill/>
          <a:ln/>
        </p:spPr>
        <p:txBody>
          <a:bodyPr wrap="square" lIns="0" tIns="0" rIns="0" bIns="0" rtlCol="0" anchor="t"/>
          <a:lstStyle/>
          <a:p>
            <a:pPr indent="0" marL="0">
              <a:buNone/>
            </a:pPr>
            <a:r>
              <a:rPr lang="en-US" sz="1300" dirty="0">
                <a:solidFill>
                  <a:srgbClr val="2E2224"/>
                </a:solidFill>
                <a:latin typeface="Calibri" pitchFamily="34" charset="0"/>
                <a:ea typeface="Calibri" pitchFamily="34" charset="-122"/>
                <a:cs typeface="Calibri" pitchFamily="34" charset="-120"/>
              </a:rPr>
              <a:t>en total con 8 ventas</a:t>
            </a:r>
            <a:endParaRPr lang="en-US" sz="1300" dirty="0"/>
          </a:p>
        </p:txBody>
      </p:sp>
      <p:sp>
        <p:nvSpPr>
          <p:cNvPr id="11" name="Text 7"/>
          <p:cNvSpPr txBox="1"/>
          <p:nvPr/>
        </p:nvSpPr>
        <p:spPr>
          <a:xfrm>
            <a:off x="5943600" y="4434840"/>
            <a:ext cx="2743200" cy="274320"/>
          </a:xfrm>
          <a:prstGeom prst="rect">
            <a:avLst/>
          </a:prstGeom>
          <a:noFill/>
          <a:ln/>
        </p:spPr>
        <p:txBody>
          <a:bodyPr wrap="square" lIns="0" tIns="0" rIns="0" bIns="0" rtlCol="0" anchor="t"/>
          <a:lstStyle/>
          <a:p>
            <a:pPr indent="0" marL="0">
              <a:buNone/>
            </a:pPr>
            <a:r>
              <a:rPr lang="en-US" sz="1100" i="1" dirty="0">
                <a:solidFill>
                  <a:srgbClr val="6B5F61"/>
                </a:solidFill>
                <a:latin typeface="Calibri" pitchFamily="34" charset="0"/>
                <a:ea typeface="Calibri" pitchFamily="34" charset="-122"/>
                <a:cs typeface="Calibri" pitchFamily="34" charset="-120"/>
              </a:rPr>
              <a:t>Sin incluir ventas indirectas.</a:t>
            </a:r>
            <a:endParaRPr lang="en-US" sz="11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Fast-track de junio: este mes vs. el próximo</a:t>
            </a:r>
            <a:endParaRPr lang="en-US" sz="2600" dirty="0"/>
          </a:p>
        </p:txBody>
      </p:sp>
      <p:sp>
        <p:nvSpPr>
          <p:cNvPr id="4" name="Shape 1"/>
          <p:cNvSpPr/>
          <p:nvPr/>
        </p:nvSpPr>
        <p:spPr>
          <a:xfrm>
            <a:off x="457200" y="1143000"/>
            <a:ext cx="4023360" cy="2743200"/>
          </a:xfrm>
          <a:prstGeom prst="roundRect">
            <a:avLst>
              <a:gd name="adj" fmla="val 5000"/>
            </a:avLst>
          </a:prstGeom>
          <a:solidFill>
            <a:srgbClr val="3E3133"/>
          </a:solidFill>
          <a:ln w="12700">
            <a:solidFill>
              <a:srgbClr val="3E3133"/>
            </a:solidFill>
            <a:prstDash val="solid"/>
          </a:ln>
        </p:spPr>
      </p:sp>
      <p:sp>
        <p:nvSpPr>
          <p:cNvPr id="5" name="Text 2"/>
          <p:cNvSpPr txBox="1"/>
          <p:nvPr/>
        </p:nvSpPr>
        <p:spPr>
          <a:xfrm>
            <a:off x="731520" y="1280160"/>
            <a:ext cx="3474720" cy="411480"/>
          </a:xfrm>
          <a:prstGeom prst="rect">
            <a:avLst/>
          </a:prstGeom>
          <a:noFill/>
          <a:ln/>
        </p:spPr>
        <p:txBody>
          <a:bodyPr wrap="square" lIns="0" tIns="0" rIns="0" bIns="0" rtlCol="0" anchor="t"/>
          <a:lstStyle/>
          <a:p>
            <a:pPr indent="0" marL="0">
              <a:buNone/>
            </a:pPr>
            <a:r>
              <a:rPr lang="en-US" sz="1500" b="1" spc="200" kern="0" dirty="0">
                <a:solidFill>
                  <a:srgbClr val="FFFFFF"/>
                </a:solidFill>
                <a:latin typeface="Calibri" pitchFamily="34" charset="0"/>
                <a:ea typeface="Calibri" pitchFamily="34" charset="-122"/>
                <a:cs typeface="Calibri" pitchFamily="34" charset="-120"/>
              </a:rPr>
              <a:t>NORMAL</a:t>
            </a:r>
            <a:endParaRPr lang="en-US" sz="1500" dirty="0"/>
          </a:p>
        </p:txBody>
      </p:sp>
      <p:sp>
        <p:nvSpPr>
          <p:cNvPr id="6" name="Text 3"/>
          <p:cNvSpPr txBox="1"/>
          <p:nvPr/>
        </p:nvSpPr>
        <p:spPr>
          <a:xfrm>
            <a:off x="731520" y="1783080"/>
            <a:ext cx="347472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Primeras 2 ventas: 3 puntos ($3.030)</a:t>
            </a:r>
            <a:endParaRPr lang="en-US" sz="1400" dirty="0"/>
          </a:p>
        </p:txBody>
      </p:sp>
      <p:sp>
        <p:nvSpPr>
          <p:cNvPr id="7" name="Text 4"/>
          <p:cNvSpPr txBox="1"/>
          <p:nvPr/>
        </p:nvSpPr>
        <p:spPr>
          <a:xfrm>
            <a:off x="731520" y="2148840"/>
            <a:ext cx="347472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3.ª venta: 4 puntos ($4.040)</a:t>
            </a:r>
            <a:endParaRPr lang="en-US" sz="1400" dirty="0"/>
          </a:p>
        </p:txBody>
      </p:sp>
      <p:sp>
        <p:nvSpPr>
          <p:cNvPr id="8" name="Text 5"/>
          <p:cNvSpPr txBox="1"/>
          <p:nvPr/>
        </p:nvSpPr>
        <p:spPr>
          <a:xfrm>
            <a:off x="731520" y="2834640"/>
            <a:ext cx="3474720" cy="7315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Total: $10.100</a:t>
            </a:r>
            <a:endParaRPr lang="en-US" sz="3000" dirty="0"/>
          </a:p>
        </p:txBody>
      </p:sp>
      <p:sp>
        <p:nvSpPr>
          <p:cNvPr id="9" name="Shape 6"/>
          <p:cNvSpPr/>
          <p:nvPr/>
        </p:nvSpPr>
        <p:spPr>
          <a:xfrm>
            <a:off x="4663440" y="1143000"/>
            <a:ext cx="4023360" cy="2743200"/>
          </a:xfrm>
          <a:prstGeom prst="roundRect">
            <a:avLst>
              <a:gd name="adj" fmla="val 5000"/>
            </a:avLst>
          </a:prstGeom>
          <a:solidFill>
            <a:srgbClr val="EE7A7A"/>
          </a:solidFill>
          <a:ln w="12700">
            <a:solidFill>
              <a:srgbClr val="EE7A7A"/>
            </a:solidFill>
            <a:prstDash val="solid"/>
          </a:ln>
        </p:spPr>
      </p:sp>
      <p:sp>
        <p:nvSpPr>
          <p:cNvPr id="10" name="Text 7"/>
          <p:cNvSpPr txBox="1"/>
          <p:nvPr/>
        </p:nvSpPr>
        <p:spPr>
          <a:xfrm>
            <a:off x="4937760" y="1280160"/>
            <a:ext cx="3474720" cy="411480"/>
          </a:xfrm>
          <a:prstGeom prst="rect">
            <a:avLst/>
          </a:prstGeom>
          <a:noFill/>
          <a:ln/>
        </p:spPr>
        <p:txBody>
          <a:bodyPr wrap="square" lIns="0" tIns="0" rIns="0" bIns="0" rtlCol="0" anchor="t"/>
          <a:lstStyle/>
          <a:p>
            <a:pPr indent="0" marL="0">
              <a:buNone/>
            </a:pPr>
            <a:r>
              <a:rPr lang="en-US" sz="1500" b="1" spc="200" kern="0" dirty="0">
                <a:solidFill>
                  <a:srgbClr val="FFFFFF"/>
                </a:solidFill>
                <a:latin typeface="Calibri" pitchFamily="34" charset="0"/>
                <a:ea typeface="Calibri" pitchFamily="34" charset="-122"/>
                <a:cs typeface="Calibri" pitchFamily="34" charset="-120"/>
              </a:rPr>
              <a:t>ESTE MES · 4× COMISIÓN</a:t>
            </a:r>
            <a:endParaRPr lang="en-US" sz="1500" dirty="0"/>
          </a:p>
        </p:txBody>
      </p:sp>
      <p:sp>
        <p:nvSpPr>
          <p:cNvPr id="11" name="Text 8"/>
          <p:cNvSpPr txBox="1"/>
          <p:nvPr/>
        </p:nvSpPr>
        <p:spPr>
          <a:xfrm>
            <a:off x="4937760" y="1783080"/>
            <a:ext cx="347472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Primeras 2 ventas: 4 puntos ($4.040)</a:t>
            </a:r>
            <a:endParaRPr lang="en-US" sz="1400" dirty="0"/>
          </a:p>
        </p:txBody>
      </p:sp>
      <p:sp>
        <p:nvSpPr>
          <p:cNvPr id="12" name="Text 9"/>
          <p:cNvSpPr txBox="1"/>
          <p:nvPr/>
        </p:nvSpPr>
        <p:spPr>
          <a:xfrm>
            <a:off x="4937760" y="2148840"/>
            <a:ext cx="3474720" cy="36576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3.ª venta: 5 puntos ($5.050)</a:t>
            </a:r>
            <a:endParaRPr lang="en-US" sz="1400" dirty="0"/>
          </a:p>
        </p:txBody>
      </p:sp>
      <p:sp>
        <p:nvSpPr>
          <p:cNvPr id="13" name="Text 10"/>
          <p:cNvSpPr txBox="1"/>
          <p:nvPr/>
        </p:nvSpPr>
        <p:spPr>
          <a:xfrm>
            <a:off x="4937760" y="2834640"/>
            <a:ext cx="3474720" cy="7315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Total: $13.130</a:t>
            </a:r>
            <a:endParaRPr lang="en-US" sz="3000" dirty="0"/>
          </a:p>
        </p:txBody>
      </p:sp>
      <p:sp>
        <p:nvSpPr>
          <p:cNvPr id="14" name="Text 11"/>
          <p:cNvSpPr txBox="1"/>
          <p:nvPr/>
        </p:nvSpPr>
        <p:spPr>
          <a:xfrm>
            <a:off x="457200" y="4069080"/>
            <a:ext cx="8229600" cy="502920"/>
          </a:xfrm>
          <a:prstGeom prst="rect">
            <a:avLst/>
          </a:prstGeom>
          <a:noFill/>
          <a:ln/>
        </p:spPr>
        <p:txBody>
          <a:bodyPr wrap="square" lIns="0" tIns="0" rIns="0" bIns="0" rtlCol="0" anchor="t"/>
          <a:lstStyle/>
          <a:p>
            <a:pPr algn="ctr" indent="0" marL="0">
              <a:buNone/>
            </a:pPr>
            <a:r>
              <a:rPr lang="en-US" sz="2000" b="1" dirty="0">
                <a:solidFill>
                  <a:srgbClr val="F2C14E"/>
                </a:solidFill>
                <a:latin typeface="Arial" pitchFamily="34" charset="0"/>
                <a:ea typeface="Arial" pitchFamily="34" charset="-122"/>
                <a:cs typeface="Arial" pitchFamily="34" charset="-120"/>
              </a:rPr>
              <a:t>Ganas $3.030 más si empiezas este mes.</a:t>
            </a:r>
            <a:endParaRPr lang="en-US" sz="20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Bonos incluidos</a:t>
            </a:r>
            <a:endParaRPr lang="en-US" sz="2600" dirty="0"/>
          </a:p>
        </p:txBody>
      </p:sp>
      <p:sp>
        <p:nvSpPr>
          <p:cNvPr id="4" name="Shape 1"/>
          <p:cNvSpPr/>
          <p:nvPr/>
        </p:nvSpPr>
        <p:spPr>
          <a:xfrm>
            <a:off x="457200" y="1143000"/>
            <a:ext cx="3977640" cy="3474720"/>
          </a:xfrm>
          <a:prstGeom prst="roundRect">
            <a:avLst>
              <a:gd name="adj" fmla="val 3158"/>
            </a:avLst>
          </a:prstGeom>
          <a:solidFill>
            <a:srgbClr val="FBEAEA"/>
          </a:solidFill>
          <a:ln w="12700">
            <a:solidFill>
              <a:srgbClr val="FBEAEA"/>
            </a:solidFill>
            <a:prstDash val="solid"/>
          </a:ln>
        </p:spPr>
      </p:sp>
      <p:sp>
        <p:nvSpPr>
          <p:cNvPr id="5" name="Text 2"/>
          <p:cNvSpPr txBox="1"/>
          <p:nvPr/>
        </p:nvSpPr>
        <p:spPr>
          <a:xfrm>
            <a:off x="640080" y="1307592"/>
            <a:ext cx="3611880" cy="457200"/>
          </a:xfrm>
          <a:prstGeom prst="rect">
            <a:avLst/>
          </a:prstGeom>
          <a:noFill/>
          <a:ln/>
        </p:spPr>
        <p:txBody>
          <a:bodyPr wrap="square" lIns="0" tIns="0" rIns="0" bIns="0" rtlCol="0" anchor="t"/>
          <a:lstStyle/>
          <a:p>
            <a:pPr algn="l" indent="0" marL="0">
              <a:buNone/>
            </a:pPr>
            <a:r>
              <a:rPr lang="en-US" sz="1800" b="1" dirty="0">
                <a:solidFill>
                  <a:srgbClr val="2E2224"/>
                </a:solidFill>
                <a:latin typeface="Arial" pitchFamily="34" charset="0"/>
                <a:ea typeface="Arial" pitchFamily="34" charset="-122"/>
                <a:cs typeface="Arial" pitchFamily="34" charset="-120"/>
              </a:rPr>
              <a:t>Bonus: grupo privado de mentoría</a:t>
            </a:r>
            <a:endParaRPr lang="en-US" sz="1800" dirty="0"/>
          </a:p>
        </p:txBody>
      </p:sp>
      <p:sp>
        <p:nvSpPr>
          <p:cNvPr id="6" name="Text 3"/>
          <p:cNvSpPr txBox="1"/>
          <p:nvPr/>
        </p:nvSpPr>
        <p:spPr>
          <a:xfrm>
            <a:off x="640080" y="2148840"/>
            <a:ext cx="3611880" cy="2331720"/>
          </a:xfrm>
          <a:prstGeom prst="rect">
            <a:avLst/>
          </a:prstGeom>
          <a:noFill/>
          <a:ln/>
        </p:spPr>
        <p:txBody>
          <a:bodyPr wrap="square" lIns="0" tIns="0" rIns="0" bIns="0" rtlCol="0" anchor="t"/>
          <a:lstStyle/>
          <a:p>
            <a:pPr algn="l" indent="0" marL="0">
              <a:buNone/>
            </a:pPr>
            <a:r>
              <a:rPr lang="en-US" sz="1500" dirty="0">
                <a:solidFill>
                  <a:srgbClr val="2E2224"/>
                </a:solidFill>
                <a:latin typeface="Calibri" pitchFamily="34" charset="0"/>
                <a:ea typeface="Calibri" pitchFamily="34" charset="-122"/>
                <a:cs typeface="Calibri" pitchFamily="34" charset="-120"/>
              </a:rPr>
              <a:t>Al lanzar en junio entras en un grupo pequeño e íntimo con guía paso a paso, apoyo personalizado y seguimiento de líderes de la comunidad mientras avanzas hacia tus primeros $10K.</a:t>
            </a:r>
            <a:endParaRPr lang="en-US" sz="1500" dirty="0"/>
          </a:p>
        </p:txBody>
      </p:sp>
      <p:sp>
        <p:nvSpPr>
          <p:cNvPr id="7" name="Shape 4"/>
          <p:cNvSpPr/>
          <p:nvPr/>
        </p:nvSpPr>
        <p:spPr>
          <a:xfrm>
            <a:off x="4709160" y="1143000"/>
            <a:ext cx="3977640" cy="3474720"/>
          </a:xfrm>
          <a:prstGeom prst="roundRect">
            <a:avLst>
              <a:gd name="adj" fmla="val 3158"/>
            </a:avLst>
          </a:prstGeom>
          <a:solidFill>
            <a:srgbClr val="EDF5EA"/>
          </a:solidFill>
          <a:ln w="12700">
            <a:solidFill>
              <a:srgbClr val="EDF5EA"/>
            </a:solidFill>
            <a:prstDash val="solid"/>
          </a:ln>
        </p:spPr>
      </p:sp>
      <p:sp>
        <p:nvSpPr>
          <p:cNvPr id="8" name="Text 5"/>
          <p:cNvSpPr txBox="1"/>
          <p:nvPr/>
        </p:nvSpPr>
        <p:spPr>
          <a:xfrm>
            <a:off x="4892040" y="1307592"/>
            <a:ext cx="3611880" cy="457200"/>
          </a:xfrm>
          <a:prstGeom prst="rect">
            <a:avLst/>
          </a:prstGeom>
          <a:noFill/>
          <a:ln/>
        </p:spPr>
        <p:txBody>
          <a:bodyPr wrap="square" lIns="0" tIns="0" rIns="0" bIns="0" rtlCol="0" anchor="t"/>
          <a:lstStyle/>
          <a:p>
            <a:pPr algn="l" indent="0" marL="0">
              <a:buNone/>
            </a:pPr>
            <a:r>
              <a:rPr lang="en-US" sz="1800" b="1" dirty="0">
                <a:solidFill>
                  <a:srgbClr val="2E2224"/>
                </a:solidFill>
                <a:latin typeface="Arial" pitchFamily="34" charset="0"/>
                <a:ea typeface="Arial" pitchFamily="34" charset="-122"/>
                <a:cs typeface="Arial" pitchFamily="34" charset="-120"/>
              </a:rPr>
              <a:t>Bonus: eventos y retiros presenciales</a:t>
            </a:r>
            <a:endParaRPr lang="en-US" sz="1800" dirty="0"/>
          </a:p>
        </p:txBody>
      </p:sp>
      <p:sp>
        <p:nvSpPr>
          <p:cNvPr id="9" name="Text 6"/>
          <p:cNvSpPr txBox="1"/>
          <p:nvPr/>
        </p:nvSpPr>
        <p:spPr>
          <a:xfrm>
            <a:off x="4892040" y="2148840"/>
            <a:ext cx="3611880" cy="2331720"/>
          </a:xfrm>
          <a:prstGeom prst="rect">
            <a:avLst/>
          </a:prstGeom>
          <a:noFill/>
          <a:ln/>
        </p:spPr>
        <p:txBody>
          <a:bodyPr wrap="square" lIns="0" tIns="0" rIns="0" bIns="0" rtlCol="0" anchor="t"/>
          <a:lstStyle/>
          <a:p>
            <a:pPr algn="l" indent="0" marL="0">
              <a:buNone/>
            </a:pPr>
            <a:r>
              <a:rPr lang="en-US" sz="1500" dirty="0">
                <a:solidFill>
                  <a:srgbClr val="2E2224"/>
                </a:solidFill>
                <a:latin typeface="Calibri" pitchFamily="34" charset="0"/>
                <a:ea typeface="Calibri" pitchFamily="34" charset="-122"/>
                <a:cs typeface="Calibri" pitchFamily="34" charset="-120"/>
              </a:rPr>
              <a:t>Estar en la misma sala con personas que ya viven el estilo de vida al que te diriges. Experiencias pensadas para ampliar tu visión, reforzar tu confianza y mantenerte conectada con lo que es posible.</a:t>
            </a:r>
            <a:endParaRPr lang="en-US" sz="15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Esto es a lo que tienes acceso</a:t>
            </a:r>
            <a:endParaRPr lang="en-US" sz="2600" dirty="0"/>
          </a:p>
        </p:txBody>
      </p:sp>
      <p:sp>
        <p:nvSpPr>
          <p:cNvPr id="4" name="Text 1"/>
          <p:cNvSpPr txBox="1"/>
          <p:nvPr/>
        </p:nvSpPr>
        <p:spPr>
          <a:xfrm>
            <a:off x="457200" y="1097280"/>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5" name="Text 2"/>
          <p:cNvSpPr txBox="1"/>
          <p:nvPr/>
        </p:nvSpPr>
        <p:spPr>
          <a:xfrm>
            <a:off x="777240" y="1097280"/>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Nuestro proceso de descubrimiento</a:t>
            </a:r>
            <a:endParaRPr lang="en-US" sz="1400" dirty="0"/>
          </a:p>
        </p:txBody>
      </p:sp>
      <p:sp>
        <p:nvSpPr>
          <p:cNvPr id="6" name="Text 3"/>
          <p:cNvSpPr txBox="1"/>
          <p:nvPr/>
        </p:nvSpPr>
        <p:spPr>
          <a:xfrm>
            <a:off x="457200" y="1481328"/>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7" name="Text 4"/>
          <p:cNvSpPr txBox="1"/>
          <p:nvPr/>
        </p:nvSpPr>
        <p:spPr>
          <a:xfrm>
            <a:off x="777240" y="1481328"/>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Llamada privada de claridad de 30 min</a:t>
            </a:r>
            <a:endParaRPr lang="en-US" sz="1400" dirty="0"/>
          </a:p>
        </p:txBody>
      </p:sp>
      <p:sp>
        <p:nvSpPr>
          <p:cNvPr id="8" name="Text 5"/>
          <p:cNvSpPr txBox="1"/>
          <p:nvPr/>
        </p:nvSpPr>
        <p:spPr>
          <a:xfrm>
            <a:off x="457200" y="1865376"/>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9" name="Text 6"/>
          <p:cNvSpPr txBox="1"/>
          <p:nvPr/>
        </p:nvSpPr>
        <p:spPr>
          <a:xfrm>
            <a:off x="777240" y="1865376"/>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Acceso de por vida al centro de formación</a:t>
            </a:r>
            <a:endParaRPr lang="en-US" sz="1400" dirty="0"/>
          </a:p>
        </p:txBody>
      </p:sp>
      <p:sp>
        <p:nvSpPr>
          <p:cNvPr id="10" name="Text 7"/>
          <p:cNvSpPr txBox="1"/>
          <p:nvPr/>
        </p:nvSpPr>
        <p:spPr>
          <a:xfrm>
            <a:off x="457200" y="2249424"/>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11" name="Text 8"/>
          <p:cNvSpPr txBox="1"/>
          <p:nvPr/>
        </p:nvSpPr>
        <p:spPr>
          <a:xfrm>
            <a:off x="777240" y="2249424"/>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Mentoría + coaching en directo</a:t>
            </a:r>
            <a:endParaRPr lang="en-US" sz="1400" dirty="0"/>
          </a:p>
        </p:txBody>
      </p:sp>
      <p:sp>
        <p:nvSpPr>
          <p:cNvPr id="12" name="Text 9"/>
          <p:cNvSpPr txBox="1"/>
          <p:nvPr/>
        </p:nvSpPr>
        <p:spPr>
          <a:xfrm>
            <a:off x="457200" y="2633472"/>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13" name="Text 10"/>
          <p:cNvSpPr txBox="1"/>
          <p:nvPr/>
        </p:nvSpPr>
        <p:spPr>
          <a:xfrm>
            <a:off x="777240" y="2633472"/>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Grupo privado de mentoría</a:t>
            </a:r>
            <a:endParaRPr lang="en-US" sz="1400" dirty="0"/>
          </a:p>
        </p:txBody>
      </p:sp>
      <p:sp>
        <p:nvSpPr>
          <p:cNvPr id="14" name="Text 11"/>
          <p:cNvSpPr txBox="1"/>
          <p:nvPr/>
        </p:nvSpPr>
        <p:spPr>
          <a:xfrm>
            <a:off x="457200" y="3017520"/>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15" name="Text 12"/>
          <p:cNvSpPr txBox="1"/>
          <p:nvPr/>
        </p:nvSpPr>
        <p:spPr>
          <a:xfrm>
            <a:off x="777240" y="3017520"/>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Apoyo directo hasta tus primeros $10K</a:t>
            </a:r>
            <a:endParaRPr lang="en-US" sz="1400" dirty="0"/>
          </a:p>
        </p:txBody>
      </p:sp>
      <p:sp>
        <p:nvSpPr>
          <p:cNvPr id="16" name="Text 13"/>
          <p:cNvSpPr txBox="1"/>
          <p:nvPr/>
        </p:nvSpPr>
        <p:spPr>
          <a:xfrm>
            <a:off x="457200" y="3401568"/>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17" name="Text 14"/>
          <p:cNvSpPr txBox="1"/>
          <p:nvPr/>
        </p:nvSpPr>
        <p:spPr>
          <a:xfrm>
            <a:off x="777240" y="3401568"/>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Un marco probado de un millón de dólares</a:t>
            </a:r>
            <a:endParaRPr lang="en-US" sz="1400" dirty="0"/>
          </a:p>
        </p:txBody>
      </p:sp>
      <p:sp>
        <p:nvSpPr>
          <p:cNvPr id="18" name="Text 15"/>
          <p:cNvSpPr txBox="1"/>
          <p:nvPr/>
        </p:nvSpPr>
        <p:spPr>
          <a:xfrm>
            <a:off x="457200" y="3785616"/>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19" name="Text 16"/>
          <p:cNvSpPr txBox="1"/>
          <p:nvPr/>
        </p:nvSpPr>
        <p:spPr>
          <a:xfrm>
            <a:off x="777240" y="3785616"/>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Eventos y retiros presenciales del equipo</a:t>
            </a:r>
            <a:endParaRPr lang="en-US" sz="1400" dirty="0"/>
          </a:p>
        </p:txBody>
      </p:sp>
      <p:sp>
        <p:nvSpPr>
          <p:cNvPr id="20" name="Text 17"/>
          <p:cNvSpPr txBox="1"/>
          <p:nvPr/>
        </p:nvSpPr>
        <p:spPr>
          <a:xfrm>
            <a:off x="457200" y="4169664"/>
            <a:ext cx="274320" cy="347472"/>
          </a:xfrm>
          <a:prstGeom prst="rect">
            <a:avLst/>
          </a:prstGeom>
          <a:noFill/>
          <a:ln/>
        </p:spPr>
        <p:txBody>
          <a:bodyPr wrap="square" lIns="0" tIns="0" rIns="0" bIns="0" rtlCol="0" anchor="ctr"/>
          <a:lstStyle/>
          <a:p>
            <a:pPr indent="0" marL="0">
              <a:buNone/>
            </a:pPr>
            <a:r>
              <a:rPr lang="en-US" sz="1400" b="1" dirty="0">
                <a:solidFill>
                  <a:srgbClr val="B9D3B1"/>
                </a:solidFill>
                <a:latin typeface="Calibri" pitchFamily="34" charset="0"/>
                <a:ea typeface="Calibri" pitchFamily="34" charset="-122"/>
                <a:cs typeface="Calibri" pitchFamily="34" charset="-120"/>
              </a:rPr>
              <a:t>✓</a:t>
            </a:r>
            <a:endParaRPr lang="en-US" sz="1400" dirty="0"/>
          </a:p>
        </p:txBody>
      </p:sp>
      <p:sp>
        <p:nvSpPr>
          <p:cNvPr id="21" name="Text 18"/>
          <p:cNvSpPr txBox="1"/>
          <p:nvPr/>
        </p:nvSpPr>
        <p:spPr>
          <a:xfrm>
            <a:off x="777240" y="4169664"/>
            <a:ext cx="4389120" cy="34747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Infraestructura de alto pago</a:t>
            </a:r>
            <a:endParaRPr lang="en-US" sz="1400" dirty="0"/>
          </a:p>
        </p:txBody>
      </p:sp>
      <p:sp>
        <p:nvSpPr>
          <p:cNvPr id="22" name="Shape 19"/>
          <p:cNvSpPr/>
          <p:nvPr/>
        </p:nvSpPr>
        <p:spPr>
          <a:xfrm>
            <a:off x="5486400" y="1097280"/>
            <a:ext cx="3200400" cy="3474720"/>
          </a:xfrm>
          <a:prstGeom prst="roundRect">
            <a:avLst>
              <a:gd name="adj" fmla="val 4286"/>
            </a:avLst>
          </a:prstGeom>
          <a:solidFill>
            <a:srgbClr val="3E3133"/>
          </a:solidFill>
          <a:ln w="12700">
            <a:solidFill>
              <a:srgbClr val="3E3133"/>
            </a:solidFill>
            <a:prstDash val="solid"/>
          </a:ln>
        </p:spPr>
      </p:sp>
      <p:sp>
        <p:nvSpPr>
          <p:cNvPr id="23" name="Text 20"/>
          <p:cNvSpPr txBox="1"/>
          <p:nvPr/>
        </p:nvSpPr>
        <p:spPr>
          <a:xfrm>
            <a:off x="5669280" y="1280160"/>
            <a:ext cx="2834640" cy="548640"/>
          </a:xfrm>
          <a:prstGeom prst="rect">
            <a:avLst/>
          </a:prstGeom>
          <a:noFill/>
          <a:ln/>
        </p:spPr>
        <p:txBody>
          <a:bodyPr wrap="square" lIns="0" tIns="0" rIns="0" bIns="0" rtlCol="0" anchor="t"/>
          <a:lstStyle/>
          <a:p>
            <a:pPr algn="ctr" indent="0" marL="0">
              <a:buNone/>
            </a:pPr>
            <a:r>
              <a:rPr lang="en-US" sz="1300" i="1" dirty="0">
                <a:solidFill>
                  <a:srgbClr val="CFC5C6"/>
                </a:solidFill>
                <a:latin typeface="Calibri" pitchFamily="34" charset="0"/>
                <a:ea typeface="Calibri" pitchFamily="34" charset="-122"/>
                <a:cs typeface="Calibri" pitchFamily="34" charset="-120"/>
              </a:rPr>
              <a:t>Dentro de nuestra comunidad cobramos</a:t>
            </a:r>
            <a:endParaRPr lang="en-US" sz="1300" dirty="0"/>
          </a:p>
        </p:txBody>
      </p:sp>
      <p:sp>
        <p:nvSpPr>
          <p:cNvPr id="24" name="Text 21"/>
          <p:cNvSpPr txBox="1"/>
          <p:nvPr/>
        </p:nvSpPr>
        <p:spPr>
          <a:xfrm>
            <a:off x="5669280" y="1783080"/>
            <a:ext cx="2834640" cy="731520"/>
          </a:xfrm>
          <a:prstGeom prst="rect">
            <a:avLst/>
          </a:prstGeom>
          <a:noFill/>
          <a:ln/>
        </p:spPr>
        <p:txBody>
          <a:bodyPr wrap="square" lIns="0" tIns="0" rIns="0" bIns="0" rtlCol="0" anchor="t"/>
          <a:lstStyle/>
          <a:p>
            <a:pPr algn="ctr" indent="0" marL="0">
              <a:buNone/>
            </a:pPr>
            <a:r>
              <a:rPr lang="en-US" sz="4000" b="1" strike="sngStrike" dirty="0">
                <a:solidFill>
                  <a:srgbClr val="9C8F90"/>
                </a:solidFill>
                <a:latin typeface="Arial" pitchFamily="34" charset="0"/>
                <a:ea typeface="Arial" pitchFamily="34" charset="-122"/>
                <a:cs typeface="Arial" pitchFamily="34" charset="-120"/>
              </a:rPr>
              <a:t>$99</a:t>
            </a:r>
            <a:endParaRPr lang="en-US" sz="4000" dirty="0"/>
          </a:p>
        </p:txBody>
      </p:sp>
      <p:sp>
        <p:nvSpPr>
          <p:cNvPr id="25" name="Text 22"/>
          <p:cNvSpPr txBox="1"/>
          <p:nvPr/>
        </p:nvSpPr>
        <p:spPr>
          <a:xfrm>
            <a:off x="5669280" y="2606040"/>
            <a:ext cx="2834640" cy="365760"/>
          </a:xfrm>
          <a:prstGeom prst="rect">
            <a:avLst/>
          </a:prstGeom>
          <a:noFill/>
          <a:ln/>
        </p:spPr>
        <p:txBody>
          <a:bodyPr wrap="square" lIns="0" tIns="0" rIns="0" bIns="0" rtlCol="0" anchor="t"/>
          <a:lstStyle/>
          <a:p>
            <a:pPr algn="ctr" indent="0" marL="0">
              <a:buNone/>
            </a:pPr>
            <a:r>
              <a:rPr lang="en-US" sz="1400" b="1" spc="200" kern="0" dirty="0">
                <a:solidFill>
                  <a:srgbClr val="F2C14E"/>
                </a:solidFill>
                <a:latin typeface="Calibri" pitchFamily="34" charset="0"/>
                <a:ea typeface="Calibri" pitchFamily="34" charset="-122"/>
                <a:cs typeface="Calibri" pitchFamily="34" charset="-120"/>
              </a:rPr>
              <a:t>TU PRECIO HOY</a:t>
            </a:r>
            <a:endParaRPr lang="en-US" sz="1400" dirty="0"/>
          </a:p>
        </p:txBody>
      </p:sp>
      <p:sp>
        <p:nvSpPr>
          <p:cNvPr id="26" name="Text 23"/>
          <p:cNvSpPr txBox="1"/>
          <p:nvPr/>
        </p:nvSpPr>
        <p:spPr>
          <a:xfrm>
            <a:off x="5669280" y="2926080"/>
            <a:ext cx="2834640" cy="685800"/>
          </a:xfrm>
          <a:prstGeom prst="rect">
            <a:avLst/>
          </a:prstGeom>
          <a:noFill/>
          <a:ln/>
        </p:spPr>
        <p:txBody>
          <a:bodyPr wrap="square" lIns="0" tIns="0" rIns="0" bIns="0" rtlCol="0" anchor="t"/>
          <a:lstStyle/>
          <a:p>
            <a:pPr algn="ctr" indent="0" marL="0">
              <a:buNone/>
            </a:pPr>
            <a:r>
              <a:rPr lang="en-US" sz="4000" b="1" dirty="0">
                <a:solidFill>
                  <a:srgbClr val="EE7A7A"/>
                </a:solidFill>
                <a:latin typeface="Arial" pitchFamily="34" charset="0"/>
                <a:ea typeface="Arial" pitchFamily="34" charset="-122"/>
                <a:cs typeface="Arial" pitchFamily="34" charset="-120"/>
              </a:rPr>
              <a:t>GRATIS</a:t>
            </a:r>
            <a:endParaRPr lang="en-US" sz="4000" dirty="0"/>
          </a:p>
        </p:txBody>
      </p:sp>
      <p:sp>
        <p:nvSpPr>
          <p:cNvPr id="27" name="Text 24"/>
          <p:cNvSpPr txBox="1"/>
          <p:nvPr/>
        </p:nvSpPr>
        <p:spPr>
          <a:xfrm>
            <a:off x="5669280" y="3657600"/>
            <a:ext cx="2834640" cy="365760"/>
          </a:xfrm>
          <a:prstGeom prst="rect">
            <a:avLst/>
          </a:prstGeom>
          <a:noFill/>
          <a:ln/>
        </p:spPr>
        <p:txBody>
          <a:bodyPr wrap="square" lIns="0" tIns="0" rIns="0" bIns="0" rtlCol="0" anchor="t"/>
          <a:lstStyle/>
          <a:p>
            <a:pPr algn="ctr" indent="0" marL="0">
              <a:buNone/>
            </a:pPr>
            <a:r>
              <a:rPr lang="en-US" sz="1400" dirty="0">
                <a:solidFill>
                  <a:srgbClr val="FFFFFF"/>
                </a:solidFill>
                <a:latin typeface="Calibri" pitchFamily="34" charset="0"/>
                <a:ea typeface="Calibri" pitchFamily="34" charset="-122"/>
                <a:cs typeface="Calibri" pitchFamily="34" charset="-120"/>
              </a:rPr>
              <a:t>+ tu inversión en producto</a:t>
            </a:r>
            <a:endParaRPr lang="en-US" sz="14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8F90"/>
                </a:solidFill>
                <a:latin typeface="Calibri"/>
                <a:ea typeface="Calibri"/>
                <a:cs typeface="Calibri"/>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2600" b="1" dirty="0">
                <a:solidFill>
                  <a:srgbClr val="2E2224"/>
                </a:solidFill>
                <a:latin typeface="Arial" pitchFamily="34" charset="0"/>
                <a:ea typeface="Arial" pitchFamily="34" charset="-122"/>
                <a:cs typeface="Arial" pitchFamily="34" charset="-120"/>
              </a:rPr>
              <a:t>¿Qué sigue? Solicita tu plaza en la mentoría</a:t>
            </a:r>
            <a:endParaRPr lang="en-US" sz="2600" dirty="0"/>
          </a:p>
        </p:txBody>
      </p:sp>
      <p:sp>
        <p:nvSpPr>
          <p:cNvPr id="4" name="Shape 1"/>
          <p:cNvSpPr/>
          <p:nvPr/>
        </p:nvSpPr>
        <p:spPr>
          <a:xfrm>
            <a:off x="457200" y="1280160"/>
            <a:ext cx="1920240" cy="2743200"/>
          </a:xfrm>
          <a:prstGeom prst="roundRect">
            <a:avLst>
              <a:gd name="adj" fmla="val 7143"/>
            </a:avLst>
          </a:prstGeom>
          <a:solidFill>
            <a:srgbClr val="FBEAEA"/>
          </a:solidFill>
          <a:ln w="12700">
            <a:solidFill>
              <a:srgbClr val="FBEAEA"/>
            </a:solidFill>
            <a:prstDash val="solid"/>
          </a:ln>
        </p:spPr>
      </p:sp>
      <p:sp>
        <p:nvSpPr>
          <p:cNvPr id="5" name="Shape 2"/>
          <p:cNvSpPr/>
          <p:nvPr/>
        </p:nvSpPr>
        <p:spPr>
          <a:xfrm>
            <a:off x="1051560" y="1463040"/>
            <a:ext cx="731520" cy="731520"/>
          </a:xfrm>
          <a:prstGeom prst="ellipse">
            <a:avLst/>
          </a:prstGeom>
          <a:solidFill>
            <a:srgbClr val="EE7A7A"/>
          </a:solidFill>
          <a:ln w="12700">
            <a:solidFill>
              <a:srgbClr val="EE7A7A"/>
            </a:solidFill>
            <a:prstDash val="solid"/>
          </a:ln>
        </p:spPr>
      </p:sp>
      <p:sp>
        <p:nvSpPr>
          <p:cNvPr id="6" name="Text 3"/>
          <p:cNvSpPr txBox="1"/>
          <p:nvPr/>
        </p:nvSpPr>
        <p:spPr>
          <a:xfrm>
            <a:off x="1051560" y="1463040"/>
            <a:ext cx="731520" cy="731520"/>
          </a:xfrm>
          <a:prstGeom prst="rect">
            <a:avLst/>
          </a:prstGeom>
          <a:noFill/>
          <a:ln/>
        </p:spPr>
        <p:txBody>
          <a:bodyPr wrap="square" lIns="0" tIns="0" rIns="0" bIns="0" rtlCol="0" anchor="ctr"/>
          <a:lstStyle/>
          <a:p>
            <a:pPr algn="ctr" indent="0" marL="0">
              <a:buNone/>
            </a:pPr>
            <a:r>
              <a:rPr lang="en-US" sz="1760" b="1" dirty="0">
                <a:solidFill>
                  <a:srgbClr val="FFFFFF"/>
                </a:solidFill>
                <a:latin typeface="Arial" pitchFamily="34" charset="0"/>
                <a:ea typeface="Arial" pitchFamily="34" charset="-122"/>
                <a:cs typeface="Arial" pitchFamily="34" charset="-120"/>
              </a:rPr>
              <a:t>1</a:t>
            </a:r>
            <a:endParaRPr lang="en-US" sz="1760" dirty="0"/>
          </a:p>
        </p:txBody>
      </p:sp>
      <p:sp>
        <p:nvSpPr>
          <p:cNvPr id="7" name="Text 4"/>
          <p:cNvSpPr txBox="1"/>
          <p:nvPr/>
        </p:nvSpPr>
        <p:spPr>
          <a:xfrm>
            <a:off x="594360" y="2377440"/>
            <a:ext cx="1645920" cy="548640"/>
          </a:xfrm>
          <a:prstGeom prst="rect">
            <a:avLst/>
          </a:prstGeom>
          <a:noFill/>
          <a:ln/>
        </p:spPr>
        <p:txBody>
          <a:bodyPr wrap="square" lIns="0" tIns="0" rIns="0" bIns="0" rtlCol="0" anchor="t"/>
          <a:lstStyle/>
          <a:p>
            <a:pPr algn="ctr" indent="0" marL="0">
              <a:buNone/>
            </a:pPr>
            <a:r>
              <a:rPr lang="en-US" sz="1500" b="1" dirty="0">
                <a:solidFill>
                  <a:srgbClr val="2E2224"/>
                </a:solidFill>
                <a:latin typeface="Arial" pitchFamily="34" charset="0"/>
                <a:ea typeface="Arial" pitchFamily="34" charset="-122"/>
                <a:cs typeface="Arial" pitchFamily="34" charset="-120"/>
              </a:rPr>
              <a:t>Rellena la solicitud</a:t>
            </a:r>
            <a:endParaRPr lang="en-US" sz="1500" dirty="0"/>
          </a:p>
        </p:txBody>
      </p:sp>
      <p:sp>
        <p:nvSpPr>
          <p:cNvPr id="8" name="Text 5"/>
          <p:cNvSpPr txBox="1"/>
          <p:nvPr/>
        </p:nvSpPr>
        <p:spPr>
          <a:xfrm>
            <a:off x="594360" y="2971800"/>
            <a:ext cx="1645920" cy="914400"/>
          </a:xfrm>
          <a:prstGeom prst="rect">
            <a:avLst/>
          </a:prstGeom>
          <a:noFill/>
          <a:ln/>
        </p:spPr>
        <p:txBody>
          <a:bodyPr wrap="square" lIns="0" tIns="0" rIns="0" bIns="0" rtlCol="0" anchor="t"/>
          <a:lstStyle/>
          <a:p>
            <a:pPr algn="ctr" indent="0" marL="0">
              <a:buNone/>
            </a:pPr>
            <a:r>
              <a:rPr lang="en-US" sz="1200" dirty="0">
                <a:solidFill>
                  <a:srgbClr val="6B5F61"/>
                </a:solidFill>
                <a:latin typeface="Calibri" pitchFamily="34" charset="0"/>
                <a:ea typeface="Calibri" pitchFamily="34" charset="-122"/>
                <a:cs typeface="Calibri" pitchFamily="34" charset="-120"/>
              </a:rPr>
              <a:t>Formulario del programa de mentoría de 4 semanas</a:t>
            </a:r>
            <a:endParaRPr lang="en-US" sz="1200" dirty="0"/>
          </a:p>
        </p:txBody>
      </p:sp>
      <p:sp>
        <p:nvSpPr>
          <p:cNvPr id="9" name="Text 6"/>
          <p:cNvSpPr txBox="1"/>
          <p:nvPr/>
        </p:nvSpPr>
        <p:spPr>
          <a:xfrm>
            <a:off x="2377440" y="2423160"/>
            <a:ext cx="182880" cy="457200"/>
          </a:xfrm>
          <a:prstGeom prst="rect">
            <a:avLst/>
          </a:prstGeom>
          <a:noFill/>
          <a:ln/>
        </p:spPr>
        <p:txBody>
          <a:bodyPr wrap="square" lIns="0" tIns="0" rIns="0" bIns="0" rtlCol="0" anchor="t"/>
          <a:lstStyle/>
          <a:p>
            <a:pPr algn="ctr" indent="0" marL="0">
              <a:buNone/>
            </a:pPr>
            <a:r>
              <a:rPr lang="en-US" sz="1600" b="1" dirty="0">
                <a:solidFill>
                  <a:srgbClr val="6B5F61"/>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560320" y="1280160"/>
            <a:ext cx="1920240" cy="2743200"/>
          </a:xfrm>
          <a:prstGeom prst="roundRect">
            <a:avLst>
              <a:gd name="adj" fmla="val 7143"/>
            </a:avLst>
          </a:prstGeom>
          <a:solidFill>
            <a:srgbClr val="E8ECF3"/>
          </a:solidFill>
          <a:ln w="12700">
            <a:solidFill>
              <a:srgbClr val="E8ECF3"/>
            </a:solidFill>
            <a:prstDash val="solid"/>
          </a:ln>
        </p:spPr>
      </p:sp>
      <p:sp>
        <p:nvSpPr>
          <p:cNvPr id="11" name="Shape 8"/>
          <p:cNvSpPr/>
          <p:nvPr/>
        </p:nvSpPr>
        <p:spPr>
          <a:xfrm>
            <a:off x="3154680" y="1463040"/>
            <a:ext cx="731520" cy="731520"/>
          </a:xfrm>
          <a:prstGeom prst="ellipse">
            <a:avLst/>
          </a:prstGeom>
          <a:solidFill>
            <a:srgbClr val="8B9AB7"/>
          </a:solidFill>
          <a:ln w="12700">
            <a:solidFill>
              <a:srgbClr val="8B9AB7"/>
            </a:solidFill>
            <a:prstDash val="solid"/>
          </a:ln>
        </p:spPr>
      </p:sp>
      <p:sp>
        <p:nvSpPr>
          <p:cNvPr id="12" name="Text 9"/>
          <p:cNvSpPr txBox="1"/>
          <p:nvPr/>
        </p:nvSpPr>
        <p:spPr>
          <a:xfrm>
            <a:off x="3154680" y="1463040"/>
            <a:ext cx="731520" cy="731520"/>
          </a:xfrm>
          <a:prstGeom prst="rect">
            <a:avLst/>
          </a:prstGeom>
          <a:noFill/>
          <a:ln/>
        </p:spPr>
        <p:txBody>
          <a:bodyPr wrap="square" lIns="0" tIns="0" rIns="0" bIns="0" rtlCol="0" anchor="ctr"/>
          <a:lstStyle/>
          <a:p>
            <a:pPr algn="ctr" indent="0" marL="0">
              <a:buNone/>
            </a:pPr>
            <a:r>
              <a:rPr lang="en-US" sz="1760" b="1" dirty="0">
                <a:solidFill>
                  <a:srgbClr val="FFFFFF"/>
                </a:solidFill>
                <a:latin typeface="Arial" pitchFamily="34" charset="0"/>
                <a:ea typeface="Arial" pitchFamily="34" charset="-122"/>
                <a:cs typeface="Arial" pitchFamily="34" charset="-120"/>
              </a:rPr>
              <a:t>2</a:t>
            </a:r>
            <a:endParaRPr lang="en-US" sz="1760" dirty="0"/>
          </a:p>
        </p:txBody>
      </p:sp>
      <p:sp>
        <p:nvSpPr>
          <p:cNvPr id="13" name="Text 10"/>
          <p:cNvSpPr txBox="1"/>
          <p:nvPr/>
        </p:nvSpPr>
        <p:spPr>
          <a:xfrm>
            <a:off x="2697480" y="2377440"/>
            <a:ext cx="1645920" cy="548640"/>
          </a:xfrm>
          <a:prstGeom prst="rect">
            <a:avLst/>
          </a:prstGeom>
          <a:noFill/>
          <a:ln/>
        </p:spPr>
        <p:txBody>
          <a:bodyPr wrap="square" lIns="0" tIns="0" rIns="0" bIns="0" rtlCol="0" anchor="t"/>
          <a:lstStyle/>
          <a:p>
            <a:pPr algn="ctr" indent="0" marL="0">
              <a:buNone/>
            </a:pPr>
            <a:r>
              <a:rPr lang="en-US" sz="1500" b="1" dirty="0">
                <a:solidFill>
                  <a:srgbClr val="2E2224"/>
                </a:solidFill>
                <a:latin typeface="Arial" pitchFamily="34" charset="0"/>
                <a:ea typeface="Arial" pitchFamily="34" charset="-122"/>
                <a:cs typeface="Arial" pitchFamily="34" charset="-120"/>
              </a:rPr>
              <a:t>Reserva tu llamada</a:t>
            </a:r>
            <a:endParaRPr lang="en-US" sz="1500" dirty="0"/>
          </a:p>
        </p:txBody>
      </p:sp>
      <p:sp>
        <p:nvSpPr>
          <p:cNvPr id="14" name="Text 11"/>
          <p:cNvSpPr txBox="1"/>
          <p:nvPr/>
        </p:nvSpPr>
        <p:spPr>
          <a:xfrm>
            <a:off x="2697480" y="2971800"/>
            <a:ext cx="1645920" cy="914400"/>
          </a:xfrm>
          <a:prstGeom prst="rect">
            <a:avLst/>
          </a:prstGeom>
          <a:noFill/>
          <a:ln/>
        </p:spPr>
        <p:txBody>
          <a:bodyPr wrap="square" lIns="0" tIns="0" rIns="0" bIns="0" rtlCol="0" anchor="t"/>
          <a:lstStyle/>
          <a:p>
            <a:pPr algn="ctr" indent="0" marL="0">
              <a:buNone/>
            </a:pPr>
            <a:r>
              <a:rPr lang="en-US" sz="1200" dirty="0">
                <a:solidFill>
                  <a:srgbClr val="6B5F61"/>
                </a:solidFill>
                <a:latin typeface="Calibri" pitchFamily="34" charset="0"/>
                <a:ea typeface="Calibri" pitchFamily="34" charset="-122"/>
                <a:cs typeface="Calibri" pitchFamily="34" charset="-120"/>
              </a:rPr>
              <a:t>Elige día y hora en el calendario</a:t>
            </a:r>
            <a:endParaRPr lang="en-US" sz="1200" dirty="0"/>
          </a:p>
        </p:txBody>
      </p:sp>
      <p:sp>
        <p:nvSpPr>
          <p:cNvPr id="15" name="Text 12"/>
          <p:cNvSpPr txBox="1"/>
          <p:nvPr/>
        </p:nvSpPr>
        <p:spPr>
          <a:xfrm>
            <a:off x="4480560" y="2423160"/>
            <a:ext cx="182880" cy="457200"/>
          </a:xfrm>
          <a:prstGeom prst="rect">
            <a:avLst/>
          </a:prstGeom>
          <a:noFill/>
          <a:ln/>
        </p:spPr>
        <p:txBody>
          <a:bodyPr wrap="square" lIns="0" tIns="0" rIns="0" bIns="0" rtlCol="0" anchor="t"/>
          <a:lstStyle/>
          <a:p>
            <a:pPr algn="ctr" indent="0" marL="0">
              <a:buNone/>
            </a:pPr>
            <a:r>
              <a:rPr lang="en-US" sz="1600" b="1" dirty="0">
                <a:solidFill>
                  <a:srgbClr val="6B5F61"/>
                </a:solidFill>
                <a:latin typeface="Calibri" pitchFamily="34" charset="0"/>
                <a:ea typeface="Calibri" pitchFamily="34" charset="-122"/>
                <a:cs typeface="Calibri" pitchFamily="34" charset="-120"/>
              </a:rPr>
              <a:t>→</a:t>
            </a:r>
            <a:endParaRPr lang="en-US" sz="1600" dirty="0"/>
          </a:p>
        </p:txBody>
      </p:sp>
      <p:sp>
        <p:nvSpPr>
          <p:cNvPr id="16" name="Shape 13"/>
          <p:cNvSpPr/>
          <p:nvPr/>
        </p:nvSpPr>
        <p:spPr>
          <a:xfrm>
            <a:off x="4663440" y="1280160"/>
            <a:ext cx="1920240" cy="2743200"/>
          </a:xfrm>
          <a:prstGeom prst="roundRect">
            <a:avLst>
              <a:gd name="adj" fmla="val 7143"/>
            </a:avLst>
          </a:prstGeom>
          <a:solidFill>
            <a:srgbClr val="EDF5EA"/>
          </a:solidFill>
          <a:ln w="12700">
            <a:solidFill>
              <a:srgbClr val="EDF5EA"/>
            </a:solidFill>
            <a:prstDash val="solid"/>
          </a:ln>
        </p:spPr>
      </p:sp>
      <p:sp>
        <p:nvSpPr>
          <p:cNvPr id="17" name="Shape 14"/>
          <p:cNvSpPr/>
          <p:nvPr/>
        </p:nvSpPr>
        <p:spPr>
          <a:xfrm>
            <a:off x="5257800" y="1463040"/>
            <a:ext cx="731520" cy="731520"/>
          </a:xfrm>
          <a:prstGeom prst="ellipse">
            <a:avLst/>
          </a:prstGeom>
          <a:solidFill>
            <a:srgbClr val="6E9C64"/>
          </a:solidFill>
          <a:ln w="12700">
            <a:solidFill>
              <a:srgbClr val="6E9C64"/>
            </a:solidFill>
            <a:prstDash val="solid"/>
          </a:ln>
        </p:spPr>
      </p:sp>
      <p:sp>
        <p:nvSpPr>
          <p:cNvPr id="18" name="Text 15"/>
          <p:cNvSpPr txBox="1"/>
          <p:nvPr/>
        </p:nvSpPr>
        <p:spPr>
          <a:xfrm>
            <a:off x="5257800" y="1463040"/>
            <a:ext cx="731520" cy="731520"/>
          </a:xfrm>
          <a:prstGeom prst="rect">
            <a:avLst/>
          </a:prstGeom>
          <a:noFill/>
          <a:ln/>
        </p:spPr>
        <p:txBody>
          <a:bodyPr wrap="square" lIns="0" tIns="0" rIns="0" bIns="0" rtlCol="0" anchor="ctr"/>
          <a:lstStyle/>
          <a:p>
            <a:pPr algn="ctr" indent="0" marL="0">
              <a:buNone/>
            </a:pPr>
            <a:r>
              <a:rPr lang="en-US" sz="1760" b="1" dirty="0">
                <a:solidFill>
                  <a:srgbClr val="FFFFFF"/>
                </a:solidFill>
                <a:latin typeface="Arial" pitchFamily="34" charset="0"/>
                <a:ea typeface="Arial" pitchFamily="34" charset="-122"/>
                <a:cs typeface="Arial" pitchFamily="34" charset="-120"/>
              </a:rPr>
              <a:t>3</a:t>
            </a:r>
            <a:endParaRPr lang="en-US" sz="1760" dirty="0"/>
          </a:p>
        </p:txBody>
      </p:sp>
      <p:sp>
        <p:nvSpPr>
          <p:cNvPr id="19" name="Text 16"/>
          <p:cNvSpPr txBox="1"/>
          <p:nvPr/>
        </p:nvSpPr>
        <p:spPr>
          <a:xfrm>
            <a:off x="4800600" y="2377440"/>
            <a:ext cx="1645920" cy="548640"/>
          </a:xfrm>
          <a:prstGeom prst="rect">
            <a:avLst/>
          </a:prstGeom>
          <a:noFill/>
          <a:ln/>
        </p:spPr>
        <p:txBody>
          <a:bodyPr wrap="square" lIns="0" tIns="0" rIns="0" bIns="0" rtlCol="0" anchor="t"/>
          <a:lstStyle/>
          <a:p>
            <a:pPr algn="ctr" indent="0" marL="0">
              <a:buNone/>
            </a:pPr>
            <a:r>
              <a:rPr lang="en-US" sz="1500" b="1" dirty="0">
                <a:solidFill>
                  <a:srgbClr val="2E2224"/>
                </a:solidFill>
                <a:latin typeface="Arial" pitchFamily="34" charset="0"/>
                <a:ea typeface="Arial" pitchFamily="34" charset="-122"/>
                <a:cs typeface="Arial" pitchFamily="34" charset="-120"/>
              </a:rPr>
              <a:t>Accede gratis</a:t>
            </a:r>
            <a:endParaRPr lang="en-US" sz="1500" dirty="0"/>
          </a:p>
        </p:txBody>
      </p:sp>
      <p:sp>
        <p:nvSpPr>
          <p:cNvPr id="20" name="Text 17"/>
          <p:cNvSpPr txBox="1"/>
          <p:nvPr/>
        </p:nvSpPr>
        <p:spPr>
          <a:xfrm>
            <a:off x="4800600" y="2971800"/>
            <a:ext cx="1645920" cy="914400"/>
          </a:xfrm>
          <a:prstGeom prst="rect">
            <a:avLst/>
          </a:prstGeom>
          <a:noFill/>
          <a:ln/>
        </p:spPr>
        <p:txBody>
          <a:bodyPr wrap="square" lIns="0" tIns="0" rIns="0" bIns="0" rtlCol="0" anchor="t"/>
          <a:lstStyle/>
          <a:p>
            <a:pPr algn="ctr" indent="0" marL="0">
              <a:buNone/>
            </a:pPr>
            <a:r>
              <a:rPr lang="en-US" sz="1200" dirty="0">
                <a:solidFill>
                  <a:srgbClr val="6B5F61"/>
                </a:solidFill>
                <a:latin typeface="Calibri" pitchFamily="34" charset="0"/>
                <a:ea typeface="Calibri" pitchFamily="34" charset="-122"/>
                <a:cs typeface="Calibri" pitchFamily="34" charset="-120"/>
              </a:rPr>
              <a:t>Completa el formulario de acceso</a:t>
            </a:r>
            <a:endParaRPr lang="en-US" sz="1200" dirty="0"/>
          </a:p>
        </p:txBody>
      </p:sp>
      <p:sp>
        <p:nvSpPr>
          <p:cNvPr id="21" name="Text 18"/>
          <p:cNvSpPr txBox="1"/>
          <p:nvPr/>
        </p:nvSpPr>
        <p:spPr>
          <a:xfrm>
            <a:off x="6583680" y="2423160"/>
            <a:ext cx="182880" cy="457200"/>
          </a:xfrm>
          <a:prstGeom prst="rect">
            <a:avLst/>
          </a:prstGeom>
          <a:noFill/>
          <a:ln/>
        </p:spPr>
        <p:txBody>
          <a:bodyPr wrap="square" lIns="0" tIns="0" rIns="0" bIns="0" rtlCol="0" anchor="t"/>
          <a:lstStyle/>
          <a:p>
            <a:pPr algn="ctr" indent="0" marL="0">
              <a:buNone/>
            </a:pPr>
            <a:r>
              <a:rPr lang="en-US" sz="1600" b="1" dirty="0">
                <a:solidFill>
                  <a:srgbClr val="6B5F61"/>
                </a:solidFill>
                <a:latin typeface="Calibri" pitchFamily="34" charset="0"/>
                <a:ea typeface="Calibri" pitchFamily="34" charset="-122"/>
                <a:cs typeface="Calibri" pitchFamily="34" charset="-120"/>
              </a:rPr>
              <a:t>→</a:t>
            </a:r>
            <a:endParaRPr lang="en-US" sz="1600" dirty="0"/>
          </a:p>
        </p:txBody>
      </p:sp>
      <p:sp>
        <p:nvSpPr>
          <p:cNvPr id="22" name="Shape 19"/>
          <p:cNvSpPr/>
          <p:nvPr/>
        </p:nvSpPr>
        <p:spPr>
          <a:xfrm>
            <a:off x="6766560" y="1280160"/>
            <a:ext cx="1920240" cy="2743200"/>
          </a:xfrm>
          <a:prstGeom prst="roundRect">
            <a:avLst>
              <a:gd name="adj" fmla="val 7143"/>
            </a:avLst>
          </a:prstGeom>
          <a:solidFill>
            <a:srgbClr val="FDF3DC"/>
          </a:solidFill>
          <a:ln w="12700">
            <a:solidFill>
              <a:srgbClr val="FDF3DC"/>
            </a:solidFill>
            <a:prstDash val="solid"/>
          </a:ln>
        </p:spPr>
      </p:sp>
      <p:sp>
        <p:nvSpPr>
          <p:cNvPr id="23" name="Shape 20"/>
          <p:cNvSpPr/>
          <p:nvPr/>
        </p:nvSpPr>
        <p:spPr>
          <a:xfrm>
            <a:off x="7360920" y="1463040"/>
            <a:ext cx="731520" cy="731520"/>
          </a:xfrm>
          <a:prstGeom prst="ellipse">
            <a:avLst/>
          </a:prstGeom>
          <a:solidFill>
            <a:srgbClr val="F2C14E"/>
          </a:solidFill>
          <a:ln w="12700">
            <a:solidFill>
              <a:srgbClr val="F2C14E"/>
            </a:solidFill>
            <a:prstDash val="solid"/>
          </a:ln>
        </p:spPr>
      </p:sp>
      <p:sp>
        <p:nvSpPr>
          <p:cNvPr id="24" name="Text 21"/>
          <p:cNvSpPr txBox="1"/>
          <p:nvPr/>
        </p:nvSpPr>
        <p:spPr>
          <a:xfrm>
            <a:off x="7360920" y="1463040"/>
            <a:ext cx="731520" cy="731520"/>
          </a:xfrm>
          <a:prstGeom prst="rect">
            <a:avLst/>
          </a:prstGeom>
          <a:noFill/>
          <a:ln/>
        </p:spPr>
        <p:txBody>
          <a:bodyPr wrap="square" lIns="0" tIns="0" rIns="0" bIns="0" rtlCol="0" anchor="ctr"/>
          <a:lstStyle/>
          <a:p>
            <a:pPr algn="ctr" indent="0" marL="0">
              <a:buNone/>
            </a:pPr>
            <a:r>
              <a:rPr lang="en-US" sz="1760" b="1" dirty="0">
                <a:solidFill>
                  <a:srgbClr val="FFFFFF"/>
                </a:solidFill>
                <a:latin typeface="Arial" pitchFamily="34" charset="0"/>
                <a:ea typeface="Arial" pitchFamily="34" charset="-122"/>
                <a:cs typeface="Arial" pitchFamily="34" charset="-120"/>
              </a:rPr>
              <a:t>4</a:t>
            </a:r>
            <a:endParaRPr lang="en-US" sz="1760" dirty="0"/>
          </a:p>
        </p:txBody>
      </p:sp>
      <p:sp>
        <p:nvSpPr>
          <p:cNvPr id="25" name="Text 22"/>
          <p:cNvSpPr txBox="1"/>
          <p:nvPr/>
        </p:nvSpPr>
        <p:spPr>
          <a:xfrm>
            <a:off x="6903720" y="2377440"/>
            <a:ext cx="1645920" cy="548640"/>
          </a:xfrm>
          <a:prstGeom prst="rect">
            <a:avLst/>
          </a:prstGeom>
          <a:noFill/>
          <a:ln/>
        </p:spPr>
        <p:txBody>
          <a:bodyPr wrap="square" lIns="0" tIns="0" rIns="0" bIns="0" rtlCol="0" anchor="t"/>
          <a:lstStyle/>
          <a:p>
            <a:pPr algn="ctr" indent="0" marL="0">
              <a:buNone/>
            </a:pPr>
            <a:r>
              <a:rPr lang="en-US" sz="1500" b="1" dirty="0">
                <a:solidFill>
                  <a:srgbClr val="2E2224"/>
                </a:solidFill>
                <a:latin typeface="Arial" pitchFamily="34" charset="0"/>
                <a:ea typeface="Arial" pitchFamily="34" charset="-122"/>
                <a:cs typeface="Arial" pitchFamily="34" charset="-120"/>
              </a:rPr>
              <a:t>Entra en la comunidad</a:t>
            </a:r>
            <a:endParaRPr lang="en-US" sz="1500" dirty="0"/>
          </a:p>
        </p:txBody>
      </p:sp>
      <p:sp>
        <p:nvSpPr>
          <p:cNvPr id="26" name="Text 23"/>
          <p:cNvSpPr txBox="1"/>
          <p:nvPr/>
        </p:nvSpPr>
        <p:spPr>
          <a:xfrm>
            <a:off x="6903720" y="2971800"/>
            <a:ext cx="1645920" cy="914400"/>
          </a:xfrm>
          <a:prstGeom prst="rect">
            <a:avLst/>
          </a:prstGeom>
          <a:noFill/>
          <a:ln/>
        </p:spPr>
        <p:txBody>
          <a:bodyPr wrap="square" lIns="0" tIns="0" rIns="0" bIns="0" rtlCol="0" anchor="t"/>
          <a:lstStyle/>
          <a:p>
            <a:pPr algn="ctr" indent="0" marL="0">
              <a:buNone/>
            </a:pPr>
            <a:r>
              <a:rPr lang="en-US" sz="1200" dirty="0">
                <a:solidFill>
                  <a:srgbClr val="6B5F61"/>
                </a:solidFill>
                <a:latin typeface="Calibri" pitchFamily="34" charset="0"/>
                <a:ea typeface="Calibri" pitchFamily="34" charset="-122"/>
                <a:cs typeface="Calibri" pitchFamily="34" charset="-120"/>
              </a:rPr>
              <a:t>Recibe el proceso de descubrimiento y empieza</a:t>
            </a:r>
            <a:endParaRPr lang="en-US" sz="1200" dirty="0"/>
          </a:p>
        </p:txBody>
      </p:sp>
      <p:sp>
        <p:nvSpPr>
          <p:cNvPr id="27" name="Text 24"/>
          <p:cNvSpPr txBox="1"/>
          <p:nvPr/>
        </p:nvSpPr>
        <p:spPr>
          <a:xfrm>
            <a:off x="457200" y="4251960"/>
            <a:ext cx="8229600" cy="365760"/>
          </a:xfrm>
          <a:prstGeom prst="rect">
            <a:avLst/>
          </a:prstGeom>
          <a:noFill/>
          <a:ln/>
        </p:spPr>
        <p:txBody>
          <a:bodyPr wrap="square" lIns="0" tIns="0" rIns="0" bIns="0" rtlCol="0" anchor="t"/>
          <a:lstStyle/>
          <a:p>
            <a:pPr algn="ctr" indent="0" marL="0">
              <a:buNone/>
            </a:pPr>
            <a:r>
              <a:rPr lang="en-US" sz="1300" i="1" dirty="0">
                <a:solidFill>
                  <a:srgbClr val="6B5F61"/>
                </a:solidFill>
                <a:latin typeface="Calibri" pitchFamily="34" charset="0"/>
                <a:ea typeface="Calibri" pitchFamily="34" charset="-122"/>
                <a:cs typeface="Calibri" pitchFamily="34" charset="-120"/>
              </a:rPr>
              <a:t>Después de la presentación hubo testimonios en directo de participantes y una ronda de preguntas.</a:t>
            </a:r>
            <a:endParaRPr lang="en-US" sz="1300" dirty="0"/>
          </a:p>
        </p:txBody>
      </p:sp>
      <p:sp>
        <p:nvSpPr>
          <p:cNvPr id="25" name="Slide Number Placeholder 0"/>
          <p:cNvSpPr>
            <a:spLocks noGrp="1"/>
          </p:cNvSpPr>
          <p:nvPr>
            <p:ph type="sldNum" sz="quarter" idx="4294967295"/>
          </p:nvPr>
        </p:nvSpPr>
        <p:spPr>
          <a:xfrm>
            <a:off x="8503920" y="480060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A09596"/>
                </a:solidFill>
                <a:latin typeface="Calibri"/>
                <a:ea typeface="Calibri"/>
                <a:cs typeface="Calibri"/>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3" name="Text 0"/>
          <p:cNvSpPr txBox="1"/>
          <p:nvPr/>
        </p:nvSpPr>
        <p:spPr>
          <a:xfrm>
            <a:off x="640080" y="1188720"/>
            <a:ext cx="7863840" cy="1188720"/>
          </a:xfrm>
          <a:prstGeom prst="rect">
            <a:avLst/>
          </a:prstGeom>
          <a:noFill/>
          <a:ln/>
        </p:spPr>
        <p:txBody>
          <a:bodyPr wrap="square" lIns="0" tIns="0" rIns="0" bIns="0" rtlCol="0" anchor="t"/>
          <a:lstStyle/>
          <a:p>
            <a:pPr algn="ctr" indent="0" marL="0">
              <a:buNone/>
            </a:pPr>
            <a:r>
              <a:rPr lang="en-US" sz="6000" b="1" dirty="0">
                <a:solidFill>
                  <a:srgbClr val="EE7A7A"/>
                </a:solidFill>
                <a:latin typeface="Arial" pitchFamily="34" charset="0"/>
                <a:ea typeface="Arial" pitchFamily="34" charset="-122"/>
                <a:cs typeface="Arial" pitchFamily="34" charset="-120"/>
              </a:rPr>
              <a:t>Gracias</a:t>
            </a:r>
            <a:endParaRPr lang="en-US" sz="6000" dirty="0"/>
          </a:p>
        </p:txBody>
      </p:sp>
      <p:sp>
        <p:nvSpPr>
          <p:cNvPr id="4" name="Text 1"/>
          <p:cNvSpPr txBox="1"/>
          <p:nvPr/>
        </p:nvSpPr>
        <p:spPr>
          <a:xfrm>
            <a:off x="640080" y="2468880"/>
            <a:ext cx="7863840" cy="731520"/>
          </a:xfrm>
          <a:prstGeom prst="rect">
            <a:avLst/>
          </a:prstGeom>
          <a:noFill/>
          <a:ln/>
        </p:spPr>
        <p:txBody>
          <a:bodyPr wrap="square" lIns="0" tIns="0" rIns="0" bIns="0" rtlCol="0" anchor="t"/>
          <a:lstStyle/>
          <a:p>
            <a:pPr algn="ctr" indent="0" marL="0">
              <a:buNone/>
            </a:pPr>
            <a:r>
              <a:rPr lang="en-US" sz="2800" b="1" dirty="0">
                <a:solidFill>
                  <a:srgbClr val="FFFFFF"/>
                </a:solidFill>
                <a:latin typeface="Arial" pitchFamily="34" charset="0"/>
                <a:ea typeface="Arial" pitchFamily="34" charset="-122"/>
                <a:cs typeface="Arial" pitchFamily="34" charset="-120"/>
              </a:rPr>
              <a:t>¿Preguntas?</a:t>
            </a:r>
            <a:endParaRPr lang="en-US" sz="2800" dirty="0"/>
          </a:p>
        </p:txBody>
      </p:sp>
      <p:sp>
        <p:nvSpPr>
          <p:cNvPr id="5" name="Text 2"/>
          <p:cNvSpPr txBox="1"/>
          <p:nvPr/>
        </p:nvSpPr>
        <p:spPr>
          <a:xfrm>
            <a:off x="640080" y="3474720"/>
            <a:ext cx="7863840" cy="457200"/>
          </a:xfrm>
          <a:prstGeom prst="rect">
            <a:avLst/>
          </a:prstGeom>
          <a:noFill/>
          <a:ln/>
        </p:spPr>
        <p:txBody>
          <a:bodyPr wrap="square" lIns="0" tIns="0" rIns="0" bIns="0" rtlCol="0" anchor="t"/>
          <a:lstStyle/>
          <a:p>
            <a:pPr algn="ctr" indent="0" marL="0">
              <a:buNone/>
            </a:pPr>
            <a:r>
              <a:rPr lang="en-US" sz="1500" i="1" dirty="0">
                <a:solidFill>
                  <a:srgbClr val="B9D3B1"/>
                </a:solidFill>
                <a:latin typeface="Calibri" pitchFamily="34" charset="0"/>
                <a:ea typeface="Calibri" pitchFamily="34" charset="-122"/>
                <a:cs typeface="Calibri" pitchFamily="34" charset="-120"/>
              </a:rPr>
              <a:t>Un cuerpo sano · un corazón alegre · una cuenta abundante · tiempo para disfrutarlo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Bienestar + Negocio: $10K al mes</dc:title>
  <dc:subject>PptxGenJS Presentation</dc:subject>
  <dc:creator>PptxGenJS</dc:creator>
  <cp:lastModifiedBy>PptxGenJS</cp:lastModifiedBy>
  <cp:revision>1</cp:revision>
  <dcterms:created xsi:type="dcterms:W3CDTF">2026-10-06T07:04:10Z</dcterms:created>
  <dcterms:modified xsi:type="dcterms:W3CDTF">2026-10-06T07:04:10Z</dcterms:modified>
</cp:coreProperties>
</file>